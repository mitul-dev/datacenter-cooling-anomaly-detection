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bg1"/>
        </a:solidFill>
        <a:latin typeface="+mn-lt"/>
        <a:ea typeface="+mn-ea"/>
        <a:cs typeface="+mn-cs"/>
      </a:defRPr>
    </a:lvl2pPr>
    <a:lvl3pPr marL="914400" algn="l" defTabSz="914400" rtl="0" eaLnBrk="1" latinLnBrk="0" hangingPunct="1">
      <a:defRPr sz="1800" kern="1200">
        <a:solidFill>
          <a:schemeClr val="bg1"/>
        </a:solidFill>
        <a:latin typeface="+mn-lt"/>
        <a:ea typeface="+mn-ea"/>
        <a:cs typeface="+mn-cs"/>
      </a:defRPr>
    </a:lvl3pPr>
    <a:lvl4pPr marL="1371600" algn="l" defTabSz="914400" rtl="0" eaLnBrk="1" latinLnBrk="0" hangingPunct="1">
      <a:defRPr sz="1800" kern="1200">
        <a:solidFill>
          <a:schemeClr val="bg1"/>
        </a:solidFill>
        <a:latin typeface="+mn-lt"/>
        <a:ea typeface="+mn-ea"/>
        <a:cs typeface="+mn-cs"/>
      </a:defRPr>
    </a:lvl4pPr>
    <a:lvl5pPr marL="1828800" algn="l" defTabSz="914400" rtl="0" eaLnBrk="1" latinLnBrk="0" hangingPunct="1">
      <a:defRPr sz="1800" kern="1200">
        <a:solidFill>
          <a:schemeClr val="bg1"/>
        </a:solidFill>
        <a:latin typeface="+mn-lt"/>
        <a:ea typeface="+mn-ea"/>
        <a:cs typeface="+mn-cs"/>
      </a:defRPr>
    </a:lvl5pPr>
    <a:lvl6pPr marL="2286000" algn="l" defTabSz="914400" rtl="0" eaLnBrk="1" latinLnBrk="0" hangingPunct="1">
      <a:defRPr sz="1800" kern="1200">
        <a:solidFill>
          <a:schemeClr val="bg1"/>
        </a:solidFill>
        <a:latin typeface="+mn-lt"/>
        <a:ea typeface="+mn-ea"/>
        <a:cs typeface="+mn-cs"/>
      </a:defRPr>
    </a:lvl6pPr>
    <a:lvl7pPr marL="2743200" algn="l" defTabSz="914400" rtl="0" eaLnBrk="1" latinLnBrk="0" hangingPunct="1">
      <a:defRPr sz="1800" kern="1200">
        <a:solidFill>
          <a:schemeClr val="bg1"/>
        </a:solidFill>
        <a:latin typeface="+mn-lt"/>
        <a:ea typeface="+mn-ea"/>
        <a:cs typeface="+mn-cs"/>
      </a:defRPr>
    </a:lvl7pPr>
    <a:lvl8pPr marL="3200400" algn="l" defTabSz="914400" rtl="0" eaLnBrk="1" latinLnBrk="0" hangingPunct="1">
      <a:defRPr sz="1800" kern="1200">
        <a:solidFill>
          <a:schemeClr val="bg1"/>
        </a:solidFill>
        <a:latin typeface="+mn-lt"/>
        <a:ea typeface="+mn-ea"/>
        <a:cs typeface="+mn-cs"/>
      </a:defRPr>
    </a:lvl8pPr>
    <a:lvl9pPr marL="3657600" algn="l" defTabSz="914400" rtl="0" eaLnBrk="1" latinLnBrk="0" hangingPunct="1">
      <a:defRPr sz="1800" kern="1200">
        <a:solidFill>
          <a:schemeClr val="bg1"/>
        </a:solidFill>
        <a:latin typeface="+mn-lt"/>
        <a:ea typeface="+mn-ea"/>
        <a:cs typeface="+mn-cs"/>
      </a:defRPr>
    </a:lvl9pPr>
  </p:defaultTextStyle>
  <p:extLst>
    <p:ext uri="{521415D9-36F7-43E2-AB2F-B90AF26B5E84}">
      <p14:sectionLst xmlns:p14="http://schemas.microsoft.com/office/powerpoint/2010/main">
        <p14:section name="Opening" id="{9b8ae1c2-00b5-b9d2-16cc-d4276f0cbe7f}">
          <p14:sldIdLst>
            <p14:sldId id="256"/>
          </p14:sldIdLst>
        </p14:section>
        <p14:section name="Background &amp; Problem" id="{2b5eae3e-9702-b391-6174-aff5edb25880}">
          <p14:sldIdLst>
            <p14:sldId id="257"/>
            <p14:sldId id="258"/>
          </p14:sldIdLst>
        </p14:section>
        <p14:section name="Proposed Approach" id="{62d29306-569f-bc4d-7627-31335ae22a77}">
          <p14:sldIdLst>
            <p14:sldId id="259"/>
            <p14:sldId id="260"/>
            <p14:sldId id="261"/>
            <p14:sldId id="262"/>
          </p14:sldIdLst>
        </p14:section>
        <p14:section name="Impact" id="{99af4f2a-ef5d-1014-ac97-98c070b721fc}">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dk1" tx1="lt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Rishabh, Mitul and Madhav from Section B. Our Deep Learning project is about detecting abnormal behavior in data-center cooling systems using time-series sensor data. Please note this is an initial proposal: we will present the problem, the approach we plan to use and what we expect to build. We are not presenting trained models or final results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data centers run a very large number of servers continuously, and every server turns electrical power into heat. Cooling has to keep up with that heat, otherwise we see overheating, wasted energy, slower performance and even a risk to the hardware. The useful part for us is that data centers already produce continuous telemetry such as temperature, power and CPU load. That is exactly the kind of time-series data Deep Learning models handle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problem statement is: how can abnormal cooling behavior be detected automatically from sensor and operational time-series data? The usual approach is a fixed threshold on a single sensor. That has three weaknesses: it misses relationships between variables, abnormality can depend on several parameters at once, and slow gradual drift never crosses a fixed limit. So our motivation is a system that learns what normal operation looks like and flags deviations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overall idea. Telemetry is cleaned and converted into fixed-length time-series sequences. The Deep Learning model learns from normal behavior and produces a reconstruction or prediction. The difference from the actual data becomes an anomaly score, and a threshold on that score labels each window as normal or anomalous. We frame this as anomaly detection rather than plain classification because faults are rare and varied, while normal behavior is much easier to model and to collect data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model is an LSTM Autoencoder. The LSTM encoder compresses an input window into a small latent representation, and the LSTM decoder tries to rebuild the original window from it. LSTMs are used because they capture temporal dependencies in sensor data. The model is trained on normal data, so it reconstructs normal windows well and unusual windows poorly. The reconstruction error, roughly the average squared difference between input and output, is compared with a threshold to make the decision. This is the proposed method; we have not trained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data, we plan to use time-series telemetry such as temperature, humidity, CPU utilization, power consumption and cooling or fan-related measurements. We have not fixed a dataset yet; the selection will be finalized based on availability and relevance, and could be a public dataset or suitable simulated or benchmark telemetry. For technology we will use the Python data stack, either TensorFlow/Keras or PyTorch for the model, Jupyter or Google Colab for development, and Streamlit for an optional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planned workflow, from data collection through cleaning, feature selection and time-window creation to training, reconstruction error, threshold selection, detection and visualization. For evaluation we plan to compare normal and anomalous behavior, analyze anomaly scores, use suitable detection metrics, and compare against at least one baseline such as Isolation Forest or a basic autoencoder, so we can show whether the LSTM adds value. The expected outputs are an anomaly score over time, normal versus anomalous periods, visual alerts and an optional dashboard. All of this is planned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successful, this approach could help identify abnormal cooling behavior early, improve infrastructure monitoring, and potentially reduce overheating risk and improve operational efficiency. Future scope includes real-time telemetry integration, anomaly localization, predictive maintenance, more advanced models such as GRU or Transformers, and eventually deployment in real monitoring systems. To conclude: Deep Learning can learn complex temporal relationships in data-center telemetry and offer an intelligent approach to detecting abnormal cooling behavior.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w="12700">
            <a:solidFill>
              <a:schemeClr val="tx1"/>
            </a:solidFill>
            <a:prstDash val="solid"/>
          </a:ln>
        </p:spPr>
      </p:sp>
      <p:sp>
        <p:nvSpPr>
          <p:cNvPr id="3" name="Text 1"/>
          <p:cNvSpPr/>
          <p:nvPr>
            <p:ph idx="101" type="body" hasCustomPrompt="1"/>
          </p:nvPr>
        </p:nvSpPr>
        <p:spPr>
          <a:xfrm>
            <a:off x="457200" y="548640"/>
            <a:ext cx="4937760" cy="274320"/>
          </a:xfrm>
          <a:prstGeom prst="rect">
            <a:avLst/>
          </a:prstGeom>
          <a:noFill/>
          <a:ln/>
        </p:spPr>
        <p:txBody>
          <a:bodyPr wrap="square" rtlCol="0"/>
          <a:lstStyle>
            <a:lvl1pPr algn="l" indent="0" marL="0">
              <a:buNone/>
              <a:defRPr lang="en-US" sz="1100" b="1" spc="200" kern="0" dirty="0">
                <a:solidFill>
                  <a:schemeClr val="accent1"/>
                </a:solidFill>
              </a:defRPr>
            </a:lvl1pPr>
          </a:lstStyle>
          <a:p>
            <a:pPr algn="l" indent="0" marL="0">
              <a:buNone/>
            </a:pPr>
            <a:endParaRPr lang="en-US" sz="1100" dirty="0"/>
          </a:p>
        </p:txBody>
      </p:sp>
      <p:sp>
        <p:nvSpPr>
          <p:cNvPr id="4" name="Text 1"/>
          <p:cNvSpPr/>
          <p:nvPr>
            <p:ph idx="102" type="title" hasCustomPrompt="1"/>
          </p:nvPr>
        </p:nvSpPr>
        <p:spPr>
          <a:xfrm>
            <a:off x="457200" y="914400"/>
            <a:ext cx="4937760" cy="182880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w="12700">
            <a:solidFill>
              <a:schemeClr val="tx1"/>
            </a:solidFill>
            <a:prstDash val="solid"/>
          </a:ln>
        </p:spPr>
      </p:sp>
      <p:sp>
        <p:nvSpPr>
          <p:cNvPr id="3" name="Text 1"/>
          <p:cNvSpPr/>
          <p:nvPr>
            <p:ph idx="101" type="body" hasCustomPrompt="1"/>
          </p:nvPr>
        </p:nvSpPr>
        <p:spPr>
          <a:xfrm>
            <a:off x="457200" y="329184"/>
            <a:ext cx="8229600" cy="228600"/>
          </a:xfrm>
          <a:prstGeom prst="rect">
            <a:avLst/>
          </a:prstGeom>
          <a:noFill/>
          <a:ln/>
        </p:spPr>
        <p:txBody>
          <a:bodyPr wrap="square" rtlCol="0"/>
          <a:lstStyle>
            <a:lvl1pPr algn="l" indent="0" marL="0">
              <a:buNone/>
              <a:defRPr lang="en-US" sz="1100" b="1" spc="200" kern="0" dirty="0">
                <a:solidFill>
                  <a:schemeClr val="accent1"/>
                </a:solidFill>
              </a:defRPr>
            </a:lvl1pPr>
          </a:lstStyle>
          <a:p>
            <a:pPr algn="l" indent="0" marL="0">
              <a:buNone/>
            </a:pPr>
            <a:endParaRPr lang="en-US" sz="1100" dirty="0"/>
          </a:p>
        </p:txBody>
      </p:sp>
      <p:sp>
        <p:nvSpPr>
          <p:cNvPr id="4" name="Text 1"/>
          <p:cNvSpPr/>
          <p:nvPr>
            <p:ph idx="102" type="title" hasCustomPrompt="1"/>
          </p:nvPr>
        </p:nvSpPr>
        <p:spPr>
          <a:xfrm>
            <a:off x="457200" y="566928"/>
            <a:ext cx="8229600" cy="54864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5" name="Text 1"/>
          <p:cNvSpPr/>
          <p:nvPr/>
        </p:nvSpPr>
        <p:spPr>
          <a:xfrm>
            <a:off x="457200" y="4818888"/>
            <a:ext cx="4572000" cy="228600"/>
          </a:xfrm>
          <a:prstGeom prst="rect">
            <a:avLst/>
          </a:prstGeom>
          <a:noFill/>
          <a:ln/>
        </p:spPr>
        <p:txBody>
          <a:bodyPr wrap="square" lIns="0" tIns="0" rIns="0" bIns="0" rtlCol="0" anchor="ctr"/>
          <a:lstStyle/>
          <a:p>
            <a:pPr indent="0" marL="0">
              <a:buNone/>
            </a:pPr>
            <a:r>
              <a:rPr lang="en-US" sz="1000" dirty="0">
                <a:solidFill>
                  <a:schemeClr val="bg2"/>
                </a:solidFill>
              </a:rPr>
              <a:t>Deep Learning  ·  Section B  ·  Project Proposal</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2627E"/>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2627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bg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bg1"/>
          </a:solidFill>
          <a:latin typeface="+mn-lt"/>
          <a:ea typeface="+mn-ea"/>
          <a:cs typeface="+mn-cs"/>
        </a:defRPr>
      </a:lvl2pPr>
      <a:lvl3pPr marL="914400" algn="l" defTabSz="914400" rtl="0" eaLnBrk="1" latinLnBrk="0" hangingPunct="1">
        <a:defRPr sz="1800" kern="1200">
          <a:solidFill>
            <a:schemeClr val="bg1"/>
          </a:solidFill>
          <a:latin typeface="+mn-lt"/>
          <a:ea typeface="+mn-ea"/>
          <a:cs typeface="+mn-cs"/>
        </a:defRPr>
      </a:lvl3pPr>
      <a:lvl4pPr marL="1371600" algn="l" defTabSz="914400" rtl="0" eaLnBrk="1" latinLnBrk="0" hangingPunct="1">
        <a:defRPr sz="1800" kern="1200">
          <a:solidFill>
            <a:schemeClr val="bg1"/>
          </a:solidFill>
          <a:latin typeface="+mn-lt"/>
          <a:ea typeface="+mn-ea"/>
          <a:cs typeface="+mn-cs"/>
        </a:defRPr>
      </a:lvl4pPr>
      <a:lvl5pPr marL="1828800" algn="l" defTabSz="914400" rtl="0" eaLnBrk="1" latinLnBrk="0" hangingPunct="1">
        <a:defRPr sz="1800" kern="1200">
          <a:solidFill>
            <a:schemeClr val="bg1"/>
          </a:solidFill>
          <a:latin typeface="+mn-lt"/>
          <a:ea typeface="+mn-ea"/>
          <a:cs typeface="+mn-cs"/>
        </a:defRPr>
      </a:lvl5pPr>
      <a:lvl6pPr marL="2286000" algn="l" defTabSz="914400" rtl="0" eaLnBrk="1" latinLnBrk="0" hangingPunct="1">
        <a:defRPr sz="1800" kern="1200">
          <a:solidFill>
            <a:schemeClr val="bg1"/>
          </a:solidFill>
          <a:latin typeface="+mn-lt"/>
          <a:ea typeface="+mn-ea"/>
          <a:cs typeface="+mn-cs"/>
        </a:defRPr>
      </a:lvl6pPr>
      <a:lvl7pPr marL="2743200" algn="l" defTabSz="914400" rtl="0" eaLnBrk="1" latinLnBrk="0" hangingPunct="1">
        <a:defRPr sz="1800" kern="1200">
          <a:solidFill>
            <a:schemeClr val="bg1"/>
          </a:solidFill>
          <a:latin typeface="+mn-lt"/>
          <a:ea typeface="+mn-ea"/>
          <a:cs typeface="+mn-cs"/>
        </a:defRPr>
      </a:lvl7pPr>
      <a:lvl8pPr marL="3200400" algn="l" defTabSz="914400" rtl="0" eaLnBrk="1" latinLnBrk="0" hangingPunct="1">
        <a:defRPr sz="1800" kern="1200">
          <a:solidFill>
            <a:schemeClr val="bg1"/>
          </a:solidFill>
          <a:latin typeface="+mn-lt"/>
          <a:ea typeface="+mn-ea"/>
          <a:cs typeface="+mn-cs"/>
        </a:defRPr>
      </a:lvl8pPr>
      <a:lvl9pPr marL="3657600" algn="l" defTabSz="914400" rtl="0" eaLnBrk="1" latinLnBrk="0" hangingPunct="1">
        <a:defRPr sz="1800" kern="1200">
          <a:solidFill>
            <a:schemeClr val="bg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457200" y="548640"/>
            <a:ext cx="4937760" cy="274320"/>
          </a:xfrm>
          <a:prstGeom prst="rect">
            <a:avLst/>
          </a:prstGeom>
          <a:noFill/>
          <a:ln/>
        </p:spPr>
        <p:txBody>
          <a:bodyPr wrap="square" lIns="0" tIns="0" rIns="0" bIns="0" rtlCol="0" anchor="t"/>
          <a:lstStyle/>
          <a:p>
            <a:pPr algn="l" indent="0" marL="0">
              <a:buNone/>
            </a:pPr>
            <a:r>
              <a:rPr lang="en-US" sz="1100" b="1" spc="200" kern="0" dirty="0">
                <a:solidFill>
                  <a:schemeClr val="accent1"/>
                </a:solidFill>
              </a:rPr>
              <a:t>PROJECT PROPOSAL  ·  DEEP LEARNING</a:t>
            </a:r>
            <a:endParaRPr lang="en-US" sz="1100" dirty="0"/>
          </a:p>
        </p:txBody>
      </p:sp>
      <p:sp>
        <p:nvSpPr>
          <p:cNvPr id="3" name="Text 1"/>
          <p:cNvSpPr/>
          <p:nvPr>
            <p:ph idx="102" type="title" hasCustomPrompt="1"/>
          </p:nvPr>
        </p:nvSpPr>
        <p:spPr>
          <a:xfrm>
            <a:off x="457200" y="914400"/>
            <a:ext cx="4937760" cy="1828800"/>
          </a:xfrm>
          <a:prstGeom prst="rect">
            <a:avLst/>
          </a:prstGeom>
          <a:noFill/>
          <a:ln/>
        </p:spPr>
        <p:txBody>
          <a:bodyPr wrap="square" lIns="0" tIns="0" rIns="0" bIns="0" rtlCol="0" anchor="t"/>
          <a:lstStyle/>
          <a:p>
            <a:pPr algn="l" indent="0" marL="0">
              <a:buNone/>
            </a:pPr>
            <a:r>
              <a:rPr lang="en-US" sz="2800" b="1" dirty="0">
                <a:solidFill>
                  <a:schemeClr val="bg1"/>
                </a:solidFill>
              </a:rPr>
              <a:t>Deep Learning-Based Anomaly Detection in Data Center Cooling Systems</a:t>
            </a:r>
            <a:endParaRPr lang="en-US" sz="2800" dirty="0"/>
          </a:p>
        </p:txBody>
      </p:sp>
      <p:sp>
        <p:nvSpPr>
          <p:cNvPr id="4" name="Member label 1"/>
          <p:cNvSpPr txBox="1"/>
          <p:nvPr/>
        </p:nvSpPr>
        <p:spPr>
          <a:xfrm>
            <a:off x="457200" y="2926080"/>
            <a:ext cx="777240" cy="274320"/>
          </a:xfrm>
          <a:prstGeom prst="rect">
            <a:avLst/>
          </a:prstGeom>
          <a:noFill/>
          <a:ln/>
        </p:spPr>
        <p:txBody>
          <a:bodyPr wrap="square" lIns="0" tIns="0" rIns="0" bIns="0" rtlCol="0" anchor="ctr"/>
          <a:lstStyle/>
          <a:p>
            <a:pPr indent="0" marL="0">
              <a:buNone/>
            </a:pPr>
            <a:r>
              <a:rPr lang="en-US" sz="1100" dirty="0">
                <a:solidFill>
                  <a:schemeClr val="bg2"/>
                </a:solidFill>
              </a:rPr>
              <a:t>Member 1</a:t>
            </a:r>
            <a:endParaRPr lang="en-US" sz="1100" dirty="0"/>
          </a:p>
        </p:txBody>
      </p:sp>
      <p:sp>
        <p:nvSpPr>
          <p:cNvPr id="5" name="Member name 1"/>
          <p:cNvSpPr txBox="1"/>
          <p:nvPr/>
        </p:nvSpPr>
        <p:spPr>
          <a:xfrm>
            <a:off x="1234440" y="2926080"/>
            <a:ext cx="2011680" cy="274320"/>
          </a:xfrm>
          <a:prstGeom prst="rect">
            <a:avLst/>
          </a:prstGeom>
          <a:noFill/>
          <a:ln/>
        </p:spPr>
        <p:txBody>
          <a:bodyPr wrap="square" lIns="0" tIns="0" rIns="0" bIns="0" rtlCol="0" anchor="ctr"/>
          <a:lstStyle/>
          <a:p>
            <a:pPr indent="0" marL="0">
              <a:buNone/>
            </a:pPr>
            <a:r>
              <a:rPr lang="en-US" sz="1400" b="1" dirty="0">
                <a:solidFill>
                  <a:schemeClr val="bg1"/>
                </a:solidFill>
              </a:rPr>
              <a:t>Rishabh Srivastava</a:t>
            </a:r>
            <a:endParaRPr lang="en-US" sz="1400" dirty="0"/>
          </a:p>
        </p:txBody>
      </p:sp>
      <p:sp>
        <p:nvSpPr>
          <p:cNvPr id="6" name="Registration no 1"/>
          <p:cNvSpPr txBox="1"/>
          <p:nvPr/>
        </p:nvSpPr>
        <p:spPr>
          <a:xfrm>
            <a:off x="3291840" y="2926080"/>
            <a:ext cx="1371600" cy="274320"/>
          </a:xfrm>
          <a:prstGeom prst="rect">
            <a:avLst/>
          </a:prstGeom>
          <a:noFill/>
          <a:ln/>
        </p:spPr>
        <p:txBody>
          <a:bodyPr wrap="square" lIns="0" tIns="0" rIns="0" bIns="0" rtlCol="0" anchor="ctr"/>
          <a:lstStyle/>
          <a:p>
            <a:pPr indent="0" marL="0">
              <a:buNone/>
            </a:pPr>
            <a:r>
              <a:rPr lang="en-US" sz="1400" dirty="0">
                <a:solidFill>
                  <a:schemeClr val="accent1"/>
                </a:solidFill>
              </a:rPr>
              <a:t>2430010149</a:t>
            </a:r>
            <a:endParaRPr lang="en-US" sz="1400" dirty="0"/>
          </a:p>
        </p:txBody>
      </p:sp>
      <p:sp>
        <p:nvSpPr>
          <p:cNvPr id="7" name="Member label 2"/>
          <p:cNvSpPr txBox="1"/>
          <p:nvPr/>
        </p:nvSpPr>
        <p:spPr>
          <a:xfrm>
            <a:off x="457200" y="3264408"/>
            <a:ext cx="777240" cy="274320"/>
          </a:xfrm>
          <a:prstGeom prst="rect">
            <a:avLst/>
          </a:prstGeom>
          <a:noFill/>
          <a:ln/>
        </p:spPr>
        <p:txBody>
          <a:bodyPr wrap="square" lIns="0" tIns="0" rIns="0" bIns="0" rtlCol="0" anchor="ctr"/>
          <a:lstStyle/>
          <a:p>
            <a:pPr indent="0" marL="0">
              <a:buNone/>
            </a:pPr>
            <a:r>
              <a:rPr lang="en-US" sz="1100" dirty="0">
                <a:solidFill>
                  <a:schemeClr val="bg2"/>
                </a:solidFill>
              </a:rPr>
              <a:t>Member 2</a:t>
            </a:r>
            <a:endParaRPr lang="en-US" sz="1100" dirty="0"/>
          </a:p>
        </p:txBody>
      </p:sp>
      <p:sp>
        <p:nvSpPr>
          <p:cNvPr id="8" name="Member name 2"/>
          <p:cNvSpPr txBox="1"/>
          <p:nvPr/>
        </p:nvSpPr>
        <p:spPr>
          <a:xfrm>
            <a:off x="1234440" y="3264408"/>
            <a:ext cx="2011680" cy="274320"/>
          </a:xfrm>
          <a:prstGeom prst="rect">
            <a:avLst/>
          </a:prstGeom>
          <a:noFill/>
          <a:ln/>
        </p:spPr>
        <p:txBody>
          <a:bodyPr wrap="square" lIns="0" tIns="0" rIns="0" bIns="0" rtlCol="0" anchor="ctr"/>
          <a:lstStyle/>
          <a:p>
            <a:pPr indent="0" marL="0">
              <a:buNone/>
            </a:pPr>
            <a:r>
              <a:rPr lang="en-US" sz="1400" b="1" dirty="0">
                <a:solidFill>
                  <a:schemeClr val="bg1"/>
                </a:solidFill>
              </a:rPr>
              <a:t>Mitul Seth</a:t>
            </a:r>
            <a:endParaRPr lang="en-US" sz="1400" dirty="0"/>
          </a:p>
        </p:txBody>
      </p:sp>
      <p:sp>
        <p:nvSpPr>
          <p:cNvPr id="9" name="Registration no 2"/>
          <p:cNvSpPr txBox="1"/>
          <p:nvPr/>
        </p:nvSpPr>
        <p:spPr>
          <a:xfrm>
            <a:off x="3291840" y="3264408"/>
            <a:ext cx="1371600" cy="274320"/>
          </a:xfrm>
          <a:prstGeom prst="rect">
            <a:avLst/>
          </a:prstGeom>
          <a:noFill/>
          <a:ln/>
        </p:spPr>
        <p:txBody>
          <a:bodyPr wrap="square" lIns="0" tIns="0" rIns="0" bIns="0" rtlCol="0" anchor="ctr"/>
          <a:lstStyle/>
          <a:p>
            <a:pPr indent="0" marL="0">
              <a:buNone/>
            </a:pPr>
            <a:r>
              <a:rPr lang="en-US" sz="1400" dirty="0">
                <a:solidFill>
                  <a:schemeClr val="accent1"/>
                </a:solidFill>
              </a:rPr>
              <a:t>2430010099</a:t>
            </a:r>
            <a:endParaRPr lang="en-US" sz="1400" dirty="0"/>
          </a:p>
        </p:txBody>
      </p:sp>
      <p:sp>
        <p:nvSpPr>
          <p:cNvPr id="10" name="Member label 3"/>
          <p:cNvSpPr txBox="1"/>
          <p:nvPr/>
        </p:nvSpPr>
        <p:spPr>
          <a:xfrm>
            <a:off x="457200" y="3602736"/>
            <a:ext cx="777240" cy="274320"/>
          </a:xfrm>
          <a:prstGeom prst="rect">
            <a:avLst/>
          </a:prstGeom>
          <a:noFill/>
          <a:ln/>
        </p:spPr>
        <p:txBody>
          <a:bodyPr wrap="square" lIns="0" tIns="0" rIns="0" bIns="0" rtlCol="0" anchor="ctr"/>
          <a:lstStyle/>
          <a:p>
            <a:pPr indent="0" marL="0">
              <a:buNone/>
            </a:pPr>
            <a:r>
              <a:rPr lang="en-US" sz="1100" dirty="0">
                <a:solidFill>
                  <a:schemeClr val="bg2"/>
                </a:solidFill>
              </a:rPr>
              <a:t>Member 3</a:t>
            </a:r>
            <a:endParaRPr lang="en-US" sz="1100" dirty="0"/>
          </a:p>
        </p:txBody>
      </p:sp>
      <p:sp>
        <p:nvSpPr>
          <p:cNvPr id="11" name="Member name 3"/>
          <p:cNvSpPr txBox="1"/>
          <p:nvPr/>
        </p:nvSpPr>
        <p:spPr>
          <a:xfrm>
            <a:off x="1234440" y="3602736"/>
            <a:ext cx="2011680" cy="274320"/>
          </a:xfrm>
          <a:prstGeom prst="rect">
            <a:avLst/>
          </a:prstGeom>
          <a:noFill/>
          <a:ln/>
        </p:spPr>
        <p:txBody>
          <a:bodyPr wrap="square" lIns="0" tIns="0" rIns="0" bIns="0" rtlCol="0" anchor="ctr"/>
          <a:lstStyle/>
          <a:p>
            <a:pPr indent="0" marL="0">
              <a:buNone/>
            </a:pPr>
            <a:r>
              <a:rPr lang="en-US" sz="1400" b="1" dirty="0">
                <a:solidFill>
                  <a:schemeClr val="bg1"/>
                </a:solidFill>
              </a:rPr>
              <a:t>Madhav Mittal</a:t>
            </a:r>
            <a:endParaRPr lang="en-US" sz="1400" dirty="0"/>
          </a:p>
        </p:txBody>
      </p:sp>
      <p:sp>
        <p:nvSpPr>
          <p:cNvPr id="12" name="Registration no 3"/>
          <p:cNvSpPr txBox="1"/>
          <p:nvPr/>
        </p:nvSpPr>
        <p:spPr>
          <a:xfrm>
            <a:off x="3291840" y="3602736"/>
            <a:ext cx="1371600" cy="274320"/>
          </a:xfrm>
          <a:prstGeom prst="rect">
            <a:avLst/>
          </a:prstGeom>
          <a:noFill/>
          <a:ln/>
        </p:spPr>
        <p:txBody>
          <a:bodyPr wrap="square" lIns="0" tIns="0" rIns="0" bIns="0" rtlCol="0" anchor="ctr"/>
          <a:lstStyle/>
          <a:p>
            <a:pPr indent="0" marL="0">
              <a:buNone/>
            </a:pPr>
            <a:r>
              <a:rPr lang="en-US" sz="1400" dirty="0">
                <a:solidFill>
                  <a:schemeClr val="accent1"/>
                </a:solidFill>
              </a:rPr>
              <a:t>2430010096</a:t>
            </a:r>
            <a:endParaRPr lang="en-US" sz="1400" dirty="0"/>
          </a:p>
        </p:txBody>
      </p:sp>
      <p:sp>
        <p:nvSpPr>
          <p:cNvPr id="13" name="Tag 1"/>
          <p:cNvSpPr/>
          <p:nvPr/>
        </p:nvSpPr>
        <p:spPr>
          <a:xfrm>
            <a:off x="457200" y="4069080"/>
            <a:ext cx="1005840" cy="329184"/>
          </a:xfrm>
          <a:prstGeom prst="roundRect">
            <a:avLst>
              <a:gd name="adj" fmla="val 50000"/>
            </a:avLst>
          </a:prstGeom>
          <a:solidFill>
            <a:schemeClr val="accent1">
              <a:alpha val="10000"/>
            </a:schemeClr>
          </a:solidFill>
          <a:ln w="9525">
            <a:solidFill>
              <a:schemeClr val="accent1"/>
            </a:solidFill>
            <a:prstDash val="solid"/>
          </a:ln>
        </p:spPr>
      </p:sp>
      <p:sp>
        <p:nvSpPr>
          <p:cNvPr id="14" name="Tag text 1"/>
          <p:cNvSpPr txBox="1"/>
          <p:nvPr/>
        </p:nvSpPr>
        <p:spPr>
          <a:xfrm>
            <a:off x="457200" y="4069080"/>
            <a:ext cx="1005840" cy="329184"/>
          </a:xfrm>
          <a:prstGeom prst="rect">
            <a:avLst/>
          </a:prstGeom>
          <a:noFill/>
          <a:ln/>
        </p:spPr>
        <p:txBody>
          <a:bodyPr wrap="square" lIns="0" tIns="0" rIns="0" bIns="0" rtlCol="0" anchor="ctr"/>
          <a:lstStyle/>
          <a:p>
            <a:pPr algn="ctr" indent="0" marL="0">
              <a:buNone/>
            </a:pPr>
            <a:r>
              <a:rPr lang="en-US" sz="1200" b="1" dirty="0">
                <a:solidFill>
                  <a:schemeClr val="bg1"/>
                </a:solidFill>
              </a:rPr>
              <a:t>Section B</a:t>
            </a:r>
            <a:endParaRPr lang="en-US" sz="1200" dirty="0"/>
          </a:p>
        </p:txBody>
      </p:sp>
      <p:sp>
        <p:nvSpPr>
          <p:cNvPr id="15" name="Tag 2"/>
          <p:cNvSpPr/>
          <p:nvPr/>
        </p:nvSpPr>
        <p:spPr>
          <a:xfrm>
            <a:off x="1600200" y="4069080"/>
            <a:ext cx="1920240" cy="329184"/>
          </a:xfrm>
          <a:prstGeom prst="roundRect">
            <a:avLst>
              <a:gd name="adj" fmla="val 50000"/>
            </a:avLst>
          </a:prstGeom>
          <a:solidFill>
            <a:schemeClr val="accent1">
              <a:alpha val="10000"/>
            </a:schemeClr>
          </a:solidFill>
          <a:ln w="9525">
            <a:solidFill>
              <a:schemeClr val="accent1"/>
            </a:solidFill>
            <a:prstDash val="solid"/>
          </a:ln>
        </p:spPr>
      </p:sp>
      <p:sp>
        <p:nvSpPr>
          <p:cNvPr id="16" name="Tag text 2"/>
          <p:cNvSpPr txBox="1"/>
          <p:nvPr/>
        </p:nvSpPr>
        <p:spPr>
          <a:xfrm>
            <a:off x="1600200" y="4069080"/>
            <a:ext cx="1920240" cy="329184"/>
          </a:xfrm>
          <a:prstGeom prst="rect">
            <a:avLst/>
          </a:prstGeom>
          <a:noFill/>
          <a:ln/>
        </p:spPr>
        <p:txBody>
          <a:bodyPr wrap="square" lIns="0" tIns="0" rIns="0" bIns="0" rtlCol="0" anchor="ctr"/>
          <a:lstStyle/>
          <a:p>
            <a:pPr algn="ctr" indent="0" marL="0">
              <a:buNone/>
            </a:pPr>
            <a:r>
              <a:rPr lang="en-US" sz="1200" b="1" dirty="0">
                <a:solidFill>
                  <a:schemeClr val="bg1"/>
                </a:solidFill>
              </a:rPr>
              <a:t>Subject: Deep Learning</a:t>
            </a:r>
            <a:endParaRPr lang="en-US" sz="1200" dirty="0"/>
          </a:p>
        </p:txBody>
      </p:sp>
      <p:sp>
        <p:nvSpPr>
          <p:cNvPr id="17" name="Glow"/>
          <p:cNvSpPr/>
          <p:nvPr/>
        </p:nvSpPr>
        <p:spPr>
          <a:xfrm>
            <a:off x="5349240" y="731520"/>
            <a:ext cx="3566160" cy="3566160"/>
          </a:xfrm>
          <a:prstGeom prst="ellipse">
            <a:avLst/>
          </a:prstGeom>
          <a:solidFill>
            <a:schemeClr val="accent1">
              <a:alpha val="7000"/>
            </a:schemeClr>
          </a:solidFill>
          <a:ln w="9525">
            <a:solidFill>
              <a:schemeClr val="accent5"/>
            </a:solidFill>
            <a:prstDash val="solid"/>
          </a:ln>
        </p:spPr>
      </p:sp>
      <p:sp>
        <p:nvSpPr>
          <p:cNvPr id="18" name="Server rack"/>
          <p:cNvSpPr/>
          <p:nvPr/>
        </p:nvSpPr>
        <p:spPr>
          <a:xfrm>
            <a:off x="5989320" y="685800"/>
            <a:ext cx="2286000" cy="3657600"/>
          </a:xfrm>
          <a:prstGeom prst="roundRect">
            <a:avLst>
              <a:gd name="adj" fmla="val 4800"/>
            </a:avLst>
          </a:prstGeom>
          <a:solidFill>
            <a:schemeClr val="tx2"/>
          </a:solidFill>
          <a:ln w="15875">
            <a:solidFill>
              <a:schemeClr val="accent5"/>
            </a:solidFill>
            <a:prstDash val="solid"/>
          </a:ln>
        </p:spPr>
      </p:sp>
      <p:sp>
        <p:nvSpPr>
          <p:cNvPr id="19" name="Server unit 1"/>
          <p:cNvSpPr/>
          <p:nvPr/>
        </p:nvSpPr>
        <p:spPr>
          <a:xfrm>
            <a:off x="6126480" y="868680"/>
            <a:ext cx="2011680" cy="457200"/>
          </a:xfrm>
          <a:prstGeom prst="roundRect">
            <a:avLst>
              <a:gd name="adj" fmla="val 10000"/>
            </a:avLst>
          </a:prstGeom>
          <a:solidFill>
            <a:schemeClr val="tx1"/>
          </a:solidFill>
          <a:ln w="9525">
            <a:solidFill>
              <a:schemeClr val="accent5"/>
            </a:solidFill>
            <a:prstDash val="solid"/>
          </a:ln>
        </p:spPr>
      </p:sp>
      <p:sp>
        <p:nvSpPr>
          <p:cNvPr id="20" name="LED"/>
          <p:cNvSpPr/>
          <p:nvPr/>
        </p:nvSpPr>
        <p:spPr>
          <a:xfrm>
            <a:off x="6245352" y="1056132"/>
            <a:ext cx="82296" cy="82296"/>
          </a:xfrm>
          <a:prstGeom prst="ellipse">
            <a:avLst/>
          </a:prstGeom>
          <a:solidFill>
            <a:schemeClr val="accent4"/>
          </a:solidFill>
          <a:ln w="12700">
            <a:solidFill>
              <a:schemeClr val="accent4"/>
            </a:solidFill>
            <a:prstDash val="solid"/>
          </a:ln>
        </p:spPr>
      </p:sp>
      <p:sp>
        <p:nvSpPr>
          <p:cNvPr id="21" name="LED"/>
          <p:cNvSpPr/>
          <p:nvPr/>
        </p:nvSpPr>
        <p:spPr>
          <a:xfrm>
            <a:off x="6382512" y="1056132"/>
            <a:ext cx="82296" cy="82296"/>
          </a:xfrm>
          <a:prstGeom prst="ellipse">
            <a:avLst/>
          </a:prstGeom>
          <a:solidFill>
            <a:schemeClr val="accent4"/>
          </a:solidFill>
          <a:ln w="12700">
            <a:solidFill>
              <a:schemeClr val="accent4"/>
            </a:solidFill>
            <a:prstDash val="solid"/>
          </a:ln>
        </p:spPr>
      </p:sp>
      <p:sp>
        <p:nvSpPr>
          <p:cNvPr id="22" name="LED"/>
          <p:cNvSpPr/>
          <p:nvPr/>
        </p:nvSpPr>
        <p:spPr>
          <a:xfrm>
            <a:off x="6519672" y="1056132"/>
            <a:ext cx="82296" cy="82296"/>
          </a:xfrm>
          <a:prstGeom prst="ellipse">
            <a:avLst/>
          </a:prstGeom>
          <a:solidFill>
            <a:schemeClr val="accent1"/>
          </a:solidFill>
          <a:ln w="12700">
            <a:solidFill>
              <a:schemeClr val="accent1"/>
            </a:solidFill>
            <a:prstDash val="solid"/>
          </a:ln>
        </p:spPr>
      </p:sp>
      <p:sp>
        <p:nvSpPr>
          <p:cNvPr id="23" name="Heat track"/>
          <p:cNvSpPr/>
          <p:nvPr/>
        </p:nvSpPr>
        <p:spPr>
          <a:xfrm>
            <a:off x="6858000" y="1051560"/>
            <a:ext cx="1143000" cy="91440"/>
          </a:xfrm>
          <a:prstGeom prst="roundRect">
            <a:avLst>
              <a:gd name="adj" fmla="val 50000"/>
            </a:avLst>
          </a:prstGeom>
          <a:solidFill>
            <a:schemeClr val="accent5"/>
          </a:solidFill>
          <a:ln w="12700">
            <a:solidFill>
              <a:schemeClr val="accent5"/>
            </a:solidFill>
            <a:prstDash val="solid"/>
          </a:ln>
        </p:spPr>
      </p:sp>
      <p:sp>
        <p:nvSpPr>
          <p:cNvPr id="24" name="Heat level"/>
          <p:cNvSpPr/>
          <p:nvPr/>
        </p:nvSpPr>
        <p:spPr>
          <a:xfrm>
            <a:off x="6858000" y="1051560"/>
            <a:ext cx="400050" cy="91440"/>
          </a:xfrm>
          <a:prstGeom prst="roundRect">
            <a:avLst>
              <a:gd name="adj" fmla="val 50000"/>
            </a:avLst>
          </a:prstGeom>
          <a:solidFill>
            <a:schemeClr val="accent1"/>
          </a:solidFill>
          <a:ln w="12700">
            <a:solidFill>
              <a:schemeClr val="accent1"/>
            </a:solidFill>
            <a:prstDash val="solid"/>
          </a:ln>
        </p:spPr>
      </p:sp>
      <p:sp>
        <p:nvSpPr>
          <p:cNvPr id="25" name="Server unit 2"/>
          <p:cNvSpPr/>
          <p:nvPr/>
        </p:nvSpPr>
        <p:spPr>
          <a:xfrm>
            <a:off x="6126480" y="1435608"/>
            <a:ext cx="2011680" cy="457200"/>
          </a:xfrm>
          <a:prstGeom prst="roundRect">
            <a:avLst>
              <a:gd name="adj" fmla="val 10000"/>
            </a:avLst>
          </a:prstGeom>
          <a:solidFill>
            <a:schemeClr val="tx1"/>
          </a:solidFill>
          <a:ln w="9525">
            <a:solidFill>
              <a:schemeClr val="accent5"/>
            </a:solidFill>
            <a:prstDash val="solid"/>
          </a:ln>
        </p:spPr>
      </p:sp>
      <p:sp>
        <p:nvSpPr>
          <p:cNvPr id="26" name="LED"/>
          <p:cNvSpPr/>
          <p:nvPr/>
        </p:nvSpPr>
        <p:spPr>
          <a:xfrm>
            <a:off x="6245352" y="1623060"/>
            <a:ext cx="82296" cy="82296"/>
          </a:xfrm>
          <a:prstGeom prst="ellipse">
            <a:avLst/>
          </a:prstGeom>
          <a:solidFill>
            <a:schemeClr val="accent4"/>
          </a:solidFill>
          <a:ln w="12700">
            <a:solidFill>
              <a:schemeClr val="accent4"/>
            </a:solidFill>
            <a:prstDash val="solid"/>
          </a:ln>
        </p:spPr>
      </p:sp>
      <p:sp>
        <p:nvSpPr>
          <p:cNvPr id="27" name="LED"/>
          <p:cNvSpPr/>
          <p:nvPr/>
        </p:nvSpPr>
        <p:spPr>
          <a:xfrm>
            <a:off x="6382512" y="1623060"/>
            <a:ext cx="82296" cy="82296"/>
          </a:xfrm>
          <a:prstGeom prst="ellipse">
            <a:avLst/>
          </a:prstGeom>
          <a:solidFill>
            <a:schemeClr val="accent4"/>
          </a:solidFill>
          <a:ln w="12700">
            <a:solidFill>
              <a:schemeClr val="accent4"/>
            </a:solidFill>
            <a:prstDash val="solid"/>
          </a:ln>
        </p:spPr>
      </p:sp>
      <p:sp>
        <p:nvSpPr>
          <p:cNvPr id="28" name="LED"/>
          <p:cNvSpPr/>
          <p:nvPr/>
        </p:nvSpPr>
        <p:spPr>
          <a:xfrm>
            <a:off x="6519672" y="1623060"/>
            <a:ext cx="82296" cy="82296"/>
          </a:xfrm>
          <a:prstGeom prst="ellipse">
            <a:avLst/>
          </a:prstGeom>
          <a:solidFill>
            <a:schemeClr val="accent1"/>
          </a:solidFill>
          <a:ln w="12700">
            <a:solidFill>
              <a:schemeClr val="accent1"/>
            </a:solidFill>
            <a:prstDash val="solid"/>
          </a:ln>
        </p:spPr>
      </p:sp>
      <p:sp>
        <p:nvSpPr>
          <p:cNvPr id="29" name="Heat track"/>
          <p:cNvSpPr/>
          <p:nvPr/>
        </p:nvSpPr>
        <p:spPr>
          <a:xfrm>
            <a:off x="6858000" y="1618488"/>
            <a:ext cx="1143000" cy="91440"/>
          </a:xfrm>
          <a:prstGeom prst="roundRect">
            <a:avLst>
              <a:gd name="adj" fmla="val 50000"/>
            </a:avLst>
          </a:prstGeom>
          <a:solidFill>
            <a:schemeClr val="accent5"/>
          </a:solidFill>
          <a:ln w="12700">
            <a:solidFill>
              <a:schemeClr val="accent5"/>
            </a:solidFill>
            <a:prstDash val="solid"/>
          </a:ln>
        </p:spPr>
      </p:sp>
      <p:sp>
        <p:nvSpPr>
          <p:cNvPr id="30" name="Heat level"/>
          <p:cNvSpPr/>
          <p:nvPr/>
        </p:nvSpPr>
        <p:spPr>
          <a:xfrm>
            <a:off x="6858000" y="1618488"/>
            <a:ext cx="571500" cy="91440"/>
          </a:xfrm>
          <a:prstGeom prst="roundRect">
            <a:avLst>
              <a:gd name="adj" fmla="val 50000"/>
            </a:avLst>
          </a:prstGeom>
          <a:solidFill>
            <a:schemeClr val="accent1"/>
          </a:solidFill>
          <a:ln w="12700">
            <a:solidFill>
              <a:schemeClr val="accent1"/>
            </a:solidFill>
            <a:prstDash val="solid"/>
          </a:ln>
        </p:spPr>
      </p:sp>
      <p:sp>
        <p:nvSpPr>
          <p:cNvPr id="31" name="Server unit 3"/>
          <p:cNvSpPr/>
          <p:nvPr/>
        </p:nvSpPr>
        <p:spPr>
          <a:xfrm>
            <a:off x="6126480" y="2002536"/>
            <a:ext cx="2011680" cy="457200"/>
          </a:xfrm>
          <a:prstGeom prst="roundRect">
            <a:avLst>
              <a:gd name="adj" fmla="val 10000"/>
            </a:avLst>
          </a:prstGeom>
          <a:solidFill>
            <a:schemeClr val="tx1"/>
          </a:solidFill>
          <a:ln w="9525">
            <a:solidFill>
              <a:schemeClr val="accent5"/>
            </a:solidFill>
            <a:prstDash val="solid"/>
          </a:ln>
        </p:spPr>
      </p:sp>
      <p:sp>
        <p:nvSpPr>
          <p:cNvPr id="32" name="LED"/>
          <p:cNvSpPr/>
          <p:nvPr/>
        </p:nvSpPr>
        <p:spPr>
          <a:xfrm>
            <a:off x="6245352" y="2189988"/>
            <a:ext cx="82296" cy="82296"/>
          </a:xfrm>
          <a:prstGeom prst="ellipse">
            <a:avLst/>
          </a:prstGeom>
          <a:solidFill>
            <a:schemeClr val="accent4"/>
          </a:solidFill>
          <a:ln w="12700">
            <a:solidFill>
              <a:schemeClr val="accent4"/>
            </a:solidFill>
            <a:prstDash val="solid"/>
          </a:ln>
        </p:spPr>
      </p:sp>
      <p:sp>
        <p:nvSpPr>
          <p:cNvPr id="33" name="LED"/>
          <p:cNvSpPr/>
          <p:nvPr/>
        </p:nvSpPr>
        <p:spPr>
          <a:xfrm>
            <a:off x="6382512" y="2189988"/>
            <a:ext cx="82296" cy="82296"/>
          </a:xfrm>
          <a:prstGeom prst="ellipse">
            <a:avLst/>
          </a:prstGeom>
          <a:solidFill>
            <a:schemeClr val="accent4"/>
          </a:solidFill>
          <a:ln w="12700">
            <a:solidFill>
              <a:schemeClr val="accent4"/>
            </a:solidFill>
            <a:prstDash val="solid"/>
          </a:ln>
        </p:spPr>
      </p:sp>
      <p:sp>
        <p:nvSpPr>
          <p:cNvPr id="34" name="LED"/>
          <p:cNvSpPr/>
          <p:nvPr/>
        </p:nvSpPr>
        <p:spPr>
          <a:xfrm>
            <a:off x="6519672" y="2189988"/>
            <a:ext cx="82296" cy="82296"/>
          </a:xfrm>
          <a:prstGeom prst="ellipse">
            <a:avLst/>
          </a:prstGeom>
          <a:solidFill>
            <a:schemeClr val="accent1"/>
          </a:solidFill>
          <a:ln w="12700">
            <a:solidFill>
              <a:schemeClr val="accent1"/>
            </a:solidFill>
            <a:prstDash val="solid"/>
          </a:ln>
        </p:spPr>
      </p:sp>
      <p:sp>
        <p:nvSpPr>
          <p:cNvPr id="35" name="Heat track"/>
          <p:cNvSpPr/>
          <p:nvPr/>
        </p:nvSpPr>
        <p:spPr>
          <a:xfrm>
            <a:off x="6858000" y="2185416"/>
            <a:ext cx="1143000" cy="91440"/>
          </a:xfrm>
          <a:prstGeom prst="roundRect">
            <a:avLst>
              <a:gd name="adj" fmla="val 50000"/>
            </a:avLst>
          </a:prstGeom>
          <a:solidFill>
            <a:schemeClr val="accent5"/>
          </a:solidFill>
          <a:ln w="12700">
            <a:solidFill>
              <a:schemeClr val="accent5"/>
            </a:solidFill>
            <a:prstDash val="solid"/>
          </a:ln>
        </p:spPr>
      </p:sp>
      <p:sp>
        <p:nvSpPr>
          <p:cNvPr id="36" name="Heat level"/>
          <p:cNvSpPr/>
          <p:nvPr/>
        </p:nvSpPr>
        <p:spPr>
          <a:xfrm>
            <a:off x="6858000" y="2185416"/>
            <a:ext cx="514350" cy="91440"/>
          </a:xfrm>
          <a:prstGeom prst="roundRect">
            <a:avLst>
              <a:gd name="adj" fmla="val 50000"/>
            </a:avLst>
          </a:prstGeom>
          <a:solidFill>
            <a:schemeClr val="accent1"/>
          </a:solidFill>
          <a:ln w="12700">
            <a:solidFill>
              <a:schemeClr val="accent1"/>
            </a:solidFill>
            <a:prstDash val="solid"/>
          </a:ln>
        </p:spPr>
      </p:sp>
      <p:sp>
        <p:nvSpPr>
          <p:cNvPr id="37" name="Server unit 4"/>
          <p:cNvSpPr/>
          <p:nvPr/>
        </p:nvSpPr>
        <p:spPr>
          <a:xfrm>
            <a:off x="6126480" y="2569464"/>
            <a:ext cx="2011680" cy="457200"/>
          </a:xfrm>
          <a:prstGeom prst="roundRect">
            <a:avLst>
              <a:gd name="adj" fmla="val 10000"/>
            </a:avLst>
          </a:prstGeom>
          <a:solidFill>
            <a:schemeClr val="tx1"/>
          </a:solidFill>
          <a:ln w="9525">
            <a:solidFill>
              <a:schemeClr val="accent3"/>
            </a:solidFill>
            <a:prstDash val="solid"/>
          </a:ln>
        </p:spPr>
      </p:sp>
      <p:sp>
        <p:nvSpPr>
          <p:cNvPr id="38" name="LED"/>
          <p:cNvSpPr/>
          <p:nvPr/>
        </p:nvSpPr>
        <p:spPr>
          <a:xfrm>
            <a:off x="6245352" y="2756916"/>
            <a:ext cx="82296" cy="82296"/>
          </a:xfrm>
          <a:prstGeom prst="ellipse">
            <a:avLst/>
          </a:prstGeom>
          <a:solidFill>
            <a:schemeClr val="accent3"/>
          </a:solidFill>
          <a:ln w="12700">
            <a:solidFill>
              <a:schemeClr val="accent3"/>
            </a:solidFill>
            <a:prstDash val="solid"/>
          </a:ln>
        </p:spPr>
      </p:sp>
      <p:sp>
        <p:nvSpPr>
          <p:cNvPr id="39" name="LED"/>
          <p:cNvSpPr/>
          <p:nvPr/>
        </p:nvSpPr>
        <p:spPr>
          <a:xfrm>
            <a:off x="6382512" y="2756916"/>
            <a:ext cx="82296" cy="82296"/>
          </a:xfrm>
          <a:prstGeom prst="ellipse">
            <a:avLst/>
          </a:prstGeom>
          <a:solidFill>
            <a:schemeClr val="accent3"/>
          </a:solidFill>
          <a:ln w="12700">
            <a:solidFill>
              <a:schemeClr val="accent3"/>
            </a:solidFill>
            <a:prstDash val="solid"/>
          </a:ln>
        </p:spPr>
      </p:sp>
      <p:sp>
        <p:nvSpPr>
          <p:cNvPr id="40" name="LED"/>
          <p:cNvSpPr/>
          <p:nvPr/>
        </p:nvSpPr>
        <p:spPr>
          <a:xfrm>
            <a:off x="6519672" y="2756916"/>
            <a:ext cx="82296" cy="82296"/>
          </a:xfrm>
          <a:prstGeom prst="ellipse">
            <a:avLst/>
          </a:prstGeom>
          <a:solidFill>
            <a:schemeClr val="accent3"/>
          </a:solidFill>
          <a:ln w="12700">
            <a:solidFill>
              <a:schemeClr val="accent3"/>
            </a:solidFill>
            <a:prstDash val="solid"/>
          </a:ln>
        </p:spPr>
      </p:sp>
      <p:sp>
        <p:nvSpPr>
          <p:cNvPr id="41" name="Heat track"/>
          <p:cNvSpPr/>
          <p:nvPr/>
        </p:nvSpPr>
        <p:spPr>
          <a:xfrm>
            <a:off x="6858000" y="2752344"/>
            <a:ext cx="1143000" cy="91440"/>
          </a:xfrm>
          <a:prstGeom prst="roundRect">
            <a:avLst>
              <a:gd name="adj" fmla="val 50000"/>
            </a:avLst>
          </a:prstGeom>
          <a:solidFill>
            <a:schemeClr val="accent5"/>
          </a:solidFill>
          <a:ln w="12700">
            <a:solidFill>
              <a:schemeClr val="accent5"/>
            </a:solidFill>
            <a:prstDash val="solid"/>
          </a:ln>
        </p:spPr>
      </p:sp>
      <p:sp>
        <p:nvSpPr>
          <p:cNvPr id="42" name="Heat level"/>
          <p:cNvSpPr/>
          <p:nvPr/>
        </p:nvSpPr>
        <p:spPr>
          <a:xfrm>
            <a:off x="6858000" y="2752344"/>
            <a:ext cx="971550" cy="91440"/>
          </a:xfrm>
          <a:prstGeom prst="roundRect">
            <a:avLst>
              <a:gd name="adj" fmla="val 50000"/>
            </a:avLst>
          </a:prstGeom>
          <a:solidFill>
            <a:schemeClr val="accent3"/>
          </a:solidFill>
          <a:ln w="12700">
            <a:solidFill>
              <a:schemeClr val="accent3"/>
            </a:solidFill>
            <a:prstDash val="solid"/>
          </a:ln>
        </p:spPr>
      </p:sp>
      <p:sp>
        <p:nvSpPr>
          <p:cNvPr id="43" name="Server unit 5"/>
          <p:cNvSpPr/>
          <p:nvPr/>
        </p:nvSpPr>
        <p:spPr>
          <a:xfrm>
            <a:off x="6126480" y="3136392"/>
            <a:ext cx="2011680" cy="457200"/>
          </a:xfrm>
          <a:prstGeom prst="roundRect">
            <a:avLst>
              <a:gd name="adj" fmla="val 10000"/>
            </a:avLst>
          </a:prstGeom>
          <a:solidFill>
            <a:schemeClr val="tx1"/>
          </a:solidFill>
          <a:ln w="9525">
            <a:solidFill>
              <a:schemeClr val="accent5"/>
            </a:solidFill>
            <a:prstDash val="solid"/>
          </a:ln>
        </p:spPr>
      </p:sp>
      <p:sp>
        <p:nvSpPr>
          <p:cNvPr id="44" name="LED"/>
          <p:cNvSpPr/>
          <p:nvPr/>
        </p:nvSpPr>
        <p:spPr>
          <a:xfrm>
            <a:off x="6245352" y="3323844"/>
            <a:ext cx="82296" cy="82296"/>
          </a:xfrm>
          <a:prstGeom prst="ellipse">
            <a:avLst/>
          </a:prstGeom>
          <a:solidFill>
            <a:schemeClr val="accent4"/>
          </a:solidFill>
          <a:ln w="12700">
            <a:solidFill>
              <a:schemeClr val="accent4"/>
            </a:solidFill>
            <a:prstDash val="solid"/>
          </a:ln>
        </p:spPr>
      </p:sp>
      <p:sp>
        <p:nvSpPr>
          <p:cNvPr id="45" name="LED"/>
          <p:cNvSpPr/>
          <p:nvPr/>
        </p:nvSpPr>
        <p:spPr>
          <a:xfrm>
            <a:off x="6382512" y="3323844"/>
            <a:ext cx="82296" cy="82296"/>
          </a:xfrm>
          <a:prstGeom prst="ellipse">
            <a:avLst/>
          </a:prstGeom>
          <a:solidFill>
            <a:schemeClr val="accent4"/>
          </a:solidFill>
          <a:ln w="12700">
            <a:solidFill>
              <a:schemeClr val="accent4"/>
            </a:solidFill>
            <a:prstDash val="solid"/>
          </a:ln>
        </p:spPr>
      </p:sp>
      <p:sp>
        <p:nvSpPr>
          <p:cNvPr id="46" name="LED"/>
          <p:cNvSpPr/>
          <p:nvPr/>
        </p:nvSpPr>
        <p:spPr>
          <a:xfrm>
            <a:off x="6519672" y="3323844"/>
            <a:ext cx="82296" cy="82296"/>
          </a:xfrm>
          <a:prstGeom prst="ellipse">
            <a:avLst/>
          </a:prstGeom>
          <a:solidFill>
            <a:schemeClr val="accent1"/>
          </a:solidFill>
          <a:ln w="12700">
            <a:solidFill>
              <a:schemeClr val="accent1"/>
            </a:solidFill>
            <a:prstDash val="solid"/>
          </a:ln>
        </p:spPr>
      </p:sp>
      <p:sp>
        <p:nvSpPr>
          <p:cNvPr id="47" name="Heat track"/>
          <p:cNvSpPr/>
          <p:nvPr/>
        </p:nvSpPr>
        <p:spPr>
          <a:xfrm>
            <a:off x="6858000" y="3319272"/>
            <a:ext cx="1143000" cy="91440"/>
          </a:xfrm>
          <a:prstGeom prst="roundRect">
            <a:avLst>
              <a:gd name="adj" fmla="val 50000"/>
            </a:avLst>
          </a:prstGeom>
          <a:solidFill>
            <a:schemeClr val="accent5"/>
          </a:solidFill>
          <a:ln w="12700">
            <a:solidFill>
              <a:schemeClr val="accent5"/>
            </a:solidFill>
            <a:prstDash val="solid"/>
          </a:ln>
        </p:spPr>
      </p:sp>
      <p:sp>
        <p:nvSpPr>
          <p:cNvPr id="48" name="Heat level"/>
          <p:cNvSpPr/>
          <p:nvPr/>
        </p:nvSpPr>
        <p:spPr>
          <a:xfrm>
            <a:off x="6858000" y="3319272"/>
            <a:ext cx="457200" cy="91440"/>
          </a:xfrm>
          <a:prstGeom prst="roundRect">
            <a:avLst>
              <a:gd name="adj" fmla="val 50000"/>
            </a:avLst>
          </a:prstGeom>
          <a:solidFill>
            <a:schemeClr val="accent1"/>
          </a:solidFill>
          <a:ln w="12700">
            <a:solidFill>
              <a:schemeClr val="accent1"/>
            </a:solidFill>
            <a:prstDash val="solid"/>
          </a:ln>
        </p:spPr>
      </p:sp>
      <p:sp>
        <p:nvSpPr>
          <p:cNvPr id="49" name="Server unit 6"/>
          <p:cNvSpPr/>
          <p:nvPr/>
        </p:nvSpPr>
        <p:spPr>
          <a:xfrm>
            <a:off x="6126480" y="3703320"/>
            <a:ext cx="2011680" cy="457200"/>
          </a:xfrm>
          <a:prstGeom prst="roundRect">
            <a:avLst>
              <a:gd name="adj" fmla="val 10000"/>
            </a:avLst>
          </a:prstGeom>
          <a:solidFill>
            <a:schemeClr val="tx1"/>
          </a:solidFill>
          <a:ln w="9525">
            <a:solidFill>
              <a:schemeClr val="accent5"/>
            </a:solidFill>
            <a:prstDash val="solid"/>
          </a:ln>
        </p:spPr>
      </p:sp>
      <p:sp>
        <p:nvSpPr>
          <p:cNvPr id="50" name="LED"/>
          <p:cNvSpPr/>
          <p:nvPr/>
        </p:nvSpPr>
        <p:spPr>
          <a:xfrm>
            <a:off x="6245352" y="3890772"/>
            <a:ext cx="82296" cy="82296"/>
          </a:xfrm>
          <a:prstGeom prst="ellipse">
            <a:avLst/>
          </a:prstGeom>
          <a:solidFill>
            <a:schemeClr val="accent4"/>
          </a:solidFill>
          <a:ln w="12700">
            <a:solidFill>
              <a:schemeClr val="accent4"/>
            </a:solidFill>
            <a:prstDash val="solid"/>
          </a:ln>
        </p:spPr>
      </p:sp>
      <p:sp>
        <p:nvSpPr>
          <p:cNvPr id="51" name="LED"/>
          <p:cNvSpPr/>
          <p:nvPr/>
        </p:nvSpPr>
        <p:spPr>
          <a:xfrm>
            <a:off x="6382512" y="3890772"/>
            <a:ext cx="82296" cy="82296"/>
          </a:xfrm>
          <a:prstGeom prst="ellipse">
            <a:avLst/>
          </a:prstGeom>
          <a:solidFill>
            <a:schemeClr val="accent4"/>
          </a:solidFill>
          <a:ln w="12700">
            <a:solidFill>
              <a:schemeClr val="accent4"/>
            </a:solidFill>
            <a:prstDash val="solid"/>
          </a:ln>
        </p:spPr>
      </p:sp>
      <p:sp>
        <p:nvSpPr>
          <p:cNvPr id="52" name="LED"/>
          <p:cNvSpPr/>
          <p:nvPr/>
        </p:nvSpPr>
        <p:spPr>
          <a:xfrm>
            <a:off x="6519672" y="3890772"/>
            <a:ext cx="82296" cy="82296"/>
          </a:xfrm>
          <a:prstGeom prst="ellipse">
            <a:avLst/>
          </a:prstGeom>
          <a:solidFill>
            <a:schemeClr val="accent1"/>
          </a:solidFill>
          <a:ln w="12700">
            <a:solidFill>
              <a:schemeClr val="accent1"/>
            </a:solidFill>
            <a:prstDash val="solid"/>
          </a:ln>
        </p:spPr>
      </p:sp>
      <p:sp>
        <p:nvSpPr>
          <p:cNvPr id="53" name="Heat track"/>
          <p:cNvSpPr/>
          <p:nvPr/>
        </p:nvSpPr>
        <p:spPr>
          <a:xfrm>
            <a:off x="6858000" y="3886200"/>
            <a:ext cx="1143000" cy="91440"/>
          </a:xfrm>
          <a:prstGeom prst="roundRect">
            <a:avLst>
              <a:gd name="adj" fmla="val 50000"/>
            </a:avLst>
          </a:prstGeom>
          <a:solidFill>
            <a:schemeClr val="accent5"/>
          </a:solidFill>
          <a:ln w="12700">
            <a:solidFill>
              <a:schemeClr val="accent5"/>
            </a:solidFill>
            <a:prstDash val="solid"/>
          </a:ln>
        </p:spPr>
      </p:sp>
      <p:sp>
        <p:nvSpPr>
          <p:cNvPr id="54" name="Heat level"/>
          <p:cNvSpPr/>
          <p:nvPr/>
        </p:nvSpPr>
        <p:spPr>
          <a:xfrm>
            <a:off x="6858000" y="3886200"/>
            <a:ext cx="628650" cy="91440"/>
          </a:xfrm>
          <a:prstGeom prst="roundRect">
            <a:avLst>
              <a:gd name="adj" fmla="val 50000"/>
            </a:avLst>
          </a:prstGeom>
          <a:solidFill>
            <a:schemeClr val="accent1"/>
          </a:solidFill>
          <a:ln w="12700">
            <a:solidFill>
              <a:schemeClr val="accent1"/>
            </a:solidFill>
            <a:prstDash val="solid"/>
          </a:ln>
        </p:spPr>
      </p:sp>
      <p:pic>
        <p:nvPicPr>
          <p:cNvPr id="55" name="Image 0" descr="Cooling icon">    </p:cNvPr>
          <p:cNvPicPr>
            <a:picLocks noChangeAspect="1"/>
          </p:cNvPicPr>
          <p:nvPr/>
        </p:nvPicPr>
        <p:blipFill>
          <a:blip r:embed="rId1"/>
          <a:stretch>
            <a:fillRect/>
          </a:stretch>
        </p:blipFill>
        <p:spPr>
          <a:xfrm>
            <a:off x="6172200" y="4507992"/>
            <a:ext cx="201168" cy="201168"/>
          </a:xfrm>
          <a:prstGeom prst="rect">
            <a:avLst/>
          </a:prstGeom>
        </p:spPr>
      </p:pic>
      <p:sp>
        <p:nvSpPr>
          <p:cNvPr id="56" name="Illustration caption"/>
          <p:cNvSpPr txBox="1"/>
          <p:nvPr/>
        </p:nvSpPr>
        <p:spPr>
          <a:xfrm>
            <a:off x="6446520" y="4480560"/>
            <a:ext cx="2194560" cy="256032"/>
          </a:xfrm>
          <a:prstGeom prst="rect">
            <a:avLst/>
          </a:prstGeom>
          <a:noFill/>
          <a:ln/>
        </p:spPr>
        <p:txBody>
          <a:bodyPr wrap="square" lIns="0" tIns="0" rIns="0" bIns="0" rtlCol="0" anchor="ctr"/>
          <a:lstStyle/>
          <a:p>
            <a:pPr indent="0" marL="0">
              <a:buNone/>
            </a:pPr>
            <a:r>
              <a:rPr lang="en-US" sz="1100" dirty="0">
                <a:solidFill>
                  <a:schemeClr val="bg2"/>
                </a:solidFill>
              </a:rPr>
              <a:t>AI-based thermal monitoring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457200" y="329184"/>
            <a:ext cx="8229600" cy="228600"/>
          </a:xfrm>
          <a:prstGeom prst="rect">
            <a:avLst/>
          </a:prstGeom>
          <a:noFill/>
          <a:ln/>
        </p:spPr>
        <p:txBody>
          <a:bodyPr wrap="square" lIns="0" tIns="0" rIns="0" bIns="0" rtlCol="0" anchor="t"/>
          <a:lstStyle/>
          <a:p>
            <a:pPr algn="l" indent="0" marL="0">
              <a:buNone/>
            </a:pPr>
            <a:r>
              <a:rPr lang="en-US" sz="1100" b="1" spc="200" kern="0" dirty="0">
                <a:solidFill>
                  <a:schemeClr val="accent1"/>
                </a:solidFill>
              </a:rPr>
              <a:t>01  ·  INTRODUCTION</a:t>
            </a:r>
            <a:endParaRPr lang="en-US" sz="1100" dirty="0"/>
          </a:p>
        </p:txBody>
      </p:sp>
      <p:sp>
        <p:nvSpPr>
          <p:cNvPr id="3" name="Text 1"/>
          <p:cNvSpPr/>
          <p:nvPr>
            <p:ph idx="102" type="title" hasCustomPrompt="1"/>
          </p:nvPr>
        </p:nvSpPr>
        <p:spPr>
          <a:xfrm>
            <a:off x="457200" y="566928"/>
            <a:ext cx="8229600" cy="548640"/>
          </a:xfrm>
          <a:prstGeom prst="rect">
            <a:avLst/>
          </a:prstGeom>
          <a:noFill/>
          <a:ln/>
        </p:spPr>
        <p:txBody>
          <a:bodyPr wrap="square" lIns="0" tIns="0" rIns="0" bIns="0" rtlCol="0" anchor="t"/>
          <a:lstStyle/>
          <a:p>
            <a:pPr algn="l" indent="0" marL="0">
              <a:buNone/>
            </a:pPr>
            <a:r>
              <a:rPr lang="en-US" sz="2800" b="1" dirty="0">
                <a:solidFill>
                  <a:schemeClr val="bg1"/>
                </a:solidFill>
              </a:rPr>
              <a:t>Introduction / Background</a:t>
            </a:r>
            <a:endParaRPr lang="en-US" sz="2800" dirty="0"/>
          </a:p>
        </p:txBody>
      </p:sp>
      <p:sp>
        <p:nvSpPr>
          <p:cNvPr id="4" name="Chain card 1"/>
          <p:cNvSpPr/>
          <p:nvPr/>
        </p:nvSpPr>
        <p:spPr>
          <a:xfrm>
            <a:off x="457200" y="1325880"/>
            <a:ext cx="2377440" cy="1051560"/>
          </a:xfrm>
          <a:prstGeom prst="roundRect">
            <a:avLst>
              <a:gd name="adj" fmla="val 6957"/>
            </a:avLst>
          </a:prstGeom>
          <a:solidFill>
            <a:schemeClr val="tx2"/>
          </a:solidFill>
          <a:ln w="9525">
            <a:solidFill>
              <a:schemeClr val="accent5"/>
            </a:solidFill>
            <a:prstDash val="solid"/>
          </a:ln>
        </p:spPr>
      </p:sp>
      <p:sp>
        <p:nvSpPr>
          <p:cNvPr id="5" name="Servers run 24×7 circle"/>
          <p:cNvSpPr/>
          <p:nvPr/>
        </p:nvSpPr>
        <p:spPr>
          <a:xfrm>
            <a:off x="585216" y="1613916"/>
            <a:ext cx="475488" cy="475488"/>
          </a:xfrm>
          <a:prstGeom prst="ellipse">
            <a:avLst/>
          </a:prstGeom>
          <a:solidFill>
            <a:schemeClr val="accent1">
              <a:alpha val="18000"/>
            </a:schemeClr>
          </a:solidFill>
          <a:ln w="9525">
            <a:solidFill>
              <a:schemeClr val="accent1"/>
            </a:solidFill>
            <a:prstDash val="solid"/>
          </a:ln>
        </p:spPr>
      </p:sp>
      <p:pic>
        <p:nvPicPr>
          <p:cNvPr id="6" name="Image 0" descr="Servers run 24×7">    </p:cNvPr>
          <p:cNvPicPr>
            <a:picLocks noChangeAspect="1"/>
          </p:cNvPicPr>
          <p:nvPr/>
        </p:nvPicPr>
        <p:blipFill>
          <a:blip r:embed="rId1"/>
          <a:stretch>
            <a:fillRect/>
          </a:stretch>
        </p:blipFill>
        <p:spPr>
          <a:xfrm>
            <a:off x="699333" y="1728033"/>
            <a:ext cx="247254" cy="247254"/>
          </a:xfrm>
          <a:prstGeom prst="rect">
            <a:avLst/>
          </a:prstGeom>
        </p:spPr>
      </p:pic>
      <p:sp>
        <p:nvSpPr>
          <p:cNvPr id="7" name="Chain header 1"/>
          <p:cNvSpPr txBox="1"/>
          <p:nvPr/>
        </p:nvSpPr>
        <p:spPr>
          <a:xfrm>
            <a:off x="1170432" y="1508760"/>
            <a:ext cx="1600200" cy="274320"/>
          </a:xfrm>
          <a:prstGeom prst="rect">
            <a:avLst/>
          </a:prstGeom>
          <a:noFill/>
          <a:ln/>
        </p:spPr>
        <p:txBody>
          <a:bodyPr wrap="square" lIns="0" tIns="0" rIns="0" bIns="0" rtlCol="0" anchor="t"/>
          <a:lstStyle/>
          <a:p>
            <a:pPr indent="0" marL="0">
              <a:buNone/>
            </a:pPr>
            <a:r>
              <a:rPr lang="en-US" sz="1400" b="1" dirty="0">
                <a:solidFill>
                  <a:schemeClr val="bg1"/>
                </a:solidFill>
              </a:rPr>
              <a:t>Servers run 24×7</a:t>
            </a:r>
            <a:endParaRPr lang="en-US" sz="1400" dirty="0"/>
          </a:p>
        </p:txBody>
      </p:sp>
      <p:sp>
        <p:nvSpPr>
          <p:cNvPr id="8" name="Chain text 1"/>
          <p:cNvSpPr txBox="1"/>
          <p:nvPr/>
        </p:nvSpPr>
        <p:spPr>
          <a:xfrm>
            <a:off x="1170432" y="1801368"/>
            <a:ext cx="1554480" cy="457200"/>
          </a:xfrm>
          <a:prstGeom prst="rect">
            <a:avLst/>
          </a:prstGeom>
          <a:noFill/>
          <a:ln/>
        </p:spPr>
        <p:txBody>
          <a:bodyPr wrap="square" lIns="0" tIns="0" rIns="0" bIns="0" rtlCol="0" anchor="t"/>
          <a:lstStyle/>
          <a:p>
            <a:pPr indent="0" marL="0">
              <a:buNone/>
            </a:pPr>
            <a:r>
              <a:rPr lang="en-US" sz="1200" dirty="0">
                <a:solidFill>
                  <a:schemeClr val="bg2"/>
                </a:solidFill>
              </a:rPr>
              <a:t>Large fleets operate continuously</a:t>
            </a:r>
            <a:endParaRPr lang="en-US" sz="1200" dirty="0"/>
          </a:p>
        </p:txBody>
      </p:sp>
      <p:sp>
        <p:nvSpPr>
          <p:cNvPr id="9" name="Arrow"/>
          <p:cNvSpPr/>
          <p:nvPr/>
        </p:nvSpPr>
        <p:spPr>
          <a:xfrm>
            <a:off x="2944368" y="1851660"/>
            <a:ext cx="329184" cy="0"/>
          </a:xfrm>
          <a:prstGeom prst="line">
            <a:avLst/>
          </a:prstGeom>
          <a:noFill/>
          <a:ln w="19050">
            <a:solidFill>
              <a:schemeClr val="accent1"/>
            </a:solidFill>
            <a:prstDash val="solid"/>
            <a:tailEnd type="triangle"/>
          </a:ln>
        </p:spPr>
      </p:sp>
      <p:sp>
        <p:nvSpPr>
          <p:cNvPr id="10" name="Chain card 2"/>
          <p:cNvSpPr/>
          <p:nvPr/>
        </p:nvSpPr>
        <p:spPr>
          <a:xfrm>
            <a:off x="3383280" y="1325880"/>
            <a:ext cx="2377440" cy="1051560"/>
          </a:xfrm>
          <a:prstGeom prst="roundRect">
            <a:avLst>
              <a:gd name="adj" fmla="val 6957"/>
            </a:avLst>
          </a:prstGeom>
          <a:solidFill>
            <a:schemeClr val="tx2"/>
          </a:solidFill>
          <a:ln w="9525">
            <a:solidFill>
              <a:schemeClr val="accent5"/>
            </a:solidFill>
            <a:prstDash val="solid"/>
          </a:ln>
        </p:spPr>
      </p:sp>
      <p:sp>
        <p:nvSpPr>
          <p:cNvPr id="11" name="Heat generation circle"/>
          <p:cNvSpPr/>
          <p:nvPr/>
        </p:nvSpPr>
        <p:spPr>
          <a:xfrm>
            <a:off x="3511296" y="1613916"/>
            <a:ext cx="475488" cy="475488"/>
          </a:xfrm>
          <a:prstGeom prst="ellipse">
            <a:avLst/>
          </a:prstGeom>
          <a:solidFill>
            <a:schemeClr val="accent1">
              <a:alpha val="18000"/>
            </a:schemeClr>
          </a:solidFill>
          <a:ln w="9525">
            <a:solidFill>
              <a:schemeClr val="accent1"/>
            </a:solidFill>
            <a:prstDash val="solid"/>
          </a:ln>
        </p:spPr>
      </p:sp>
      <p:pic>
        <p:nvPicPr>
          <p:cNvPr id="12" name="Image 1" descr="Heat generation">    </p:cNvPr>
          <p:cNvPicPr>
            <a:picLocks noChangeAspect="1"/>
          </p:cNvPicPr>
          <p:nvPr/>
        </p:nvPicPr>
        <p:blipFill>
          <a:blip r:embed="rId2"/>
          <a:stretch>
            <a:fillRect/>
          </a:stretch>
        </p:blipFill>
        <p:spPr>
          <a:xfrm>
            <a:off x="3625413" y="1728033"/>
            <a:ext cx="247254" cy="247254"/>
          </a:xfrm>
          <a:prstGeom prst="rect">
            <a:avLst/>
          </a:prstGeom>
        </p:spPr>
      </p:pic>
      <p:sp>
        <p:nvSpPr>
          <p:cNvPr id="13" name="Chain header 2"/>
          <p:cNvSpPr txBox="1"/>
          <p:nvPr/>
        </p:nvSpPr>
        <p:spPr>
          <a:xfrm>
            <a:off x="4096512" y="1508760"/>
            <a:ext cx="1600200" cy="274320"/>
          </a:xfrm>
          <a:prstGeom prst="rect">
            <a:avLst/>
          </a:prstGeom>
          <a:noFill/>
          <a:ln/>
        </p:spPr>
        <p:txBody>
          <a:bodyPr wrap="square" lIns="0" tIns="0" rIns="0" bIns="0" rtlCol="0" anchor="t"/>
          <a:lstStyle/>
          <a:p>
            <a:pPr indent="0" marL="0">
              <a:buNone/>
            </a:pPr>
            <a:r>
              <a:rPr lang="en-US" sz="1400" b="1" dirty="0">
                <a:solidFill>
                  <a:schemeClr val="bg1"/>
                </a:solidFill>
              </a:rPr>
              <a:t>Heat generation</a:t>
            </a:r>
            <a:endParaRPr lang="en-US" sz="1400" dirty="0"/>
          </a:p>
        </p:txBody>
      </p:sp>
      <p:sp>
        <p:nvSpPr>
          <p:cNvPr id="14" name="Chain text 2"/>
          <p:cNvSpPr txBox="1"/>
          <p:nvPr/>
        </p:nvSpPr>
        <p:spPr>
          <a:xfrm>
            <a:off x="4096512" y="1801368"/>
            <a:ext cx="1554480" cy="457200"/>
          </a:xfrm>
          <a:prstGeom prst="rect">
            <a:avLst/>
          </a:prstGeom>
          <a:noFill/>
          <a:ln/>
        </p:spPr>
        <p:txBody>
          <a:bodyPr wrap="square" lIns="0" tIns="0" rIns="0" bIns="0" rtlCol="0" anchor="t"/>
          <a:lstStyle/>
          <a:p>
            <a:pPr indent="0" marL="0">
              <a:buNone/>
            </a:pPr>
            <a:r>
              <a:rPr lang="en-US" sz="1200" dirty="0">
                <a:solidFill>
                  <a:schemeClr val="bg2"/>
                </a:solidFill>
              </a:rPr>
              <a:t>Servers produce substantial heat</a:t>
            </a:r>
            <a:endParaRPr lang="en-US" sz="1200" dirty="0"/>
          </a:p>
        </p:txBody>
      </p:sp>
      <p:sp>
        <p:nvSpPr>
          <p:cNvPr id="15" name="Arrow"/>
          <p:cNvSpPr/>
          <p:nvPr/>
        </p:nvSpPr>
        <p:spPr>
          <a:xfrm>
            <a:off x="5870448" y="1851660"/>
            <a:ext cx="329184" cy="0"/>
          </a:xfrm>
          <a:prstGeom prst="line">
            <a:avLst/>
          </a:prstGeom>
          <a:noFill/>
          <a:ln w="19050">
            <a:solidFill>
              <a:schemeClr val="accent1"/>
            </a:solidFill>
            <a:prstDash val="solid"/>
            <a:tailEnd type="triangle"/>
          </a:ln>
        </p:spPr>
      </p:sp>
      <p:sp>
        <p:nvSpPr>
          <p:cNvPr id="16" name="Chain card 3"/>
          <p:cNvSpPr/>
          <p:nvPr/>
        </p:nvSpPr>
        <p:spPr>
          <a:xfrm>
            <a:off x="6309360" y="1325880"/>
            <a:ext cx="2377440" cy="1051560"/>
          </a:xfrm>
          <a:prstGeom prst="roundRect">
            <a:avLst>
              <a:gd name="adj" fmla="val 6957"/>
            </a:avLst>
          </a:prstGeom>
          <a:solidFill>
            <a:schemeClr val="tx2"/>
          </a:solidFill>
          <a:ln w="9525">
            <a:solidFill>
              <a:schemeClr val="accent5"/>
            </a:solidFill>
            <a:prstDash val="solid"/>
          </a:ln>
        </p:spPr>
      </p:sp>
      <p:sp>
        <p:nvSpPr>
          <p:cNvPr id="17" name="Reliable cooling circle"/>
          <p:cNvSpPr/>
          <p:nvPr/>
        </p:nvSpPr>
        <p:spPr>
          <a:xfrm>
            <a:off x="6437376" y="1613916"/>
            <a:ext cx="475488" cy="475488"/>
          </a:xfrm>
          <a:prstGeom prst="ellipse">
            <a:avLst/>
          </a:prstGeom>
          <a:solidFill>
            <a:schemeClr val="accent1">
              <a:alpha val="18000"/>
            </a:schemeClr>
          </a:solidFill>
          <a:ln w="9525">
            <a:solidFill>
              <a:schemeClr val="accent1"/>
            </a:solidFill>
            <a:prstDash val="solid"/>
          </a:ln>
        </p:spPr>
      </p:sp>
      <p:pic>
        <p:nvPicPr>
          <p:cNvPr id="18" name="Image 2" descr="Reliable cooling">    </p:cNvPr>
          <p:cNvPicPr>
            <a:picLocks noChangeAspect="1"/>
          </p:cNvPicPr>
          <p:nvPr/>
        </p:nvPicPr>
        <p:blipFill>
          <a:blip r:embed="rId3"/>
          <a:stretch>
            <a:fillRect/>
          </a:stretch>
        </p:blipFill>
        <p:spPr>
          <a:xfrm>
            <a:off x="6551493" y="1728033"/>
            <a:ext cx="247254" cy="247254"/>
          </a:xfrm>
          <a:prstGeom prst="rect">
            <a:avLst/>
          </a:prstGeom>
        </p:spPr>
      </p:pic>
      <p:sp>
        <p:nvSpPr>
          <p:cNvPr id="19" name="Chain header 3"/>
          <p:cNvSpPr txBox="1"/>
          <p:nvPr/>
        </p:nvSpPr>
        <p:spPr>
          <a:xfrm>
            <a:off x="7022592" y="1508760"/>
            <a:ext cx="1600200" cy="274320"/>
          </a:xfrm>
          <a:prstGeom prst="rect">
            <a:avLst/>
          </a:prstGeom>
          <a:noFill/>
          <a:ln/>
        </p:spPr>
        <p:txBody>
          <a:bodyPr wrap="square" lIns="0" tIns="0" rIns="0" bIns="0" rtlCol="0" anchor="t"/>
          <a:lstStyle/>
          <a:p>
            <a:pPr indent="0" marL="0">
              <a:buNone/>
            </a:pPr>
            <a:r>
              <a:rPr lang="en-US" sz="1400" b="1" dirty="0">
                <a:solidFill>
                  <a:schemeClr val="bg1"/>
                </a:solidFill>
              </a:rPr>
              <a:t>Reliable cooling</a:t>
            </a:r>
            <a:endParaRPr lang="en-US" sz="1400" dirty="0"/>
          </a:p>
        </p:txBody>
      </p:sp>
      <p:sp>
        <p:nvSpPr>
          <p:cNvPr id="20" name="Chain text 3"/>
          <p:cNvSpPr txBox="1"/>
          <p:nvPr/>
        </p:nvSpPr>
        <p:spPr>
          <a:xfrm>
            <a:off x="7022592" y="1801368"/>
            <a:ext cx="1554480" cy="457200"/>
          </a:xfrm>
          <a:prstGeom prst="rect">
            <a:avLst/>
          </a:prstGeom>
          <a:noFill/>
          <a:ln/>
        </p:spPr>
        <p:txBody>
          <a:bodyPr wrap="square" lIns="0" tIns="0" rIns="0" bIns="0" rtlCol="0" anchor="t"/>
          <a:lstStyle/>
          <a:p>
            <a:pPr indent="0" marL="0">
              <a:buNone/>
            </a:pPr>
            <a:r>
              <a:rPr lang="en-US" sz="1200" dirty="0">
                <a:solidFill>
                  <a:schemeClr val="bg2"/>
                </a:solidFill>
              </a:rPr>
              <a:t>Must stay dependable at all times</a:t>
            </a:r>
            <a:endParaRPr lang="en-US" sz="1200" dirty="0"/>
          </a:p>
        </p:txBody>
      </p:sp>
      <p:sp>
        <p:nvSpPr>
          <p:cNvPr id="21" name="Risk label"/>
          <p:cNvSpPr txBox="1"/>
          <p:nvPr/>
        </p:nvSpPr>
        <p:spPr>
          <a:xfrm>
            <a:off x="457200" y="2606040"/>
            <a:ext cx="2743200" cy="201168"/>
          </a:xfrm>
          <a:prstGeom prst="rect">
            <a:avLst/>
          </a:prstGeom>
          <a:noFill/>
          <a:ln/>
        </p:spPr>
        <p:txBody>
          <a:bodyPr wrap="square" lIns="0" tIns="0" rIns="0" bIns="0" rtlCol="0" anchor="t"/>
          <a:lstStyle/>
          <a:p>
            <a:pPr indent="0" marL="0">
              <a:buNone/>
            </a:pPr>
            <a:r>
              <a:rPr lang="en-US" sz="1100" b="1" spc="200" kern="0" dirty="0">
                <a:solidFill>
                  <a:schemeClr val="accent3"/>
                </a:solidFill>
              </a:rPr>
              <a:t>IF COOLING FAILS</a:t>
            </a:r>
            <a:endParaRPr lang="en-US" sz="1100" dirty="0"/>
          </a:p>
        </p:txBody>
      </p:sp>
      <p:sp>
        <p:nvSpPr>
          <p:cNvPr id="22" name="Risk chip 1"/>
          <p:cNvSpPr/>
          <p:nvPr/>
        </p:nvSpPr>
        <p:spPr>
          <a:xfrm>
            <a:off x="457200" y="2852928"/>
            <a:ext cx="1920240" cy="731520"/>
          </a:xfrm>
          <a:prstGeom prst="roundRect">
            <a:avLst>
              <a:gd name="adj" fmla="val 10000"/>
            </a:avLst>
          </a:prstGeom>
          <a:solidFill>
            <a:schemeClr val="accent3">
              <a:alpha val="10000"/>
            </a:schemeClr>
          </a:solidFill>
          <a:ln w="9525">
            <a:solidFill>
              <a:schemeClr val="accent3"/>
            </a:solidFill>
            <a:prstDash val="solid"/>
          </a:ln>
        </p:spPr>
      </p:sp>
      <p:pic>
        <p:nvPicPr>
          <p:cNvPr id="23" name="Image 3" descr="Overheating">    </p:cNvPr>
          <p:cNvPicPr>
            <a:picLocks noChangeAspect="1"/>
          </p:cNvPicPr>
          <p:nvPr/>
        </p:nvPicPr>
        <p:blipFill>
          <a:blip r:embed="rId4"/>
          <a:stretch>
            <a:fillRect/>
          </a:stretch>
        </p:blipFill>
        <p:spPr>
          <a:xfrm>
            <a:off x="594360" y="3035808"/>
            <a:ext cx="365760" cy="365760"/>
          </a:xfrm>
          <a:prstGeom prst="rect">
            <a:avLst/>
          </a:prstGeom>
        </p:spPr>
      </p:pic>
      <p:sp>
        <p:nvSpPr>
          <p:cNvPr id="24" name="Risk text 1"/>
          <p:cNvSpPr txBox="1"/>
          <p:nvPr/>
        </p:nvSpPr>
        <p:spPr>
          <a:xfrm>
            <a:off x="1078992" y="2852928"/>
            <a:ext cx="1234440" cy="731520"/>
          </a:xfrm>
          <a:prstGeom prst="rect">
            <a:avLst/>
          </a:prstGeom>
          <a:noFill/>
          <a:ln/>
        </p:spPr>
        <p:txBody>
          <a:bodyPr wrap="square" lIns="0" tIns="0" rIns="0" bIns="0" rtlCol="0" anchor="ctr"/>
          <a:lstStyle/>
          <a:p>
            <a:pPr indent="0" marL="0">
              <a:buNone/>
            </a:pPr>
            <a:r>
              <a:rPr lang="en-US" sz="1400" dirty="0">
                <a:solidFill>
                  <a:schemeClr val="bg1"/>
                </a:solidFill>
              </a:rPr>
              <a:t>Overheating</a:t>
            </a:r>
            <a:endParaRPr lang="en-US" sz="1400" dirty="0"/>
          </a:p>
        </p:txBody>
      </p:sp>
      <p:sp>
        <p:nvSpPr>
          <p:cNvPr id="25" name="Risk chip 2"/>
          <p:cNvSpPr/>
          <p:nvPr/>
        </p:nvSpPr>
        <p:spPr>
          <a:xfrm>
            <a:off x="2560320" y="2852928"/>
            <a:ext cx="1920240" cy="731520"/>
          </a:xfrm>
          <a:prstGeom prst="roundRect">
            <a:avLst>
              <a:gd name="adj" fmla="val 10000"/>
            </a:avLst>
          </a:prstGeom>
          <a:solidFill>
            <a:schemeClr val="accent3">
              <a:alpha val="10000"/>
            </a:schemeClr>
          </a:solidFill>
          <a:ln w="9525">
            <a:solidFill>
              <a:schemeClr val="accent3"/>
            </a:solidFill>
            <a:prstDash val="solid"/>
          </a:ln>
        </p:spPr>
      </p:sp>
      <p:pic>
        <p:nvPicPr>
          <p:cNvPr id="26" name="Image 4" descr="Energy inefficiency">    </p:cNvPr>
          <p:cNvPicPr>
            <a:picLocks noChangeAspect="1"/>
          </p:cNvPicPr>
          <p:nvPr/>
        </p:nvPicPr>
        <p:blipFill>
          <a:blip r:embed="rId5"/>
          <a:stretch>
            <a:fillRect/>
          </a:stretch>
        </p:blipFill>
        <p:spPr>
          <a:xfrm>
            <a:off x="2697480" y="3035808"/>
            <a:ext cx="365760" cy="365760"/>
          </a:xfrm>
          <a:prstGeom prst="rect">
            <a:avLst/>
          </a:prstGeom>
        </p:spPr>
      </p:pic>
      <p:sp>
        <p:nvSpPr>
          <p:cNvPr id="27" name="Risk text 2"/>
          <p:cNvSpPr txBox="1"/>
          <p:nvPr/>
        </p:nvSpPr>
        <p:spPr>
          <a:xfrm>
            <a:off x="3182112" y="2852928"/>
            <a:ext cx="1234440" cy="731520"/>
          </a:xfrm>
          <a:prstGeom prst="rect">
            <a:avLst/>
          </a:prstGeom>
          <a:noFill/>
          <a:ln/>
        </p:spPr>
        <p:txBody>
          <a:bodyPr wrap="square" lIns="0" tIns="0" rIns="0" bIns="0" rtlCol="0" anchor="ctr"/>
          <a:lstStyle/>
          <a:p>
            <a:pPr indent="0" marL="0">
              <a:buNone/>
            </a:pPr>
            <a:r>
              <a:rPr lang="en-US" sz="1400" dirty="0">
                <a:solidFill>
                  <a:schemeClr val="bg1"/>
                </a:solidFill>
              </a:rPr>
              <a:t>Energy inefficiency</a:t>
            </a:r>
            <a:endParaRPr lang="en-US" sz="1400" dirty="0"/>
          </a:p>
        </p:txBody>
      </p:sp>
      <p:sp>
        <p:nvSpPr>
          <p:cNvPr id="28" name="Risk chip 3"/>
          <p:cNvSpPr/>
          <p:nvPr/>
        </p:nvSpPr>
        <p:spPr>
          <a:xfrm>
            <a:off x="4663440" y="2852928"/>
            <a:ext cx="1920240" cy="731520"/>
          </a:xfrm>
          <a:prstGeom prst="roundRect">
            <a:avLst>
              <a:gd name="adj" fmla="val 10000"/>
            </a:avLst>
          </a:prstGeom>
          <a:solidFill>
            <a:schemeClr val="accent3">
              <a:alpha val="10000"/>
            </a:schemeClr>
          </a:solidFill>
          <a:ln w="9525">
            <a:solidFill>
              <a:schemeClr val="accent3"/>
            </a:solidFill>
            <a:prstDash val="solid"/>
          </a:ln>
        </p:spPr>
      </p:sp>
      <p:pic>
        <p:nvPicPr>
          <p:cNvPr id="29" name="Image 5" descr="Performance degradation">    </p:cNvPr>
          <p:cNvPicPr>
            <a:picLocks noChangeAspect="1"/>
          </p:cNvPicPr>
          <p:nvPr/>
        </p:nvPicPr>
        <p:blipFill>
          <a:blip r:embed="rId6"/>
          <a:stretch>
            <a:fillRect/>
          </a:stretch>
        </p:blipFill>
        <p:spPr>
          <a:xfrm>
            <a:off x="4800600" y="3035808"/>
            <a:ext cx="365760" cy="365760"/>
          </a:xfrm>
          <a:prstGeom prst="rect">
            <a:avLst/>
          </a:prstGeom>
        </p:spPr>
      </p:pic>
      <p:sp>
        <p:nvSpPr>
          <p:cNvPr id="30" name="Risk text 3"/>
          <p:cNvSpPr txBox="1"/>
          <p:nvPr/>
        </p:nvSpPr>
        <p:spPr>
          <a:xfrm>
            <a:off x="5285232" y="2852928"/>
            <a:ext cx="1234440" cy="731520"/>
          </a:xfrm>
          <a:prstGeom prst="rect">
            <a:avLst/>
          </a:prstGeom>
          <a:noFill/>
          <a:ln/>
        </p:spPr>
        <p:txBody>
          <a:bodyPr wrap="square" lIns="0" tIns="0" rIns="0" bIns="0" rtlCol="0" anchor="ctr"/>
          <a:lstStyle/>
          <a:p>
            <a:pPr indent="0" marL="0">
              <a:buNone/>
            </a:pPr>
            <a:r>
              <a:rPr lang="en-US" sz="1400" dirty="0">
                <a:solidFill>
                  <a:schemeClr val="bg1"/>
                </a:solidFill>
              </a:rPr>
              <a:t>Performance degradation</a:t>
            </a:r>
            <a:endParaRPr lang="en-US" sz="1400" dirty="0"/>
          </a:p>
        </p:txBody>
      </p:sp>
      <p:sp>
        <p:nvSpPr>
          <p:cNvPr id="31" name="Risk chip 4"/>
          <p:cNvSpPr/>
          <p:nvPr/>
        </p:nvSpPr>
        <p:spPr>
          <a:xfrm>
            <a:off x="6766560" y="2852928"/>
            <a:ext cx="1920240" cy="731520"/>
          </a:xfrm>
          <a:prstGeom prst="roundRect">
            <a:avLst>
              <a:gd name="adj" fmla="val 10000"/>
            </a:avLst>
          </a:prstGeom>
          <a:solidFill>
            <a:schemeClr val="accent3">
              <a:alpha val="10000"/>
            </a:schemeClr>
          </a:solidFill>
          <a:ln w="9525">
            <a:solidFill>
              <a:schemeClr val="accent3"/>
            </a:solidFill>
            <a:prstDash val="solid"/>
          </a:ln>
        </p:spPr>
      </p:sp>
      <p:pic>
        <p:nvPicPr>
          <p:cNvPr id="32" name="Image 6" descr="Hardware risk">    </p:cNvPr>
          <p:cNvPicPr>
            <a:picLocks noChangeAspect="1"/>
          </p:cNvPicPr>
          <p:nvPr/>
        </p:nvPicPr>
        <p:blipFill>
          <a:blip r:embed="rId7"/>
          <a:stretch>
            <a:fillRect/>
          </a:stretch>
        </p:blipFill>
        <p:spPr>
          <a:xfrm>
            <a:off x="6903720" y="3035808"/>
            <a:ext cx="365760" cy="365760"/>
          </a:xfrm>
          <a:prstGeom prst="rect">
            <a:avLst/>
          </a:prstGeom>
        </p:spPr>
      </p:pic>
      <p:sp>
        <p:nvSpPr>
          <p:cNvPr id="33" name="Risk text 4"/>
          <p:cNvSpPr txBox="1"/>
          <p:nvPr/>
        </p:nvSpPr>
        <p:spPr>
          <a:xfrm>
            <a:off x="7388352" y="2852928"/>
            <a:ext cx="1234440" cy="731520"/>
          </a:xfrm>
          <a:prstGeom prst="rect">
            <a:avLst/>
          </a:prstGeom>
          <a:noFill/>
          <a:ln/>
        </p:spPr>
        <p:txBody>
          <a:bodyPr wrap="square" lIns="0" tIns="0" rIns="0" bIns="0" rtlCol="0" anchor="ctr"/>
          <a:lstStyle/>
          <a:p>
            <a:pPr indent="0" marL="0">
              <a:buNone/>
            </a:pPr>
            <a:r>
              <a:rPr lang="en-US" sz="1400" dirty="0">
                <a:solidFill>
                  <a:schemeClr val="bg1"/>
                </a:solidFill>
              </a:rPr>
              <a:t>Hardware risk</a:t>
            </a:r>
            <a:endParaRPr lang="en-US" sz="1400" dirty="0"/>
          </a:p>
        </p:txBody>
      </p:sp>
      <p:sp>
        <p:nvSpPr>
          <p:cNvPr id="34" name="Fit banner"/>
          <p:cNvSpPr/>
          <p:nvPr/>
        </p:nvSpPr>
        <p:spPr>
          <a:xfrm>
            <a:off x="457200" y="3840480"/>
            <a:ext cx="8229600" cy="777240"/>
          </a:xfrm>
          <a:prstGeom prst="roundRect">
            <a:avLst>
              <a:gd name="adj" fmla="val 9412"/>
            </a:avLst>
          </a:prstGeom>
          <a:solidFill>
            <a:schemeClr val="accent1">
              <a:alpha val="10000"/>
            </a:schemeClr>
          </a:solidFill>
          <a:ln w="9525">
            <a:solidFill>
              <a:schemeClr val="accent1"/>
            </a:solidFill>
            <a:prstDash val="solid"/>
          </a:ln>
        </p:spPr>
      </p:sp>
      <p:sp>
        <p:nvSpPr>
          <p:cNvPr id="35" name="Telemetry circle"/>
          <p:cNvSpPr/>
          <p:nvPr/>
        </p:nvSpPr>
        <p:spPr>
          <a:xfrm>
            <a:off x="731520" y="4000500"/>
            <a:ext cx="457200" cy="457200"/>
          </a:xfrm>
          <a:prstGeom prst="ellipse">
            <a:avLst/>
          </a:prstGeom>
          <a:solidFill>
            <a:schemeClr val="accent1">
              <a:alpha val="18000"/>
            </a:schemeClr>
          </a:solidFill>
          <a:ln w="9525">
            <a:solidFill>
              <a:schemeClr val="accent1"/>
            </a:solidFill>
            <a:prstDash val="solid"/>
          </a:ln>
        </p:spPr>
      </p:sp>
      <p:pic>
        <p:nvPicPr>
          <p:cNvPr id="36" name="Image 7" descr="Telemetry">    </p:cNvPr>
          <p:cNvPicPr>
            <a:picLocks noChangeAspect="1"/>
          </p:cNvPicPr>
          <p:nvPr/>
        </p:nvPicPr>
        <p:blipFill>
          <a:blip r:embed="rId8"/>
          <a:stretch>
            <a:fillRect/>
          </a:stretch>
        </p:blipFill>
        <p:spPr>
          <a:xfrm>
            <a:off x="841248" y="4110228"/>
            <a:ext cx="237744" cy="237744"/>
          </a:xfrm>
          <a:prstGeom prst="rect">
            <a:avLst/>
          </a:prstGeom>
        </p:spPr>
      </p:pic>
      <p:sp>
        <p:nvSpPr>
          <p:cNvPr id="37" name="Fit text"/>
          <p:cNvSpPr txBox="1"/>
          <p:nvPr/>
        </p:nvSpPr>
        <p:spPr>
          <a:xfrm>
            <a:off x="1417320" y="3840480"/>
            <a:ext cx="7040880" cy="777240"/>
          </a:xfrm>
          <a:prstGeom prst="rect">
            <a:avLst/>
          </a:prstGeom>
          <a:noFill/>
          <a:ln/>
        </p:spPr>
        <p:txBody>
          <a:bodyPr wrap="square" lIns="0" tIns="0" rIns="0" bIns="0" rtlCol="0" anchor="ctr"/>
          <a:lstStyle/>
          <a:p>
            <a:pPr indent="0" marL="0">
              <a:buNone/>
            </a:pPr>
            <a:r>
              <a:rPr lang="en-US" sz="1400" b="1" dirty="0">
                <a:solidFill>
                  <a:schemeClr val="accent1"/>
                </a:solidFill>
              </a:rPr>
              <a:t>Continuous sensor and operational telemetry</a:t>
            </a:r>
            <a:pPr indent="0" marL="0">
              <a:buNone/>
            </a:pPr>
            <a:r>
              <a:rPr lang="en-US" sz="1400" dirty="0">
                <a:solidFill>
                  <a:schemeClr val="bg1"/>
                </a:solidFill>
              </a:rPr>
              <a:t> makes this a natural fit for Deep Learning-based time-series anomaly detection.</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2627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457200" y="329184"/>
            <a:ext cx="8229600" cy="228600"/>
          </a:xfrm>
          <a:prstGeom prst="rect">
            <a:avLst/>
          </a:prstGeom>
          <a:noFill/>
          <a:ln/>
        </p:spPr>
        <p:txBody>
          <a:bodyPr wrap="square" lIns="0" tIns="0" rIns="0" bIns="0" rtlCol="0" anchor="t"/>
          <a:lstStyle/>
          <a:p>
            <a:pPr algn="l" indent="0" marL="0">
              <a:buNone/>
            </a:pPr>
            <a:r>
              <a:rPr lang="en-US" sz="1100" b="1" spc="200" kern="0" dirty="0">
                <a:solidFill>
                  <a:schemeClr val="accent1"/>
                </a:solidFill>
              </a:rPr>
              <a:t>02  ·  PROBLEM</a:t>
            </a:r>
            <a:endParaRPr lang="en-US" sz="1100" dirty="0"/>
          </a:p>
        </p:txBody>
      </p:sp>
      <p:sp>
        <p:nvSpPr>
          <p:cNvPr id="3" name="Text 1"/>
          <p:cNvSpPr/>
          <p:nvPr>
            <p:ph idx="102" type="title" hasCustomPrompt="1"/>
          </p:nvPr>
        </p:nvSpPr>
        <p:spPr>
          <a:xfrm>
            <a:off x="457200" y="566928"/>
            <a:ext cx="8229600" cy="548640"/>
          </a:xfrm>
          <a:prstGeom prst="rect">
            <a:avLst/>
          </a:prstGeom>
          <a:noFill/>
          <a:ln/>
        </p:spPr>
        <p:txBody>
          <a:bodyPr wrap="square" lIns="0" tIns="0" rIns="0" bIns="0" rtlCol="0" anchor="t"/>
          <a:lstStyle/>
          <a:p>
            <a:pPr algn="l" indent="0" marL="0">
              <a:buNone/>
            </a:pPr>
            <a:r>
              <a:rPr lang="en-US" sz="2800" b="1" dirty="0">
                <a:solidFill>
                  <a:schemeClr val="bg1"/>
                </a:solidFill>
              </a:rPr>
              <a:t>Problem Statement &amp; Motivation</a:t>
            </a:r>
            <a:endParaRPr lang="en-US" sz="2800" dirty="0"/>
          </a:p>
        </p:txBody>
      </p:sp>
      <p:sp>
        <p:nvSpPr>
          <p:cNvPr id="4" name="Problem card"/>
          <p:cNvSpPr/>
          <p:nvPr/>
        </p:nvSpPr>
        <p:spPr>
          <a:xfrm>
            <a:off x="457200" y="1325880"/>
            <a:ext cx="3840480" cy="2423160"/>
          </a:xfrm>
          <a:prstGeom prst="roundRect">
            <a:avLst>
              <a:gd name="adj" fmla="val 3019"/>
            </a:avLst>
          </a:prstGeom>
          <a:solidFill>
            <a:schemeClr val="tx2"/>
          </a:solidFill>
          <a:ln w="9525">
            <a:solidFill>
              <a:schemeClr val="accent5"/>
            </a:solidFill>
            <a:prstDash val="solid"/>
          </a:ln>
        </p:spPr>
      </p:sp>
      <p:sp>
        <p:nvSpPr>
          <p:cNvPr id="5" name="Problem label"/>
          <p:cNvSpPr txBox="1"/>
          <p:nvPr/>
        </p:nvSpPr>
        <p:spPr>
          <a:xfrm>
            <a:off x="685800" y="1508760"/>
            <a:ext cx="256032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PROBLEM STATEMENT</a:t>
            </a:r>
            <a:endParaRPr lang="en-US" sz="1100" dirty="0"/>
          </a:p>
        </p:txBody>
      </p:sp>
      <p:sp>
        <p:nvSpPr>
          <p:cNvPr id="6" name="Question circle"/>
          <p:cNvSpPr/>
          <p:nvPr/>
        </p:nvSpPr>
        <p:spPr>
          <a:xfrm>
            <a:off x="3589020" y="1394460"/>
            <a:ext cx="502920" cy="502920"/>
          </a:xfrm>
          <a:prstGeom prst="ellipse">
            <a:avLst/>
          </a:prstGeom>
          <a:solidFill>
            <a:schemeClr val="accent1">
              <a:alpha val="18000"/>
            </a:schemeClr>
          </a:solidFill>
          <a:ln w="9525">
            <a:solidFill>
              <a:schemeClr val="accent1"/>
            </a:solidFill>
            <a:prstDash val="solid"/>
          </a:ln>
        </p:spPr>
      </p:sp>
      <p:pic>
        <p:nvPicPr>
          <p:cNvPr id="7" name="Image 0" descr="Question">    </p:cNvPr>
          <p:cNvPicPr>
            <a:picLocks noChangeAspect="1"/>
          </p:cNvPicPr>
          <p:nvPr/>
        </p:nvPicPr>
        <p:blipFill>
          <a:blip r:embed="rId1"/>
          <a:stretch>
            <a:fillRect/>
          </a:stretch>
        </p:blipFill>
        <p:spPr>
          <a:xfrm>
            <a:off x="3709721" y="1515161"/>
            <a:ext cx="261518" cy="261518"/>
          </a:xfrm>
          <a:prstGeom prst="rect">
            <a:avLst/>
          </a:prstGeom>
        </p:spPr>
      </p:pic>
      <p:sp>
        <p:nvSpPr>
          <p:cNvPr id="8" name="Problem question"/>
          <p:cNvSpPr txBox="1"/>
          <p:nvPr/>
        </p:nvSpPr>
        <p:spPr>
          <a:xfrm>
            <a:off x="685800" y="2011680"/>
            <a:ext cx="3383280" cy="1600200"/>
          </a:xfrm>
          <a:prstGeom prst="rect">
            <a:avLst/>
          </a:prstGeom>
          <a:noFill/>
          <a:ln/>
        </p:spPr>
        <p:txBody>
          <a:bodyPr wrap="square" lIns="0" tIns="0" rIns="0" bIns="0" rtlCol="0" anchor="t"/>
          <a:lstStyle/>
          <a:p>
            <a:pPr indent="0" marL="0">
              <a:buNone/>
            </a:pPr>
            <a:r>
              <a:rPr lang="en-US" sz="1800" b="1" dirty="0">
                <a:solidFill>
                  <a:schemeClr val="bg1"/>
                </a:solidFill>
              </a:rPr>
              <a:t>How can abnormal cooling behavior in a data center be detected automatically from sensor and operational time-series data?</a:t>
            </a:r>
            <a:endParaRPr lang="en-US" sz="1800" dirty="0"/>
          </a:p>
        </p:txBody>
      </p:sp>
      <p:sp>
        <p:nvSpPr>
          <p:cNvPr id="9" name="Limits header"/>
          <p:cNvSpPr txBox="1"/>
          <p:nvPr/>
        </p:nvSpPr>
        <p:spPr>
          <a:xfrm>
            <a:off x="4572000" y="1325880"/>
            <a:ext cx="4114800" cy="274320"/>
          </a:xfrm>
          <a:prstGeom prst="rect">
            <a:avLst/>
          </a:prstGeom>
          <a:noFill/>
          <a:ln/>
        </p:spPr>
        <p:txBody>
          <a:bodyPr wrap="square" lIns="0" tIns="0" rIns="0" bIns="0" rtlCol="0" anchor="t"/>
          <a:lstStyle/>
          <a:p>
            <a:pPr indent="0" marL="0">
              <a:buNone/>
            </a:pPr>
            <a:r>
              <a:rPr lang="en-US" sz="1600" b="1" dirty="0">
                <a:solidFill>
                  <a:schemeClr val="bg1"/>
                </a:solidFill>
              </a:rPr>
              <a:t>Why fixed thresholds fall short</a:t>
            </a:r>
            <a:endParaRPr lang="en-US" sz="1600" dirty="0"/>
          </a:p>
        </p:txBody>
      </p:sp>
      <p:sp>
        <p:nvSpPr>
          <p:cNvPr id="10" name="Limit card 1"/>
          <p:cNvSpPr/>
          <p:nvPr/>
        </p:nvSpPr>
        <p:spPr>
          <a:xfrm>
            <a:off x="4572000" y="1737360"/>
            <a:ext cx="4114800" cy="621792"/>
          </a:xfrm>
          <a:prstGeom prst="roundRect">
            <a:avLst>
              <a:gd name="adj" fmla="val 11765"/>
            </a:avLst>
          </a:prstGeom>
          <a:solidFill>
            <a:schemeClr val="tx2"/>
          </a:solidFill>
          <a:ln w="9525">
            <a:solidFill>
              <a:schemeClr val="accent5"/>
            </a:solidFill>
            <a:prstDash val="solid"/>
          </a:ln>
        </p:spPr>
      </p:sp>
      <p:sp>
        <p:nvSpPr>
          <p:cNvPr id="11" name="A single sensor threshold can miss complex relationships between variables circle"/>
          <p:cNvSpPr/>
          <p:nvPr/>
        </p:nvSpPr>
        <p:spPr>
          <a:xfrm>
            <a:off x="4700016" y="1856232"/>
            <a:ext cx="384048" cy="384048"/>
          </a:xfrm>
          <a:prstGeom prst="ellipse">
            <a:avLst/>
          </a:prstGeom>
          <a:solidFill>
            <a:schemeClr val="accent3">
              <a:alpha val="18000"/>
            </a:schemeClr>
          </a:solidFill>
          <a:ln w="9525">
            <a:solidFill>
              <a:schemeClr val="accent3"/>
            </a:solidFill>
            <a:prstDash val="solid"/>
          </a:ln>
        </p:spPr>
      </p:sp>
      <p:pic>
        <p:nvPicPr>
          <p:cNvPr id="12" name="Image 1" descr="A single sensor threshold can miss complex relationships between variables">    </p:cNvPr>
          <p:cNvPicPr>
            <a:picLocks noChangeAspect="1"/>
          </p:cNvPicPr>
          <p:nvPr/>
        </p:nvPicPr>
        <p:blipFill>
          <a:blip r:embed="rId2"/>
          <a:stretch>
            <a:fillRect/>
          </a:stretch>
        </p:blipFill>
        <p:spPr>
          <a:xfrm>
            <a:off x="4792188" y="1948404"/>
            <a:ext cx="199705" cy="199705"/>
          </a:xfrm>
          <a:prstGeom prst="rect">
            <a:avLst/>
          </a:prstGeom>
        </p:spPr>
      </p:pic>
      <p:sp>
        <p:nvSpPr>
          <p:cNvPr id="13" name="Limit text 1"/>
          <p:cNvSpPr txBox="1"/>
          <p:nvPr/>
        </p:nvSpPr>
        <p:spPr>
          <a:xfrm>
            <a:off x="5303520" y="1737360"/>
            <a:ext cx="3291840" cy="621792"/>
          </a:xfrm>
          <a:prstGeom prst="rect">
            <a:avLst/>
          </a:prstGeom>
          <a:noFill/>
          <a:ln/>
        </p:spPr>
        <p:txBody>
          <a:bodyPr wrap="square" lIns="0" tIns="0" rIns="0" bIns="0" rtlCol="0" anchor="ctr"/>
          <a:lstStyle/>
          <a:p>
            <a:pPr indent="0" marL="0">
              <a:buNone/>
            </a:pPr>
            <a:r>
              <a:rPr lang="en-US" sz="1400" dirty="0">
                <a:solidFill>
                  <a:schemeClr val="bg1"/>
                </a:solidFill>
              </a:rPr>
              <a:t>A single sensor threshold can miss complex relationships between variables</a:t>
            </a:r>
            <a:endParaRPr lang="en-US" sz="1400" dirty="0"/>
          </a:p>
        </p:txBody>
      </p:sp>
      <p:sp>
        <p:nvSpPr>
          <p:cNvPr id="14" name="Limit card 2"/>
          <p:cNvSpPr/>
          <p:nvPr/>
        </p:nvSpPr>
        <p:spPr>
          <a:xfrm>
            <a:off x="4572000" y="2432304"/>
            <a:ext cx="4114800" cy="621792"/>
          </a:xfrm>
          <a:prstGeom prst="roundRect">
            <a:avLst>
              <a:gd name="adj" fmla="val 11765"/>
            </a:avLst>
          </a:prstGeom>
          <a:solidFill>
            <a:schemeClr val="tx2"/>
          </a:solidFill>
          <a:ln w="9525">
            <a:solidFill>
              <a:schemeClr val="accent5"/>
            </a:solidFill>
            <a:prstDash val="solid"/>
          </a:ln>
        </p:spPr>
      </p:sp>
      <p:sp>
        <p:nvSpPr>
          <p:cNvPr id="15" name="Abnormality may depend on several parameters at once circle"/>
          <p:cNvSpPr/>
          <p:nvPr/>
        </p:nvSpPr>
        <p:spPr>
          <a:xfrm>
            <a:off x="4700016" y="2551176"/>
            <a:ext cx="384048" cy="384048"/>
          </a:xfrm>
          <a:prstGeom prst="ellipse">
            <a:avLst/>
          </a:prstGeom>
          <a:solidFill>
            <a:schemeClr val="accent3">
              <a:alpha val="18000"/>
            </a:schemeClr>
          </a:solidFill>
          <a:ln w="9525">
            <a:solidFill>
              <a:schemeClr val="accent3"/>
            </a:solidFill>
            <a:prstDash val="solid"/>
          </a:ln>
        </p:spPr>
      </p:sp>
      <p:pic>
        <p:nvPicPr>
          <p:cNvPr id="16" name="Image 2" descr="Abnormality may depend on several parameters at once">    </p:cNvPr>
          <p:cNvPicPr>
            <a:picLocks noChangeAspect="1"/>
          </p:cNvPicPr>
          <p:nvPr/>
        </p:nvPicPr>
        <p:blipFill>
          <a:blip r:embed="rId3"/>
          <a:stretch>
            <a:fillRect/>
          </a:stretch>
        </p:blipFill>
        <p:spPr>
          <a:xfrm>
            <a:off x="4792188" y="2643348"/>
            <a:ext cx="199705" cy="199705"/>
          </a:xfrm>
          <a:prstGeom prst="rect">
            <a:avLst/>
          </a:prstGeom>
        </p:spPr>
      </p:pic>
      <p:sp>
        <p:nvSpPr>
          <p:cNvPr id="17" name="Limit text 2"/>
          <p:cNvSpPr txBox="1"/>
          <p:nvPr/>
        </p:nvSpPr>
        <p:spPr>
          <a:xfrm>
            <a:off x="5303520" y="2432304"/>
            <a:ext cx="3291840" cy="621792"/>
          </a:xfrm>
          <a:prstGeom prst="rect">
            <a:avLst/>
          </a:prstGeom>
          <a:noFill/>
          <a:ln/>
        </p:spPr>
        <p:txBody>
          <a:bodyPr wrap="square" lIns="0" tIns="0" rIns="0" bIns="0" rtlCol="0" anchor="ctr"/>
          <a:lstStyle/>
          <a:p>
            <a:pPr indent="0" marL="0">
              <a:buNone/>
            </a:pPr>
            <a:r>
              <a:rPr lang="en-US" sz="1400" dirty="0">
                <a:solidFill>
                  <a:schemeClr val="bg1"/>
                </a:solidFill>
              </a:rPr>
              <a:t>Abnormality may depend on several parameters at once</a:t>
            </a:r>
            <a:endParaRPr lang="en-US" sz="1400" dirty="0"/>
          </a:p>
        </p:txBody>
      </p:sp>
      <p:sp>
        <p:nvSpPr>
          <p:cNvPr id="18" name="Limit card 3"/>
          <p:cNvSpPr/>
          <p:nvPr/>
        </p:nvSpPr>
        <p:spPr>
          <a:xfrm>
            <a:off x="4572000" y="3127248"/>
            <a:ext cx="4114800" cy="621792"/>
          </a:xfrm>
          <a:prstGeom prst="roundRect">
            <a:avLst>
              <a:gd name="adj" fmla="val 11765"/>
            </a:avLst>
          </a:prstGeom>
          <a:solidFill>
            <a:schemeClr val="tx2"/>
          </a:solidFill>
          <a:ln w="9525">
            <a:solidFill>
              <a:schemeClr val="accent5"/>
            </a:solidFill>
            <a:prstDash val="solid"/>
          </a:ln>
        </p:spPr>
      </p:sp>
      <p:sp>
        <p:nvSpPr>
          <p:cNvPr id="19" name="Gradual changes are hard to catch with fixed thresholds circle"/>
          <p:cNvSpPr/>
          <p:nvPr/>
        </p:nvSpPr>
        <p:spPr>
          <a:xfrm>
            <a:off x="4700016" y="3246120"/>
            <a:ext cx="384048" cy="384048"/>
          </a:xfrm>
          <a:prstGeom prst="ellipse">
            <a:avLst/>
          </a:prstGeom>
          <a:solidFill>
            <a:schemeClr val="accent3">
              <a:alpha val="18000"/>
            </a:schemeClr>
          </a:solidFill>
          <a:ln w="9525">
            <a:solidFill>
              <a:schemeClr val="accent3"/>
            </a:solidFill>
            <a:prstDash val="solid"/>
          </a:ln>
        </p:spPr>
      </p:sp>
      <p:pic>
        <p:nvPicPr>
          <p:cNvPr id="20" name="Image 3" descr="Gradual changes are hard to catch with fixed thresholds">    </p:cNvPr>
          <p:cNvPicPr>
            <a:picLocks noChangeAspect="1"/>
          </p:cNvPicPr>
          <p:nvPr/>
        </p:nvPicPr>
        <p:blipFill>
          <a:blip r:embed="rId4"/>
          <a:stretch>
            <a:fillRect/>
          </a:stretch>
        </p:blipFill>
        <p:spPr>
          <a:xfrm>
            <a:off x="4792188" y="3338292"/>
            <a:ext cx="199705" cy="199705"/>
          </a:xfrm>
          <a:prstGeom prst="rect">
            <a:avLst/>
          </a:prstGeom>
        </p:spPr>
      </p:pic>
      <p:sp>
        <p:nvSpPr>
          <p:cNvPr id="21" name="Limit text 3"/>
          <p:cNvSpPr txBox="1"/>
          <p:nvPr/>
        </p:nvSpPr>
        <p:spPr>
          <a:xfrm>
            <a:off x="5303520" y="3127248"/>
            <a:ext cx="3291840" cy="621792"/>
          </a:xfrm>
          <a:prstGeom prst="rect">
            <a:avLst/>
          </a:prstGeom>
          <a:noFill/>
          <a:ln/>
        </p:spPr>
        <p:txBody>
          <a:bodyPr wrap="square" lIns="0" tIns="0" rIns="0" bIns="0" rtlCol="0" anchor="ctr"/>
          <a:lstStyle/>
          <a:p>
            <a:pPr indent="0" marL="0">
              <a:buNone/>
            </a:pPr>
            <a:r>
              <a:rPr lang="en-US" sz="1400" dirty="0">
                <a:solidFill>
                  <a:schemeClr val="bg1"/>
                </a:solidFill>
              </a:rPr>
              <a:t>Gradual changes are hard to catch with fixed thresholds</a:t>
            </a:r>
            <a:endParaRPr lang="en-US" sz="1400" dirty="0"/>
          </a:p>
        </p:txBody>
      </p:sp>
      <p:sp>
        <p:nvSpPr>
          <p:cNvPr id="22" name="Motivation banner"/>
          <p:cNvSpPr/>
          <p:nvPr/>
        </p:nvSpPr>
        <p:spPr>
          <a:xfrm>
            <a:off x="457200" y="3931920"/>
            <a:ext cx="8229600" cy="685800"/>
          </a:xfrm>
          <a:prstGeom prst="roundRect">
            <a:avLst>
              <a:gd name="adj" fmla="val 10667"/>
            </a:avLst>
          </a:prstGeom>
          <a:solidFill>
            <a:schemeClr val="accent1">
              <a:alpha val="10000"/>
            </a:schemeClr>
          </a:solidFill>
          <a:ln w="9525">
            <a:solidFill>
              <a:schemeClr val="accent1"/>
            </a:solidFill>
            <a:prstDash val="solid"/>
          </a:ln>
        </p:spPr>
      </p:sp>
      <p:sp>
        <p:nvSpPr>
          <p:cNvPr id="23" name="Motivation circle"/>
          <p:cNvSpPr/>
          <p:nvPr/>
        </p:nvSpPr>
        <p:spPr>
          <a:xfrm>
            <a:off x="685800" y="4046220"/>
            <a:ext cx="457200" cy="457200"/>
          </a:xfrm>
          <a:prstGeom prst="ellipse">
            <a:avLst/>
          </a:prstGeom>
          <a:solidFill>
            <a:schemeClr val="accent1">
              <a:alpha val="18000"/>
            </a:schemeClr>
          </a:solidFill>
          <a:ln w="9525">
            <a:solidFill>
              <a:schemeClr val="accent1"/>
            </a:solidFill>
            <a:prstDash val="solid"/>
          </a:ln>
        </p:spPr>
      </p:sp>
      <p:pic>
        <p:nvPicPr>
          <p:cNvPr id="24" name="Image 4" descr="Motivation">    </p:cNvPr>
          <p:cNvPicPr>
            <a:picLocks noChangeAspect="1"/>
          </p:cNvPicPr>
          <p:nvPr/>
        </p:nvPicPr>
        <p:blipFill>
          <a:blip r:embed="rId5"/>
          <a:stretch>
            <a:fillRect/>
          </a:stretch>
        </p:blipFill>
        <p:spPr>
          <a:xfrm>
            <a:off x="795528" y="4155948"/>
            <a:ext cx="237744" cy="237744"/>
          </a:xfrm>
          <a:prstGeom prst="rect">
            <a:avLst/>
          </a:prstGeom>
        </p:spPr>
      </p:pic>
      <p:sp>
        <p:nvSpPr>
          <p:cNvPr id="25" name="Motivation text"/>
          <p:cNvSpPr txBox="1"/>
          <p:nvPr/>
        </p:nvSpPr>
        <p:spPr>
          <a:xfrm>
            <a:off x="1371600" y="3931920"/>
            <a:ext cx="7132320" cy="685800"/>
          </a:xfrm>
          <a:prstGeom prst="rect">
            <a:avLst/>
          </a:prstGeom>
          <a:noFill/>
          <a:ln/>
        </p:spPr>
        <p:txBody>
          <a:bodyPr wrap="square" lIns="0" tIns="0" rIns="0" bIns="0" rtlCol="0" anchor="ctr"/>
          <a:lstStyle/>
          <a:p>
            <a:pPr indent="0" marL="0">
              <a:buNone/>
            </a:pPr>
            <a:r>
              <a:rPr lang="en-US" sz="1600" b="1" dirty="0">
                <a:solidFill>
                  <a:schemeClr val="bg1"/>
                </a:solidFill>
              </a:rPr>
              <a:t>An intelligent system can learn normal operating patterns and flag deviations automatically.</a:t>
            </a:r>
            <a:endParaRPr lang="en-US" sz="16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2627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457200" y="329184"/>
            <a:ext cx="8229600" cy="228600"/>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PROPOSED IDEA</a:t>
            </a:r>
            <a:endParaRPr lang="en-US" sz="1100" dirty="0"/>
          </a:p>
        </p:txBody>
      </p:sp>
      <p:sp>
        <p:nvSpPr>
          <p:cNvPr id="3" name="Text 1"/>
          <p:cNvSpPr/>
          <p:nvPr>
            <p:ph idx="102" type="title" hasCustomPrompt="1"/>
          </p:nvPr>
        </p:nvSpPr>
        <p:spPr>
          <a:xfrm>
            <a:off x="457200" y="566928"/>
            <a:ext cx="8229600" cy="548640"/>
          </a:xfrm>
          <a:prstGeom prst="rect">
            <a:avLst/>
          </a:prstGeom>
          <a:noFill/>
          <a:ln/>
        </p:spPr>
        <p:txBody>
          <a:bodyPr wrap="square" lIns="0" tIns="0" rIns="0" bIns="0" rtlCol="0" anchor="t"/>
          <a:lstStyle/>
          <a:p>
            <a:pPr algn="l" indent="0" marL="0">
              <a:buNone/>
            </a:pPr>
            <a:r>
              <a:rPr lang="en-US" sz="2800" b="1" dirty="0">
                <a:solidFill>
                  <a:schemeClr val="bg1"/>
                </a:solidFill>
              </a:rPr>
              <a:t>Proposed Idea / Solution</a:t>
            </a:r>
            <a:endParaRPr lang="en-US" sz="2800" dirty="0"/>
          </a:p>
        </p:txBody>
      </p:sp>
      <p:sp>
        <p:nvSpPr>
          <p:cNvPr id="4" name="Flow band"/>
          <p:cNvSpPr/>
          <p:nvPr/>
        </p:nvSpPr>
        <p:spPr>
          <a:xfrm>
            <a:off x="457200" y="1280160"/>
            <a:ext cx="8229600" cy="1554480"/>
          </a:xfrm>
          <a:prstGeom prst="roundRect">
            <a:avLst>
              <a:gd name="adj" fmla="val 4706"/>
            </a:avLst>
          </a:prstGeom>
          <a:solidFill>
            <a:schemeClr val="tx2"/>
          </a:solidFill>
          <a:ln w="9525">
            <a:solidFill>
              <a:schemeClr val="accent5"/>
            </a:solidFill>
            <a:prstDash val="solid"/>
          </a:ln>
        </p:spPr>
      </p:sp>
      <p:sp>
        <p:nvSpPr>
          <p:cNvPr id="5" name="Sensor / Telemetry Data circle"/>
          <p:cNvSpPr/>
          <p:nvPr/>
        </p:nvSpPr>
        <p:spPr>
          <a:xfrm>
            <a:off x="804672" y="1490472"/>
            <a:ext cx="585216" cy="585216"/>
          </a:xfrm>
          <a:prstGeom prst="ellipse">
            <a:avLst/>
          </a:prstGeom>
          <a:solidFill>
            <a:schemeClr val="accent1">
              <a:alpha val="18000"/>
            </a:schemeClr>
          </a:solidFill>
          <a:ln w="9525">
            <a:solidFill>
              <a:schemeClr val="accent1"/>
            </a:solidFill>
            <a:prstDash val="solid"/>
          </a:ln>
        </p:spPr>
      </p:sp>
      <p:pic>
        <p:nvPicPr>
          <p:cNvPr id="6" name="Image 0" descr="Sensor / Telemetry Data">    </p:cNvPr>
          <p:cNvPicPr>
            <a:picLocks noChangeAspect="1"/>
          </p:cNvPicPr>
          <p:nvPr/>
        </p:nvPicPr>
        <p:blipFill>
          <a:blip r:embed="rId1"/>
          <a:stretch>
            <a:fillRect/>
          </a:stretch>
        </p:blipFill>
        <p:spPr>
          <a:xfrm>
            <a:off x="945124" y="1630924"/>
            <a:ext cx="304312" cy="304312"/>
          </a:xfrm>
          <a:prstGeom prst="rect">
            <a:avLst/>
          </a:prstGeom>
        </p:spPr>
      </p:pic>
      <p:sp>
        <p:nvSpPr>
          <p:cNvPr id="7" name="Step label 1"/>
          <p:cNvSpPr txBox="1"/>
          <p:nvPr/>
        </p:nvSpPr>
        <p:spPr>
          <a:xfrm>
            <a:off x="548640" y="2194560"/>
            <a:ext cx="1097280" cy="548640"/>
          </a:xfrm>
          <a:prstGeom prst="rect">
            <a:avLst/>
          </a:prstGeom>
          <a:noFill/>
          <a:ln/>
        </p:spPr>
        <p:txBody>
          <a:bodyPr wrap="square" lIns="0" tIns="0" rIns="0" bIns="0" rtlCol="0" anchor="t"/>
          <a:lstStyle/>
          <a:p>
            <a:pPr algn="ctr" indent="0" marL="0">
              <a:buNone/>
            </a:pPr>
            <a:r>
              <a:rPr lang="en-US" sz="1200" dirty="0">
                <a:solidFill>
                  <a:schemeClr val="bg1"/>
                </a:solidFill>
              </a:rPr>
              <a:t>Sensor / Telemetry Data</a:t>
            </a:r>
            <a:endParaRPr lang="en-US" sz="1200" dirty="0"/>
          </a:p>
        </p:txBody>
      </p:sp>
      <p:sp>
        <p:nvSpPr>
          <p:cNvPr id="8" name="Arrow"/>
          <p:cNvSpPr/>
          <p:nvPr/>
        </p:nvSpPr>
        <p:spPr>
          <a:xfrm>
            <a:off x="1444752" y="1783080"/>
            <a:ext cx="338328" cy="0"/>
          </a:xfrm>
          <a:prstGeom prst="line">
            <a:avLst/>
          </a:prstGeom>
          <a:noFill/>
          <a:ln w="19050">
            <a:solidFill>
              <a:schemeClr val="accent1"/>
            </a:solidFill>
            <a:prstDash val="solid"/>
            <a:tailEnd type="triangle"/>
          </a:ln>
        </p:spPr>
      </p:sp>
      <p:sp>
        <p:nvSpPr>
          <p:cNvPr id="9" name="Data Preprocessing circle"/>
          <p:cNvSpPr/>
          <p:nvPr/>
        </p:nvSpPr>
        <p:spPr>
          <a:xfrm>
            <a:off x="1963217" y="1490472"/>
            <a:ext cx="585216" cy="585216"/>
          </a:xfrm>
          <a:prstGeom prst="ellipse">
            <a:avLst/>
          </a:prstGeom>
          <a:solidFill>
            <a:schemeClr val="accent1">
              <a:alpha val="18000"/>
            </a:schemeClr>
          </a:solidFill>
          <a:ln w="9525">
            <a:solidFill>
              <a:schemeClr val="accent1"/>
            </a:solidFill>
            <a:prstDash val="solid"/>
          </a:ln>
        </p:spPr>
      </p:sp>
      <p:pic>
        <p:nvPicPr>
          <p:cNvPr id="10" name="Image 1" descr="Data Preprocessing">    </p:cNvPr>
          <p:cNvPicPr>
            <a:picLocks noChangeAspect="1"/>
          </p:cNvPicPr>
          <p:nvPr/>
        </p:nvPicPr>
        <p:blipFill>
          <a:blip r:embed="rId2"/>
          <a:stretch>
            <a:fillRect/>
          </a:stretch>
        </p:blipFill>
        <p:spPr>
          <a:xfrm>
            <a:off x="2103669" y="1630924"/>
            <a:ext cx="304312" cy="304312"/>
          </a:xfrm>
          <a:prstGeom prst="rect">
            <a:avLst/>
          </a:prstGeom>
        </p:spPr>
      </p:pic>
      <p:sp>
        <p:nvSpPr>
          <p:cNvPr id="11" name="Step label 2"/>
          <p:cNvSpPr txBox="1"/>
          <p:nvPr/>
        </p:nvSpPr>
        <p:spPr>
          <a:xfrm>
            <a:off x="1707185" y="2194560"/>
            <a:ext cx="1097280" cy="548640"/>
          </a:xfrm>
          <a:prstGeom prst="rect">
            <a:avLst/>
          </a:prstGeom>
          <a:noFill/>
          <a:ln/>
        </p:spPr>
        <p:txBody>
          <a:bodyPr wrap="square" lIns="0" tIns="0" rIns="0" bIns="0" rtlCol="0" anchor="t"/>
          <a:lstStyle/>
          <a:p>
            <a:pPr algn="ctr" indent="0" marL="0">
              <a:buNone/>
            </a:pPr>
            <a:r>
              <a:rPr lang="en-US" sz="1200" dirty="0">
                <a:solidFill>
                  <a:schemeClr val="bg1"/>
                </a:solidFill>
              </a:rPr>
              <a:t>Data Preprocessing</a:t>
            </a:r>
            <a:endParaRPr lang="en-US" sz="1200" dirty="0"/>
          </a:p>
        </p:txBody>
      </p:sp>
      <p:sp>
        <p:nvSpPr>
          <p:cNvPr id="12" name="Arrow"/>
          <p:cNvSpPr/>
          <p:nvPr/>
        </p:nvSpPr>
        <p:spPr>
          <a:xfrm>
            <a:off x="2603297" y="1783080"/>
            <a:ext cx="338328" cy="0"/>
          </a:xfrm>
          <a:prstGeom prst="line">
            <a:avLst/>
          </a:prstGeom>
          <a:noFill/>
          <a:ln w="19050">
            <a:solidFill>
              <a:schemeClr val="accent1"/>
            </a:solidFill>
            <a:prstDash val="solid"/>
            <a:tailEnd type="triangle"/>
          </a:ln>
        </p:spPr>
      </p:sp>
      <p:sp>
        <p:nvSpPr>
          <p:cNvPr id="13" name="Time-Series Sequences circle"/>
          <p:cNvSpPr/>
          <p:nvPr/>
        </p:nvSpPr>
        <p:spPr>
          <a:xfrm>
            <a:off x="3121762" y="1490472"/>
            <a:ext cx="585216" cy="585216"/>
          </a:xfrm>
          <a:prstGeom prst="ellipse">
            <a:avLst/>
          </a:prstGeom>
          <a:solidFill>
            <a:schemeClr val="accent1">
              <a:alpha val="18000"/>
            </a:schemeClr>
          </a:solidFill>
          <a:ln w="9525">
            <a:solidFill>
              <a:schemeClr val="accent1"/>
            </a:solidFill>
            <a:prstDash val="solid"/>
          </a:ln>
        </p:spPr>
      </p:sp>
      <p:pic>
        <p:nvPicPr>
          <p:cNvPr id="14" name="Image 2" descr="Time-Series Sequences">    </p:cNvPr>
          <p:cNvPicPr>
            <a:picLocks noChangeAspect="1"/>
          </p:cNvPicPr>
          <p:nvPr/>
        </p:nvPicPr>
        <p:blipFill>
          <a:blip r:embed="rId3"/>
          <a:stretch>
            <a:fillRect/>
          </a:stretch>
        </p:blipFill>
        <p:spPr>
          <a:xfrm>
            <a:off x="3262213" y="1630924"/>
            <a:ext cx="304312" cy="304312"/>
          </a:xfrm>
          <a:prstGeom prst="rect">
            <a:avLst/>
          </a:prstGeom>
        </p:spPr>
      </p:pic>
      <p:sp>
        <p:nvSpPr>
          <p:cNvPr id="15" name="Step label 3"/>
          <p:cNvSpPr txBox="1"/>
          <p:nvPr/>
        </p:nvSpPr>
        <p:spPr>
          <a:xfrm>
            <a:off x="2865730" y="2194560"/>
            <a:ext cx="1097280" cy="548640"/>
          </a:xfrm>
          <a:prstGeom prst="rect">
            <a:avLst/>
          </a:prstGeom>
          <a:noFill/>
          <a:ln/>
        </p:spPr>
        <p:txBody>
          <a:bodyPr wrap="square" lIns="0" tIns="0" rIns="0" bIns="0" rtlCol="0" anchor="t"/>
          <a:lstStyle/>
          <a:p>
            <a:pPr algn="ctr" indent="0" marL="0">
              <a:buNone/>
            </a:pPr>
            <a:r>
              <a:rPr lang="en-US" sz="1200" dirty="0">
                <a:solidFill>
                  <a:schemeClr val="bg1"/>
                </a:solidFill>
              </a:rPr>
              <a:t>Time-Series Sequences</a:t>
            </a:r>
            <a:endParaRPr lang="en-US" sz="1200" dirty="0"/>
          </a:p>
        </p:txBody>
      </p:sp>
      <p:sp>
        <p:nvSpPr>
          <p:cNvPr id="16" name="Arrow"/>
          <p:cNvSpPr/>
          <p:nvPr/>
        </p:nvSpPr>
        <p:spPr>
          <a:xfrm>
            <a:off x="3761842" y="1783080"/>
            <a:ext cx="338328" cy="0"/>
          </a:xfrm>
          <a:prstGeom prst="line">
            <a:avLst/>
          </a:prstGeom>
          <a:noFill/>
          <a:ln w="19050">
            <a:solidFill>
              <a:schemeClr val="accent1"/>
            </a:solidFill>
            <a:prstDash val="solid"/>
            <a:tailEnd type="triangle"/>
          </a:ln>
        </p:spPr>
      </p:sp>
      <p:sp>
        <p:nvSpPr>
          <p:cNvPr id="17" name="Deep Learning Model circle"/>
          <p:cNvSpPr/>
          <p:nvPr/>
        </p:nvSpPr>
        <p:spPr>
          <a:xfrm>
            <a:off x="4280306" y="1490472"/>
            <a:ext cx="585216" cy="585216"/>
          </a:xfrm>
          <a:prstGeom prst="ellipse">
            <a:avLst/>
          </a:prstGeom>
          <a:solidFill>
            <a:schemeClr val="accent6">
              <a:alpha val="18000"/>
            </a:schemeClr>
          </a:solidFill>
          <a:ln w="9525">
            <a:solidFill>
              <a:schemeClr val="accent6"/>
            </a:solidFill>
            <a:prstDash val="solid"/>
          </a:ln>
        </p:spPr>
      </p:sp>
      <p:pic>
        <p:nvPicPr>
          <p:cNvPr id="18" name="Image 3" descr="Deep Learning Model">    </p:cNvPr>
          <p:cNvPicPr>
            <a:picLocks noChangeAspect="1"/>
          </p:cNvPicPr>
          <p:nvPr/>
        </p:nvPicPr>
        <p:blipFill>
          <a:blip r:embed="rId4"/>
          <a:stretch>
            <a:fillRect/>
          </a:stretch>
        </p:blipFill>
        <p:spPr>
          <a:xfrm>
            <a:off x="4420758" y="1630924"/>
            <a:ext cx="304312" cy="304312"/>
          </a:xfrm>
          <a:prstGeom prst="rect">
            <a:avLst/>
          </a:prstGeom>
        </p:spPr>
      </p:pic>
      <p:sp>
        <p:nvSpPr>
          <p:cNvPr id="19" name="Step label 4"/>
          <p:cNvSpPr txBox="1"/>
          <p:nvPr/>
        </p:nvSpPr>
        <p:spPr>
          <a:xfrm>
            <a:off x="4024274" y="2194560"/>
            <a:ext cx="1097280" cy="548640"/>
          </a:xfrm>
          <a:prstGeom prst="rect">
            <a:avLst/>
          </a:prstGeom>
          <a:noFill/>
          <a:ln/>
        </p:spPr>
        <p:txBody>
          <a:bodyPr wrap="square" lIns="0" tIns="0" rIns="0" bIns="0" rtlCol="0" anchor="t"/>
          <a:lstStyle/>
          <a:p>
            <a:pPr algn="ctr" indent="0" marL="0">
              <a:buNone/>
            </a:pPr>
            <a:r>
              <a:rPr lang="en-US" sz="1200" dirty="0">
                <a:solidFill>
                  <a:schemeClr val="bg1"/>
                </a:solidFill>
              </a:rPr>
              <a:t>Deep Learning Model</a:t>
            </a:r>
            <a:endParaRPr lang="en-US" sz="1200" dirty="0"/>
          </a:p>
        </p:txBody>
      </p:sp>
      <p:sp>
        <p:nvSpPr>
          <p:cNvPr id="20" name="Arrow"/>
          <p:cNvSpPr/>
          <p:nvPr/>
        </p:nvSpPr>
        <p:spPr>
          <a:xfrm>
            <a:off x="4920386" y="1783080"/>
            <a:ext cx="338328" cy="0"/>
          </a:xfrm>
          <a:prstGeom prst="line">
            <a:avLst/>
          </a:prstGeom>
          <a:noFill/>
          <a:ln w="19050">
            <a:solidFill>
              <a:schemeClr val="accent1"/>
            </a:solidFill>
            <a:prstDash val="solid"/>
            <a:tailEnd type="triangle"/>
          </a:ln>
        </p:spPr>
      </p:sp>
      <p:sp>
        <p:nvSpPr>
          <p:cNvPr id="21" name="Reconstruction / Prediction circle"/>
          <p:cNvSpPr/>
          <p:nvPr/>
        </p:nvSpPr>
        <p:spPr>
          <a:xfrm>
            <a:off x="5438851" y="1490472"/>
            <a:ext cx="585216" cy="585216"/>
          </a:xfrm>
          <a:prstGeom prst="ellipse">
            <a:avLst/>
          </a:prstGeom>
          <a:solidFill>
            <a:schemeClr val="accent1">
              <a:alpha val="18000"/>
            </a:schemeClr>
          </a:solidFill>
          <a:ln w="9525">
            <a:solidFill>
              <a:schemeClr val="accent1"/>
            </a:solidFill>
            <a:prstDash val="solid"/>
          </a:ln>
        </p:spPr>
      </p:sp>
      <p:pic>
        <p:nvPicPr>
          <p:cNvPr id="22" name="Image 4" descr="Reconstruction / Prediction">    </p:cNvPr>
          <p:cNvPicPr>
            <a:picLocks noChangeAspect="1"/>
          </p:cNvPicPr>
          <p:nvPr/>
        </p:nvPicPr>
        <p:blipFill>
          <a:blip r:embed="rId5"/>
          <a:stretch>
            <a:fillRect/>
          </a:stretch>
        </p:blipFill>
        <p:spPr>
          <a:xfrm>
            <a:off x="5579303" y="1630924"/>
            <a:ext cx="304312" cy="304312"/>
          </a:xfrm>
          <a:prstGeom prst="rect">
            <a:avLst/>
          </a:prstGeom>
        </p:spPr>
      </p:pic>
      <p:sp>
        <p:nvSpPr>
          <p:cNvPr id="23" name="Step label 5"/>
          <p:cNvSpPr txBox="1"/>
          <p:nvPr/>
        </p:nvSpPr>
        <p:spPr>
          <a:xfrm>
            <a:off x="5182819" y="2194560"/>
            <a:ext cx="1097280" cy="548640"/>
          </a:xfrm>
          <a:prstGeom prst="rect">
            <a:avLst/>
          </a:prstGeom>
          <a:noFill/>
          <a:ln/>
        </p:spPr>
        <p:txBody>
          <a:bodyPr wrap="square" lIns="0" tIns="0" rIns="0" bIns="0" rtlCol="0" anchor="t"/>
          <a:lstStyle/>
          <a:p>
            <a:pPr algn="ctr" indent="0" marL="0">
              <a:buNone/>
            </a:pPr>
            <a:r>
              <a:rPr lang="en-US" sz="1200" dirty="0">
                <a:solidFill>
                  <a:schemeClr val="bg1"/>
                </a:solidFill>
              </a:rPr>
              <a:t>Reconstruction / Prediction</a:t>
            </a:r>
            <a:endParaRPr lang="en-US" sz="1200" dirty="0"/>
          </a:p>
        </p:txBody>
      </p:sp>
      <p:sp>
        <p:nvSpPr>
          <p:cNvPr id="24" name="Arrow"/>
          <p:cNvSpPr/>
          <p:nvPr/>
        </p:nvSpPr>
        <p:spPr>
          <a:xfrm>
            <a:off x="6078931" y="1783080"/>
            <a:ext cx="338328" cy="0"/>
          </a:xfrm>
          <a:prstGeom prst="line">
            <a:avLst/>
          </a:prstGeom>
          <a:noFill/>
          <a:ln w="19050">
            <a:solidFill>
              <a:schemeClr val="accent1"/>
            </a:solidFill>
            <a:prstDash val="solid"/>
            <a:tailEnd type="triangle"/>
          </a:ln>
        </p:spPr>
      </p:sp>
      <p:sp>
        <p:nvSpPr>
          <p:cNvPr id="25" name="Anomaly Score circle"/>
          <p:cNvSpPr/>
          <p:nvPr/>
        </p:nvSpPr>
        <p:spPr>
          <a:xfrm>
            <a:off x="6597396" y="1490472"/>
            <a:ext cx="585216" cy="585216"/>
          </a:xfrm>
          <a:prstGeom prst="ellipse">
            <a:avLst/>
          </a:prstGeom>
          <a:solidFill>
            <a:schemeClr val="accent1">
              <a:alpha val="18000"/>
            </a:schemeClr>
          </a:solidFill>
          <a:ln w="9525">
            <a:solidFill>
              <a:schemeClr val="accent1"/>
            </a:solidFill>
            <a:prstDash val="solid"/>
          </a:ln>
        </p:spPr>
      </p:sp>
      <p:pic>
        <p:nvPicPr>
          <p:cNvPr id="26" name="Image 5" descr="Anomaly Score">    </p:cNvPr>
          <p:cNvPicPr>
            <a:picLocks noChangeAspect="1"/>
          </p:cNvPicPr>
          <p:nvPr/>
        </p:nvPicPr>
        <p:blipFill>
          <a:blip r:embed="rId6"/>
          <a:stretch>
            <a:fillRect/>
          </a:stretch>
        </p:blipFill>
        <p:spPr>
          <a:xfrm>
            <a:off x="6737848" y="1630924"/>
            <a:ext cx="304312" cy="304312"/>
          </a:xfrm>
          <a:prstGeom prst="rect">
            <a:avLst/>
          </a:prstGeom>
        </p:spPr>
      </p:pic>
      <p:sp>
        <p:nvSpPr>
          <p:cNvPr id="27" name="Step label 6"/>
          <p:cNvSpPr txBox="1"/>
          <p:nvPr/>
        </p:nvSpPr>
        <p:spPr>
          <a:xfrm>
            <a:off x="6341364" y="2194560"/>
            <a:ext cx="1097280" cy="548640"/>
          </a:xfrm>
          <a:prstGeom prst="rect">
            <a:avLst/>
          </a:prstGeom>
          <a:noFill/>
          <a:ln/>
        </p:spPr>
        <p:txBody>
          <a:bodyPr wrap="square" lIns="0" tIns="0" rIns="0" bIns="0" rtlCol="0" anchor="t"/>
          <a:lstStyle/>
          <a:p>
            <a:pPr algn="ctr" indent="0" marL="0">
              <a:buNone/>
            </a:pPr>
            <a:r>
              <a:rPr lang="en-US" sz="1200" dirty="0">
                <a:solidFill>
                  <a:schemeClr val="bg1"/>
                </a:solidFill>
              </a:rPr>
              <a:t>Anomaly Score</a:t>
            </a:r>
            <a:endParaRPr lang="en-US" sz="1200" dirty="0"/>
          </a:p>
        </p:txBody>
      </p:sp>
      <p:sp>
        <p:nvSpPr>
          <p:cNvPr id="28" name="Arrow"/>
          <p:cNvSpPr/>
          <p:nvPr/>
        </p:nvSpPr>
        <p:spPr>
          <a:xfrm>
            <a:off x="7237476" y="1783080"/>
            <a:ext cx="338328" cy="0"/>
          </a:xfrm>
          <a:prstGeom prst="line">
            <a:avLst/>
          </a:prstGeom>
          <a:noFill/>
          <a:ln w="19050">
            <a:solidFill>
              <a:schemeClr val="accent1"/>
            </a:solidFill>
            <a:prstDash val="solid"/>
            <a:tailEnd type="triangle"/>
          </a:ln>
        </p:spPr>
      </p:sp>
      <p:sp>
        <p:nvSpPr>
          <p:cNvPr id="29" name="Normal chip"/>
          <p:cNvSpPr/>
          <p:nvPr/>
        </p:nvSpPr>
        <p:spPr>
          <a:xfrm>
            <a:off x="7591349" y="1508760"/>
            <a:ext cx="914400" cy="292608"/>
          </a:xfrm>
          <a:prstGeom prst="roundRect">
            <a:avLst>
              <a:gd name="adj" fmla="val 50000"/>
            </a:avLst>
          </a:prstGeom>
          <a:solidFill>
            <a:schemeClr val="accent4">
              <a:alpha val="18000"/>
            </a:schemeClr>
          </a:solidFill>
          <a:ln w="9525">
            <a:solidFill>
              <a:schemeClr val="accent4"/>
            </a:solidFill>
            <a:prstDash val="solid"/>
          </a:ln>
        </p:spPr>
      </p:sp>
      <p:sp>
        <p:nvSpPr>
          <p:cNvPr id="30" name="Normal text"/>
          <p:cNvSpPr txBox="1"/>
          <p:nvPr/>
        </p:nvSpPr>
        <p:spPr>
          <a:xfrm>
            <a:off x="7591349" y="1508760"/>
            <a:ext cx="914400" cy="292608"/>
          </a:xfrm>
          <a:prstGeom prst="rect">
            <a:avLst/>
          </a:prstGeom>
          <a:noFill/>
          <a:ln/>
        </p:spPr>
        <p:txBody>
          <a:bodyPr wrap="square" lIns="0" tIns="0" rIns="0" bIns="0" rtlCol="0" anchor="ctr"/>
          <a:lstStyle/>
          <a:p>
            <a:pPr algn="ctr" indent="0" marL="0">
              <a:buNone/>
            </a:pPr>
            <a:r>
              <a:rPr lang="en-US" sz="1200" b="1" dirty="0">
                <a:solidFill>
                  <a:schemeClr val="accent4"/>
                </a:solidFill>
              </a:rPr>
              <a:t>Normal</a:t>
            </a:r>
            <a:endParaRPr lang="en-US" sz="1200" dirty="0"/>
          </a:p>
        </p:txBody>
      </p:sp>
      <p:sp>
        <p:nvSpPr>
          <p:cNvPr id="31" name="Anomalous chip"/>
          <p:cNvSpPr/>
          <p:nvPr/>
        </p:nvSpPr>
        <p:spPr>
          <a:xfrm>
            <a:off x="7591349" y="1874520"/>
            <a:ext cx="914400" cy="292608"/>
          </a:xfrm>
          <a:prstGeom prst="roundRect">
            <a:avLst>
              <a:gd name="adj" fmla="val 50000"/>
            </a:avLst>
          </a:prstGeom>
          <a:solidFill>
            <a:schemeClr val="accent3">
              <a:alpha val="18000"/>
            </a:schemeClr>
          </a:solidFill>
          <a:ln w="9525">
            <a:solidFill>
              <a:schemeClr val="accent3"/>
            </a:solidFill>
            <a:prstDash val="solid"/>
          </a:ln>
        </p:spPr>
      </p:sp>
      <p:sp>
        <p:nvSpPr>
          <p:cNvPr id="32" name="Anomalous text"/>
          <p:cNvSpPr txBox="1"/>
          <p:nvPr/>
        </p:nvSpPr>
        <p:spPr>
          <a:xfrm>
            <a:off x="7591349" y="1874520"/>
            <a:ext cx="914400" cy="292608"/>
          </a:xfrm>
          <a:prstGeom prst="rect">
            <a:avLst/>
          </a:prstGeom>
          <a:noFill/>
          <a:ln/>
        </p:spPr>
        <p:txBody>
          <a:bodyPr wrap="square" lIns="0" tIns="0" rIns="0" bIns="0" rtlCol="0" anchor="ctr"/>
          <a:lstStyle/>
          <a:p>
            <a:pPr algn="ctr" indent="0" marL="0">
              <a:buNone/>
            </a:pPr>
            <a:r>
              <a:rPr lang="en-US" sz="1200" b="1" dirty="0">
                <a:solidFill>
                  <a:schemeClr val="accent3"/>
                </a:solidFill>
              </a:rPr>
              <a:t>Anomalous</a:t>
            </a:r>
            <a:endParaRPr lang="en-US" sz="1200" dirty="0"/>
          </a:p>
        </p:txBody>
      </p:sp>
      <p:sp>
        <p:nvSpPr>
          <p:cNvPr id="33" name="Step label 7"/>
          <p:cNvSpPr txBox="1"/>
          <p:nvPr/>
        </p:nvSpPr>
        <p:spPr>
          <a:xfrm>
            <a:off x="7499909" y="2286000"/>
            <a:ext cx="1097280" cy="274320"/>
          </a:xfrm>
          <a:prstGeom prst="rect">
            <a:avLst/>
          </a:prstGeom>
          <a:noFill/>
          <a:ln/>
        </p:spPr>
        <p:txBody>
          <a:bodyPr wrap="square" lIns="0" tIns="0" rIns="0" bIns="0" rtlCol="0" anchor="t"/>
          <a:lstStyle/>
          <a:p>
            <a:pPr algn="ctr" indent="0" marL="0">
              <a:buNone/>
            </a:pPr>
            <a:r>
              <a:rPr lang="en-US" sz="1200" dirty="0">
                <a:solidFill>
                  <a:schemeClr val="bg1"/>
                </a:solidFill>
              </a:rPr>
              <a:t>Decision</a:t>
            </a:r>
            <a:endParaRPr lang="en-US" sz="1200" dirty="0"/>
          </a:p>
        </p:txBody>
      </p:sp>
      <p:sp>
        <p:nvSpPr>
          <p:cNvPr id="34" name="Learning card"/>
          <p:cNvSpPr/>
          <p:nvPr/>
        </p:nvSpPr>
        <p:spPr>
          <a:xfrm>
            <a:off x="457200" y="3017520"/>
            <a:ext cx="3977640" cy="1645920"/>
          </a:xfrm>
          <a:prstGeom prst="roundRect">
            <a:avLst>
              <a:gd name="adj" fmla="val 4444"/>
            </a:avLst>
          </a:prstGeom>
          <a:solidFill>
            <a:schemeClr val="tx2"/>
          </a:solidFill>
          <a:ln w="9525">
            <a:solidFill>
              <a:schemeClr val="accent5"/>
            </a:solidFill>
            <a:prstDash val="solid"/>
          </a:ln>
        </p:spPr>
      </p:sp>
      <p:sp>
        <p:nvSpPr>
          <p:cNvPr id="35" name="Learning circle"/>
          <p:cNvSpPr/>
          <p:nvPr/>
        </p:nvSpPr>
        <p:spPr>
          <a:xfrm>
            <a:off x="640080" y="3154680"/>
            <a:ext cx="365760" cy="365760"/>
          </a:xfrm>
          <a:prstGeom prst="ellipse">
            <a:avLst/>
          </a:prstGeom>
          <a:solidFill>
            <a:schemeClr val="accent1">
              <a:alpha val="18000"/>
            </a:schemeClr>
          </a:solidFill>
          <a:ln w="9525">
            <a:solidFill>
              <a:schemeClr val="accent1"/>
            </a:solidFill>
            <a:prstDash val="solid"/>
          </a:ln>
        </p:spPr>
      </p:sp>
      <p:pic>
        <p:nvPicPr>
          <p:cNvPr id="36" name="Image 6" descr="Learning">    </p:cNvPr>
          <p:cNvPicPr>
            <a:picLocks noChangeAspect="1"/>
          </p:cNvPicPr>
          <p:nvPr/>
        </p:nvPicPr>
        <p:blipFill>
          <a:blip r:embed="rId7"/>
          <a:stretch>
            <a:fillRect/>
          </a:stretch>
        </p:blipFill>
        <p:spPr>
          <a:xfrm>
            <a:off x="727862" y="3242462"/>
            <a:ext cx="190195" cy="190195"/>
          </a:xfrm>
          <a:prstGeom prst="rect">
            <a:avLst/>
          </a:prstGeom>
        </p:spPr>
      </p:pic>
      <p:sp>
        <p:nvSpPr>
          <p:cNvPr id="37" name="Learning header"/>
          <p:cNvSpPr txBox="1"/>
          <p:nvPr/>
        </p:nvSpPr>
        <p:spPr>
          <a:xfrm>
            <a:off x="1188720" y="3200400"/>
            <a:ext cx="3108960" cy="274320"/>
          </a:xfrm>
          <a:prstGeom prst="rect">
            <a:avLst/>
          </a:prstGeom>
          <a:noFill/>
          <a:ln/>
        </p:spPr>
        <p:txBody>
          <a:bodyPr wrap="square" lIns="0" tIns="0" rIns="0" bIns="0" rtlCol="0" anchor="ctr"/>
          <a:lstStyle/>
          <a:p>
            <a:pPr indent="0" marL="0">
              <a:buNone/>
            </a:pPr>
            <a:r>
              <a:rPr lang="en-US" sz="1400" b="1" dirty="0">
                <a:solidFill>
                  <a:schemeClr val="bg1"/>
                </a:solidFill>
              </a:rPr>
              <a:t>How the system learns</a:t>
            </a:r>
            <a:endParaRPr lang="en-US" sz="1400" dirty="0"/>
          </a:p>
        </p:txBody>
      </p:sp>
      <p:sp>
        <p:nvSpPr>
          <p:cNvPr id="38" name="Learning bullets"/>
          <p:cNvSpPr txBox="1"/>
          <p:nvPr/>
        </p:nvSpPr>
        <p:spPr>
          <a:xfrm>
            <a:off x="685800" y="3657600"/>
            <a:ext cx="3566160" cy="9601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Learns patterns of normal system behavior</a:t>
            </a:r>
            <a:endParaRPr lang="en-US" sz="1400" dirty="0"/>
          </a:p>
          <a:p>
            <a:pPr marL="342900" indent="-342900">
              <a:buSzPct val="100000"/>
              <a:buChar char="•"/>
            </a:pPr>
            <a:r>
              <a:rPr lang="en-US" sz="1400" dirty="0">
                <a:solidFill>
                  <a:schemeClr val="bg1"/>
                </a:solidFill>
              </a:rPr>
              <a:t>Unusual thermal / cooling patterns produce a high anomaly score</a:t>
            </a:r>
            <a:endParaRPr lang="en-US" sz="1400" dirty="0"/>
          </a:p>
        </p:txBody>
      </p:sp>
      <p:sp>
        <p:nvSpPr>
          <p:cNvPr id="39" name="Anomaly card"/>
          <p:cNvSpPr/>
          <p:nvPr/>
        </p:nvSpPr>
        <p:spPr>
          <a:xfrm>
            <a:off x="4709160" y="3017520"/>
            <a:ext cx="3977640" cy="1645920"/>
          </a:xfrm>
          <a:prstGeom prst="roundRect">
            <a:avLst>
              <a:gd name="adj" fmla="val 4444"/>
            </a:avLst>
          </a:prstGeom>
          <a:solidFill>
            <a:schemeClr val="tx2"/>
          </a:solidFill>
          <a:ln w="9525">
            <a:solidFill>
              <a:schemeClr val="accent5"/>
            </a:solidFill>
            <a:prstDash val="solid"/>
          </a:ln>
        </p:spPr>
      </p:sp>
      <p:sp>
        <p:nvSpPr>
          <p:cNvPr id="40" name="Anomaly detection circle"/>
          <p:cNvSpPr/>
          <p:nvPr/>
        </p:nvSpPr>
        <p:spPr>
          <a:xfrm>
            <a:off x="4892040" y="3154680"/>
            <a:ext cx="365760" cy="365760"/>
          </a:xfrm>
          <a:prstGeom prst="ellipse">
            <a:avLst/>
          </a:prstGeom>
          <a:solidFill>
            <a:schemeClr val="accent3">
              <a:alpha val="18000"/>
            </a:schemeClr>
          </a:solidFill>
          <a:ln w="9525">
            <a:solidFill>
              <a:schemeClr val="accent3"/>
            </a:solidFill>
            <a:prstDash val="solid"/>
          </a:ln>
        </p:spPr>
      </p:sp>
      <p:pic>
        <p:nvPicPr>
          <p:cNvPr id="41" name="Image 7" descr="Anomaly detection">    </p:cNvPr>
          <p:cNvPicPr>
            <a:picLocks noChangeAspect="1"/>
          </p:cNvPicPr>
          <p:nvPr/>
        </p:nvPicPr>
        <p:blipFill>
          <a:blip r:embed="rId8"/>
          <a:stretch>
            <a:fillRect/>
          </a:stretch>
        </p:blipFill>
        <p:spPr>
          <a:xfrm>
            <a:off x="4979822" y="3242462"/>
            <a:ext cx="190195" cy="190195"/>
          </a:xfrm>
          <a:prstGeom prst="rect">
            <a:avLst/>
          </a:prstGeom>
        </p:spPr>
      </p:pic>
      <p:sp>
        <p:nvSpPr>
          <p:cNvPr id="42" name="Anomaly header"/>
          <p:cNvSpPr txBox="1"/>
          <p:nvPr/>
        </p:nvSpPr>
        <p:spPr>
          <a:xfrm>
            <a:off x="5440680" y="3200400"/>
            <a:ext cx="3108960" cy="274320"/>
          </a:xfrm>
          <a:prstGeom prst="rect">
            <a:avLst/>
          </a:prstGeom>
          <a:noFill/>
          <a:ln/>
        </p:spPr>
        <p:txBody>
          <a:bodyPr wrap="square" lIns="0" tIns="0" rIns="0" bIns="0" rtlCol="0" anchor="ctr"/>
          <a:lstStyle/>
          <a:p>
            <a:pPr indent="0" marL="0">
              <a:buNone/>
            </a:pPr>
            <a:r>
              <a:rPr lang="en-US" sz="1400" b="1" dirty="0">
                <a:solidFill>
                  <a:schemeClr val="bg1"/>
                </a:solidFill>
              </a:rPr>
              <a:t>Why anomaly detection?</a:t>
            </a:r>
            <a:endParaRPr lang="en-US" sz="1400" dirty="0"/>
          </a:p>
        </p:txBody>
      </p:sp>
      <p:sp>
        <p:nvSpPr>
          <p:cNvPr id="43" name="Anomaly bullets"/>
          <p:cNvSpPr txBox="1"/>
          <p:nvPr/>
        </p:nvSpPr>
        <p:spPr>
          <a:xfrm>
            <a:off x="4937760" y="3657600"/>
            <a:ext cx="3611880" cy="9601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An anomaly detection problem, not only conventional classification</a:t>
            </a:r>
            <a:endParaRPr lang="en-US" sz="1400" dirty="0"/>
          </a:p>
          <a:p>
            <a:pPr marL="342900" indent="-342900">
              <a:buSzPct val="100000"/>
              <a:buChar char="•"/>
            </a:pPr>
            <a:r>
              <a:rPr lang="en-US" sz="1400" dirty="0">
                <a:solidFill>
                  <a:schemeClr val="bg1"/>
                </a:solidFill>
              </a:rPr>
              <a:t>Faults are rare and varied; normal behavior is easier to model</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2627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457200" y="329184"/>
            <a:ext cx="8229600" cy="228600"/>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PROPOSED MODEL</a:t>
            </a:r>
            <a:endParaRPr lang="en-US" sz="1100" dirty="0"/>
          </a:p>
        </p:txBody>
      </p:sp>
      <p:sp>
        <p:nvSpPr>
          <p:cNvPr id="3" name="Text 1"/>
          <p:cNvSpPr/>
          <p:nvPr>
            <p:ph idx="102" type="title" hasCustomPrompt="1"/>
          </p:nvPr>
        </p:nvSpPr>
        <p:spPr>
          <a:xfrm>
            <a:off x="457200" y="566928"/>
            <a:ext cx="8229600" cy="548640"/>
          </a:xfrm>
          <a:prstGeom prst="rect">
            <a:avLst/>
          </a:prstGeom>
          <a:noFill/>
          <a:ln/>
        </p:spPr>
        <p:txBody>
          <a:bodyPr wrap="square" lIns="0" tIns="0" rIns="0" bIns="0" rtlCol="0" anchor="t"/>
          <a:lstStyle/>
          <a:p>
            <a:pPr algn="l" indent="0" marL="0">
              <a:buNone/>
            </a:pPr>
            <a:r>
              <a:rPr lang="en-US" sz="2800" b="1" dirty="0">
                <a:solidFill>
                  <a:schemeClr val="bg1"/>
                </a:solidFill>
              </a:rPr>
              <a:t>Deep Learning Approach</a:t>
            </a:r>
            <a:endParaRPr lang="en-US" sz="2800" dirty="0"/>
          </a:p>
        </p:txBody>
      </p:sp>
      <p:sp>
        <p:nvSpPr>
          <p:cNvPr id="4" name="Model pill"/>
          <p:cNvSpPr/>
          <p:nvPr/>
        </p:nvSpPr>
        <p:spPr>
          <a:xfrm>
            <a:off x="457200" y="1188720"/>
            <a:ext cx="5120640" cy="365760"/>
          </a:xfrm>
          <a:prstGeom prst="roundRect">
            <a:avLst>
              <a:gd name="adj" fmla="val 50000"/>
            </a:avLst>
          </a:prstGeom>
          <a:solidFill>
            <a:schemeClr val="accent1">
              <a:alpha val="10000"/>
            </a:schemeClr>
          </a:solidFill>
          <a:ln w="9525">
            <a:solidFill>
              <a:schemeClr val="accent1"/>
            </a:solidFill>
            <a:prstDash val="solid"/>
          </a:ln>
        </p:spPr>
      </p:sp>
      <p:sp>
        <p:nvSpPr>
          <p:cNvPr id="5" name="Model name"/>
          <p:cNvSpPr txBox="1"/>
          <p:nvPr/>
        </p:nvSpPr>
        <p:spPr>
          <a:xfrm>
            <a:off x="457200" y="1188720"/>
            <a:ext cx="5120640" cy="365760"/>
          </a:xfrm>
          <a:prstGeom prst="rect">
            <a:avLst/>
          </a:prstGeom>
          <a:noFill/>
          <a:ln/>
        </p:spPr>
        <p:txBody>
          <a:bodyPr wrap="square" lIns="0" tIns="0" rIns="0" bIns="0" rtlCol="0" anchor="ctr"/>
          <a:lstStyle/>
          <a:p>
            <a:pPr algn="ctr" indent="0" marL="0">
              <a:buNone/>
            </a:pPr>
            <a:r>
              <a:rPr lang="en-US" sz="1400" b="1" dirty="0">
                <a:solidFill>
                  <a:schemeClr val="accent1"/>
                </a:solidFill>
              </a:rPr>
              <a:t>LSTM Autoencoder for Time-Series Anomaly Detection</a:t>
            </a:r>
            <a:endParaRPr lang="en-US" sz="1400" dirty="0"/>
          </a:p>
        </p:txBody>
      </p:sp>
      <p:sp>
        <p:nvSpPr>
          <p:cNvPr id="6" name="Layer 1"/>
          <p:cNvSpPr/>
          <p:nvPr/>
        </p:nvSpPr>
        <p:spPr>
          <a:xfrm>
            <a:off x="457200" y="1828800"/>
            <a:ext cx="457200" cy="1371600"/>
          </a:xfrm>
          <a:prstGeom prst="roundRect">
            <a:avLst>
              <a:gd name="adj" fmla="val 12000"/>
            </a:avLst>
          </a:prstGeom>
          <a:solidFill>
            <a:schemeClr val="accent2">
              <a:alpha val="45000"/>
            </a:schemeClr>
          </a:solidFill>
          <a:ln w="12700">
            <a:solidFill>
              <a:schemeClr val="accent2"/>
            </a:solidFill>
            <a:prstDash val="solid"/>
          </a:ln>
        </p:spPr>
      </p:sp>
      <p:sp>
        <p:nvSpPr>
          <p:cNvPr id="7" name="Arrow"/>
          <p:cNvSpPr/>
          <p:nvPr/>
        </p:nvSpPr>
        <p:spPr>
          <a:xfrm>
            <a:off x="960120" y="2514600"/>
            <a:ext cx="182880" cy="0"/>
          </a:xfrm>
          <a:prstGeom prst="line">
            <a:avLst/>
          </a:prstGeom>
          <a:noFill/>
          <a:ln w="19050">
            <a:solidFill>
              <a:schemeClr val="accent1"/>
            </a:solidFill>
            <a:prstDash val="solid"/>
            <a:tailEnd type="triangle"/>
          </a:ln>
        </p:spPr>
      </p:sp>
      <p:sp>
        <p:nvSpPr>
          <p:cNvPr id="8" name="Layer 2"/>
          <p:cNvSpPr/>
          <p:nvPr/>
        </p:nvSpPr>
        <p:spPr>
          <a:xfrm>
            <a:off x="1188720" y="1988820"/>
            <a:ext cx="457200" cy="1051560"/>
          </a:xfrm>
          <a:prstGeom prst="roundRect">
            <a:avLst>
              <a:gd name="adj" fmla="val 12000"/>
            </a:avLst>
          </a:prstGeom>
          <a:solidFill>
            <a:schemeClr val="accent1">
              <a:alpha val="45000"/>
            </a:schemeClr>
          </a:solidFill>
          <a:ln w="12700">
            <a:solidFill>
              <a:schemeClr val="accent1"/>
            </a:solidFill>
            <a:prstDash val="solid"/>
          </a:ln>
        </p:spPr>
      </p:sp>
      <p:sp>
        <p:nvSpPr>
          <p:cNvPr id="9" name="Arrow"/>
          <p:cNvSpPr/>
          <p:nvPr/>
        </p:nvSpPr>
        <p:spPr>
          <a:xfrm>
            <a:off x="1691640" y="2514600"/>
            <a:ext cx="182880" cy="0"/>
          </a:xfrm>
          <a:prstGeom prst="line">
            <a:avLst/>
          </a:prstGeom>
          <a:noFill/>
          <a:ln w="19050">
            <a:solidFill>
              <a:schemeClr val="accent1"/>
            </a:solidFill>
            <a:prstDash val="solid"/>
            <a:tailEnd type="triangle"/>
          </a:ln>
        </p:spPr>
      </p:sp>
      <p:sp>
        <p:nvSpPr>
          <p:cNvPr id="10" name="Layer 3"/>
          <p:cNvSpPr/>
          <p:nvPr/>
        </p:nvSpPr>
        <p:spPr>
          <a:xfrm>
            <a:off x="1920240" y="2148840"/>
            <a:ext cx="457200" cy="731520"/>
          </a:xfrm>
          <a:prstGeom prst="roundRect">
            <a:avLst>
              <a:gd name="adj" fmla="val 12000"/>
            </a:avLst>
          </a:prstGeom>
          <a:solidFill>
            <a:schemeClr val="accent1">
              <a:alpha val="45000"/>
            </a:schemeClr>
          </a:solidFill>
          <a:ln w="12700">
            <a:solidFill>
              <a:schemeClr val="accent1"/>
            </a:solidFill>
            <a:prstDash val="solid"/>
          </a:ln>
        </p:spPr>
      </p:sp>
      <p:sp>
        <p:nvSpPr>
          <p:cNvPr id="11" name="Arrow"/>
          <p:cNvSpPr/>
          <p:nvPr/>
        </p:nvSpPr>
        <p:spPr>
          <a:xfrm>
            <a:off x="2423160" y="2514600"/>
            <a:ext cx="182880" cy="0"/>
          </a:xfrm>
          <a:prstGeom prst="line">
            <a:avLst/>
          </a:prstGeom>
          <a:noFill/>
          <a:ln w="19050">
            <a:solidFill>
              <a:schemeClr val="accent1"/>
            </a:solidFill>
            <a:prstDash val="solid"/>
            <a:tailEnd type="triangle"/>
          </a:ln>
        </p:spPr>
      </p:sp>
      <p:sp>
        <p:nvSpPr>
          <p:cNvPr id="12" name="Layer 4"/>
          <p:cNvSpPr/>
          <p:nvPr/>
        </p:nvSpPr>
        <p:spPr>
          <a:xfrm>
            <a:off x="2651760" y="2331720"/>
            <a:ext cx="457200" cy="365760"/>
          </a:xfrm>
          <a:prstGeom prst="roundRect">
            <a:avLst>
              <a:gd name="adj" fmla="val 15000"/>
            </a:avLst>
          </a:prstGeom>
          <a:solidFill>
            <a:schemeClr val="accent6">
              <a:alpha val="45000"/>
            </a:schemeClr>
          </a:solidFill>
          <a:ln w="12700">
            <a:solidFill>
              <a:schemeClr val="accent6"/>
            </a:solidFill>
            <a:prstDash val="solid"/>
          </a:ln>
        </p:spPr>
      </p:sp>
      <p:sp>
        <p:nvSpPr>
          <p:cNvPr id="13" name="Arrow"/>
          <p:cNvSpPr/>
          <p:nvPr/>
        </p:nvSpPr>
        <p:spPr>
          <a:xfrm>
            <a:off x="3154680" y="2514600"/>
            <a:ext cx="182880" cy="0"/>
          </a:xfrm>
          <a:prstGeom prst="line">
            <a:avLst/>
          </a:prstGeom>
          <a:noFill/>
          <a:ln w="19050">
            <a:solidFill>
              <a:schemeClr val="accent1"/>
            </a:solidFill>
            <a:prstDash val="solid"/>
            <a:tailEnd type="triangle"/>
          </a:ln>
        </p:spPr>
      </p:sp>
      <p:sp>
        <p:nvSpPr>
          <p:cNvPr id="14" name="Layer 5"/>
          <p:cNvSpPr/>
          <p:nvPr/>
        </p:nvSpPr>
        <p:spPr>
          <a:xfrm>
            <a:off x="3383280" y="2148840"/>
            <a:ext cx="457200" cy="731520"/>
          </a:xfrm>
          <a:prstGeom prst="roundRect">
            <a:avLst>
              <a:gd name="adj" fmla="val 12000"/>
            </a:avLst>
          </a:prstGeom>
          <a:solidFill>
            <a:schemeClr val="accent1">
              <a:alpha val="45000"/>
            </a:schemeClr>
          </a:solidFill>
          <a:ln w="12700">
            <a:solidFill>
              <a:schemeClr val="accent1"/>
            </a:solidFill>
            <a:prstDash val="solid"/>
          </a:ln>
        </p:spPr>
      </p:sp>
      <p:sp>
        <p:nvSpPr>
          <p:cNvPr id="15" name="Arrow"/>
          <p:cNvSpPr/>
          <p:nvPr/>
        </p:nvSpPr>
        <p:spPr>
          <a:xfrm>
            <a:off x="3886200" y="2514600"/>
            <a:ext cx="182880" cy="0"/>
          </a:xfrm>
          <a:prstGeom prst="line">
            <a:avLst/>
          </a:prstGeom>
          <a:noFill/>
          <a:ln w="19050">
            <a:solidFill>
              <a:schemeClr val="accent1"/>
            </a:solidFill>
            <a:prstDash val="solid"/>
            <a:tailEnd type="triangle"/>
          </a:ln>
        </p:spPr>
      </p:sp>
      <p:sp>
        <p:nvSpPr>
          <p:cNvPr id="16" name="Layer 6"/>
          <p:cNvSpPr/>
          <p:nvPr/>
        </p:nvSpPr>
        <p:spPr>
          <a:xfrm>
            <a:off x="4114800" y="1988820"/>
            <a:ext cx="457200" cy="1051560"/>
          </a:xfrm>
          <a:prstGeom prst="roundRect">
            <a:avLst>
              <a:gd name="adj" fmla="val 12000"/>
            </a:avLst>
          </a:prstGeom>
          <a:solidFill>
            <a:schemeClr val="accent1">
              <a:alpha val="45000"/>
            </a:schemeClr>
          </a:solidFill>
          <a:ln w="12700">
            <a:solidFill>
              <a:schemeClr val="accent1"/>
            </a:solidFill>
            <a:prstDash val="solid"/>
          </a:ln>
        </p:spPr>
      </p:sp>
      <p:sp>
        <p:nvSpPr>
          <p:cNvPr id="17" name="Arrow"/>
          <p:cNvSpPr/>
          <p:nvPr/>
        </p:nvSpPr>
        <p:spPr>
          <a:xfrm>
            <a:off x="4617720" y="2514600"/>
            <a:ext cx="182880" cy="0"/>
          </a:xfrm>
          <a:prstGeom prst="line">
            <a:avLst/>
          </a:prstGeom>
          <a:noFill/>
          <a:ln w="19050">
            <a:solidFill>
              <a:schemeClr val="accent1"/>
            </a:solidFill>
            <a:prstDash val="solid"/>
            <a:tailEnd type="triangle"/>
          </a:ln>
        </p:spPr>
      </p:sp>
      <p:sp>
        <p:nvSpPr>
          <p:cNvPr id="18" name="Layer 7"/>
          <p:cNvSpPr/>
          <p:nvPr/>
        </p:nvSpPr>
        <p:spPr>
          <a:xfrm>
            <a:off x="4846320" y="1828800"/>
            <a:ext cx="457200" cy="1371600"/>
          </a:xfrm>
          <a:prstGeom prst="roundRect">
            <a:avLst>
              <a:gd name="adj" fmla="val 12000"/>
            </a:avLst>
          </a:prstGeom>
          <a:solidFill>
            <a:schemeClr val="accent2">
              <a:alpha val="45000"/>
            </a:schemeClr>
          </a:solidFill>
          <a:ln w="12700">
            <a:solidFill>
              <a:schemeClr val="accent2"/>
            </a:solidFill>
            <a:prstDash val="solid"/>
          </a:ln>
        </p:spPr>
      </p:sp>
      <p:sp>
        <p:nvSpPr>
          <p:cNvPr id="19" name="Input symbol"/>
          <p:cNvSpPr txBox="1"/>
          <p:nvPr/>
        </p:nvSpPr>
        <p:spPr>
          <a:xfrm>
            <a:off x="457200" y="2377440"/>
            <a:ext cx="457200" cy="274320"/>
          </a:xfrm>
          <a:prstGeom prst="rect">
            <a:avLst/>
          </a:prstGeom>
          <a:noFill/>
          <a:ln/>
        </p:spPr>
        <p:txBody>
          <a:bodyPr wrap="square" lIns="0" tIns="0" rIns="0" bIns="0" rtlCol="0" anchor="ctr"/>
          <a:lstStyle/>
          <a:p>
            <a:pPr algn="ctr" indent="0" marL="0">
              <a:buNone/>
            </a:pPr>
            <a:r>
              <a:rPr lang="en-US" sz="1400" b="1" i="1" dirty="0">
                <a:solidFill>
                  <a:schemeClr val="bg1"/>
                </a:solidFill>
              </a:rPr>
              <a:t>x</a:t>
            </a:r>
            <a:endParaRPr lang="en-US" sz="1400" dirty="0"/>
          </a:p>
        </p:txBody>
      </p:sp>
      <p:sp>
        <p:nvSpPr>
          <p:cNvPr id="20" name="Output symbol"/>
          <p:cNvSpPr txBox="1"/>
          <p:nvPr/>
        </p:nvSpPr>
        <p:spPr>
          <a:xfrm>
            <a:off x="4846320" y="2377440"/>
            <a:ext cx="457200" cy="274320"/>
          </a:xfrm>
          <a:prstGeom prst="rect">
            <a:avLst/>
          </a:prstGeom>
          <a:noFill/>
          <a:ln/>
        </p:spPr>
        <p:txBody>
          <a:bodyPr wrap="square" lIns="0" tIns="0" rIns="0" bIns="0" rtlCol="0" anchor="ctr"/>
          <a:lstStyle/>
          <a:p>
            <a:pPr algn="ctr" indent="0" marL="0">
              <a:buNone/>
            </a:pPr>
            <a:r>
              <a:rPr lang="en-US" sz="1400" b="1" i="1" dirty="0">
                <a:solidFill>
                  <a:schemeClr val="bg1"/>
                </a:solidFill>
              </a:rPr>
              <a:t>x′</a:t>
            </a:r>
            <a:endParaRPr lang="en-US" sz="1400" dirty="0"/>
          </a:p>
        </p:txBody>
      </p:sp>
      <p:sp>
        <p:nvSpPr>
          <p:cNvPr id="21" name="Stage label 1"/>
          <p:cNvSpPr txBox="1"/>
          <p:nvPr/>
        </p:nvSpPr>
        <p:spPr>
          <a:xfrm>
            <a:off x="155448" y="3291840"/>
            <a:ext cx="1060704" cy="365760"/>
          </a:xfrm>
          <a:prstGeom prst="rect">
            <a:avLst/>
          </a:prstGeom>
          <a:noFill/>
          <a:ln/>
        </p:spPr>
        <p:txBody>
          <a:bodyPr wrap="square" lIns="0" tIns="0" rIns="0" bIns="0" rtlCol="0" anchor="t"/>
          <a:lstStyle/>
          <a:p>
            <a:pPr algn="ctr" indent="0" marL="0">
              <a:buNone/>
            </a:pPr>
            <a:r>
              <a:rPr lang="en-US" sz="1100" dirty="0">
                <a:solidFill>
                  <a:schemeClr val="bg2"/>
                </a:solidFill>
              </a:rPr>
              <a:t>Input Sequence</a:t>
            </a:r>
            <a:endParaRPr lang="en-US" sz="1100" dirty="0"/>
          </a:p>
        </p:txBody>
      </p:sp>
      <p:sp>
        <p:nvSpPr>
          <p:cNvPr id="22" name="Stage label 2"/>
          <p:cNvSpPr txBox="1"/>
          <p:nvPr/>
        </p:nvSpPr>
        <p:spPr>
          <a:xfrm>
            <a:off x="1252728" y="3291840"/>
            <a:ext cx="1060704" cy="365760"/>
          </a:xfrm>
          <a:prstGeom prst="rect">
            <a:avLst/>
          </a:prstGeom>
          <a:noFill/>
          <a:ln/>
        </p:spPr>
        <p:txBody>
          <a:bodyPr wrap="square" lIns="0" tIns="0" rIns="0" bIns="0" rtlCol="0" anchor="t"/>
          <a:lstStyle/>
          <a:p>
            <a:pPr algn="ctr" indent="0" marL="0">
              <a:buNone/>
            </a:pPr>
            <a:r>
              <a:rPr lang="en-US" sz="1100" dirty="0">
                <a:solidFill>
                  <a:schemeClr val="bg2"/>
                </a:solidFill>
              </a:rPr>
              <a:t>LSTM Encoder</a:t>
            </a:r>
            <a:endParaRPr lang="en-US" sz="1100" dirty="0"/>
          </a:p>
        </p:txBody>
      </p:sp>
      <p:sp>
        <p:nvSpPr>
          <p:cNvPr id="23" name="Stage label 3"/>
          <p:cNvSpPr txBox="1"/>
          <p:nvPr/>
        </p:nvSpPr>
        <p:spPr>
          <a:xfrm>
            <a:off x="2350008" y="3291840"/>
            <a:ext cx="1060704" cy="365760"/>
          </a:xfrm>
          <a:prstGeom prst="rect">
            <a:avLst/>
          </a:prstGeom>
          <a:noFill/>
          <a:ln/>
        </p:spPr>
        <p:txBody>
          <a:bodyPr wrap="square" lIns="0" tIns="0" rIns="0" bIns="0" rtlCol="0" anchor="t"/>
          <a:lstStyle/>
          <a:p>
            <a:pPr algn="ctr" indent="0" marL="0">
              <a:buNone/>
            </a:pPr>
            <a:r>
              <a:rPr lang="en-US" sz="1100" dirty="0">
                <a:solidFill>
                  <a:schemeClr val="bg2"/>
                </a:solidFill>
              </a:rPr>
              <a:t>Latent Representation</a:t>
            </a:r>
            <a:endParaRPr lang="en-US" sz="1100" dirty="0"/>
          </a:p>
        </p:txBody>
      </p:sp>
      <p:sp>
        <p:nvSpPr>
          <p:cNvPr id="24" name="Stage label 4"/>
          <p:cNvSpPr txBox="1"/>
          <p:nvPr/>
        </p:nvSpPr>
        <p:spPr>
          <a:xfrm>
            <a:off x="3447288" y="3291840"/>
            <a:ext cx="1060704" cy="365760"/>
          </a:xfrm>
          <a:prstGeom prst="rect">
            <a:avLst/>
          </a:prstGeom>
          <a:noFill/>
          <a:ln/>
        </p:spPr>
        <p:txBody>
          <a:bodyPr wrap="square" lIns="0" tIns="0" rIns="0" bIns="0" rtlCol="0" anchor="t"/>
          <a:lstStyle/>
          <a:p>
            <a:pPr algn="ctr" indent="0" marL="0">
              <a:buNone/>
            </a:pPr>
            <a:r>
              <a:rPr lang="en-US" sz="1100" dirty="0">
                <a:solidFill>
                  <a:schemeClr val="bg2"/>
                </a:solidFill>
              </a:rPr>
              <a:t>LSTM Decoder</a:t>
            </a:r>
            <a:endParaRPr lang="en-US" sz="1100" dirty="0"/>
          </a:p>
        </p:txBody>
      </p:sp>
      <p:sp>
        <p:nvSpPr>
          <p:cNvPr id="25" name="Stage label 5"/>
          <p:cNvSpPr txBox="1"/>
          <p:nvPr/>
        </p:nvSpPr>
        <p:spPr>
          <a:xfrm>
            <a:off x="4544568" y="3291840"/>
            <a:ext cx="1060704" cy="365760"/>
          </a:xfrm>
          <a:prstGeom prst="rect">
            <a:avLst/>
          </a:prstGeom>
          <a:noFill/>
          <a:ln/>
        </p:spPr>
        <p:txBody>
          <a:bodyPr wrap="square" lIns="0" tIns="0" rIns="0" bIns="0" rtlCol="0" anchor="t"/>
          <a:lstStyle/>
          <a:p>
            <a:pPr algn="ctr" indent="0" marL="0">
              <a:buNone/>
            </a:pPr>
            <a:r>
              <a:rPr lang="en-US" sz="1100" dirty="0">
                <a:solidFill>
                  <a:schemeClr val="bg2"/>
                </a:solidFill>
              </a:rPr>
              <a:t>Reconstructed Sequence</a:t>
            </a:r>
            <a:endParaRPr lang="en-US" sz="1100" dirty="0"/>
          </a:p>
        </p:txBody>
      </p:sp>
      <p:sp>
        <p:nvSpPr>
          <p:cNvPr id="26" name="Error card"/>
          <p:cNvSpPr/>
          <p:nvPr/>
        </p:nvSpPr>
        <p:spPr>
          <a:xfrm>
            <a:off x="5989320" y="1188720"/>
            <a:ext cx="2697480" cy="1005840"/>
          </a:xfrm>
          <a:prstGeom prst="roundRect">
            <a:avLst>
              <a:gd name="adj" fmla="val 7273"/>
            </a:avLst>
          </a:prstGeom>
          <a:solidFill>
            <a:schemeClr val="tx2"/>
          </a:solidFill>
          <a:ln w="9525">
            <a:solidFill>
              <a:schemeClr val="accent5"/>
            </a:solidFill>
            <a:prstDash val="solid"/>
          </a:ln>
        </p:spPr>
      </p:sp>
      <p:sp>
        <p:nvSpPr>
          <p:cNvPr id="27" name="Error label"/>
          <p:cNvSpPr txBox="1"/>
          <p:nvPr/>
        </p:nvSpPr>
        <p:spPr>
          <a:xfrm>
            <a:off x="6172200" y="1298448"/>
            <a:ext cx="2377440" cy="201168"/>
          </a:xfrm>
          <a:prstGeom prst="rect">
            <a:avLst/>
          </a:prstGeom>
          <a:noFill/>
          <a:ln/>
        </p:spPr>
        <p:txBody>
          <a:bodyPr wrap="square" lIns="0" tIns="0" rIns="0" bIns="0" rtlCol="0" anchor="t"/>
          <a:lstStyle/>
          <a:p>
            <a:pPr indent="0" marL="0">
              <a:buNone/>
            </a:pPr>
            <a:r>
              <a:rPr lang="en-US" sz="1100" b="1" spc="100" kern="0" dirty="0">
                <a:solidFill>
                  <a:schemeClr val="accent3"/>
                </a:solidFill>
              </a:rPr>
              <a:t>RECONSTRUCTION ERROR</a:t>
            </a:r>
            <a:endParaRPr lang="en-US" sz="1100" dirty="0"/>
          </a:p>
        </p:txBody>
      </p:sp>
      <p:sp>
        <p:nvSpPr>
          <p:cNvPr id="28" name="Error formula"/>
          <p:cNvSpPr txBox="1"/>
          <p:nvPr/>
        </p:nvSpPr>
        <p:spPr>
          <a:xfrm>
            <a:off x="6172200" y="1627632"/>
            <a:ext cx="2377440" cy="365760"/>
          </a:xfrm>
          <a:prstGeom prst="rect">
            <a:avLst/>
          </a:prstGeom>
          <a:noFill/>
          <a:ln/>
        </p:spPr>
        <p:txBody>
          <a:bodyPr wrap="square" lIns="0" tIns="0" rIns="0" bIns="0" rtlCol="0" anchor="ctr"/>
          <a:lstStyle/>
          <a:p>
            <a:pPr indent="0" marL="0">
              <a:buNone/>
            </a:pPr>
            <a:r>
              <a:rPr lang="en-US" sz="1600" i="1" dirty="0">
                <a:solidFill>
                  <a:schemeClr val="bg1"/>
                </a:solidFill>
              </a:rPr>
              <a:t>error = mean( (x − x′)² )</a:t>
            </a:r>
            <a:endParaRPr lang="en-US" sz="1600" dirty="0"/>
          </a:p>
        </p:txBody>
      </p:sp>
      <p:sp>
        <p:nvSpPr>
          <p:cNvPr id="29" name="Arrow"/>
          <p:cNvSpPr/>
          <p:nvPr/>
        </p:nvSpPr>
        <p:spPr>
          <a:xfrm>
            <a:off x="7315200" y="2194560"/>
            <a:ext cx="0" cy="228600"/>
          </a:xfrm>
          <a:prstGeom prst="line">
            <a:avLst/>
          </a:prstGeom>
          <a:noFill/>
          <a:ln w="19050">
            <a:solidFill>
              <a:schemeClr val="accent3"/>
            </a:solidFill>
            <a:prstDash val="solid"/>
            <a:tailEnd type="triangle"/>
          </a:ln>
        </p:spPr>
      </p:sp>
      <p:sp>
        <p:nvSpPr>
          <p:cNvPr id="30" name="Decision card"/>
          <p:cNvSpPr/>
          <p:nvPr/>
        </p:nvSpPr>
        <p:spPr>
          <a:xfrm>
            <a:off x="5989320" y="2423160"/>
            <a:ext cx="2697480" cy="1234440"/>
          </a:xfrm>
          <a:prstGeom prst="roundRect">
            <a:avLst>
              <a:gd name="adj" fmla="val 5926"/>
            </a:avLst>
          </a:prstGeom>
          <a:solidFill>
            <a:schemeClr val="tx2"/>
          </a:solidFill>
          <a:ln w="9525">
            <a:solidFill>
              <a:schemeClr val="accent5"/>
            </a:solidFill>
            <a:prstDash val="solid"/>
          </a:ln>
        </p:spPr>
      </p:sp>
      <p:sp>
        <p:nvSpPr>
          <p:cNvPr id="31" name="Decision label"/>
          <p:cNvSpPr txBox="1"/>
          <p:nvPr/>
        </p:nvSpPr>
        <p:spPr>
          <a:xfrm>
            <a:off x="6172200" y="2532888"/>
            <a:ext cx="2377440" cy="201168"/>
          </a:xfrm>
          <a:prstGeom prst="rect">
            <a:avLst/>
          </a:prstGeom>
          <a:noFill/>
          <a:ln/>
        </p:spPr>
        <p:txBody>
          <a:bodyPr wrap="square" lIns="0" tIns="0" rIns="0" bIns="0" rtlCol="0" anchor="t"/>
          <a:lstStyle/>
          <a:p>
            <a:pPr indent="0" marL="0">
              <a:buNone/>
            </a:pPr>
            <a:r>
              <a:rPr lang="en-US" sz="1100" b="1" spc="100" kern="0" dirty="0">
                <a:solidFill>
                  <a:schemeClr val="accent1"/>
                </a:solidFill>
              </a:rPr>
              <a:t>ANOMALY DECISION</a:t>
            </a:r>
            <a:endParaRPr lang="en-US" sz="1100" dirty="0"/>
          </a:p>
        </p:txBody>
      </p:sp>
      <p:sp>
        <p:nvSpPr>
          <p:cNvPr id="32" name="Decision rule"/>
          <p:cNvSpPr txBox="1"/>
          <p:nvPr/>
        </p:nvSpPr>
        <p:spPr>
          <a:xfrm>
            <a:off x="6172200" y="2834640"/>
            <a:ext cx="2423160" cy="731520"/>
          </a:xfrm>
          <a:prstGeom prst="rect">
            <a:avLst/>
          </a:prstGeom>
          <a:noFill/>
          <a:ln/>
        </p:spPr>
        <p:txBody>
          <a:bodyPr wrap="square" lIns="0" tIns="0" rIns="0" bIns="0" rtlCol="0" anchor="t"/>
          <a:lstStyle/>
          <a:p>
            <a:pPr indent="0" marL="0">
              <a:buNone/>
            </a:pPr>
            <a:r>
              <a:rPr lang="en-US" sz="1400" dirty="0">
                <a:solidFill>
                  <a:schemeClr val="bg1"/>
                </a:solidFill>
              </a:rPr>
              <a:t>error &gt; threshold  →  </a:t>
            </a:r>
            <a:pPr indent="0" marL="0">
              <a:buNone/>
            </a:pPr>
            <a:r>
              <a:rPr lang="en-US" sz="1400" b="1" dirty="0">
                <a:solidFill>
                  <a:schemeClr val="accent3"/>
                </a:solidFill>
              </a:rPr>
              <a:t>Anomaly</a:t>
            </a:r>
            <a:endParaRPr lang="en-US" sz="1400" dirty="0"/>
          </a:p>
          <a:p>
            <a:pPr indent="0" marL="0">
              <a:buNone/>
            </a:pPr>
            <a:r>
              <a:rPr lang="en-US" sz="1400" dirty="0">
                <a:solidFill>
                  <a:schemeClr val="bg1"/>
                </a:solidFill>
              </a:rPr>
              <a:t>error ≤ threshold  →  </a:t>
            </a:r>
            <a:pPr indent="0" marL="0">
              <a:buNone/>
            </a:pPr>
            <a:r>
              <a:rPr lang="en-US" sz="1400" b="1" dirty="0">
                <a:solidFill>
                  <a:schemeClr val="accent4"/>
                </a:solidFill>
              </a:rPr>
              <a:t>Normal</a:t>
            </a:r>
            <a:endParaRPr lang="en-US" sz="1400" dirty="0"/>
          </a:p>
        </p:txBody>
      </p:sp>
      <p:sp>
        <p:nvSpPr>
          <p:cNvPr id="33" name="Point card 1"/>
          <p:cNvSpPr/>
          <p:nvPr/>
        </p:nvSpPr>
        <p:spPr>
          <a:xfrm>
            <a:off x="457200" y="3794760"/>
            <a:ext cx="1920240" cy="914400"/>
          </a:xfrm>
          <a:prstGeom prst="roundRect">
            <a:avLst>
              <a:gd name="adj" fmla="val 8000"/>
            </a:avLst>
          </a:prstGeom>
          <a:solidFill>
            <a:schemeClr val="tx2"/>
          </a:solidFill>
          <a:ln w="9525">
            <a:solidFill>
              <a:schemeClr val="accent5"/>
            </a:solidFill>
            <a:prstDash val="solid"/>
          </a:ln>
        </p:spPr>
      </p:sp>
      <p:pic>
        <p:nvPicPr>
          <p:cNvPr id="34" name="Image 0" descr="LSTM models temporal dependencies">    </p:cNvPr>
          <p:cNvPicPr>
            <a:picLocks noChangeAspect="1"/>
          </p:cNvPicPr>
          <p:nvPr/>
        </p:nvPicPr>
        <p:blipFill>
          <a:blip r:embed="rId1"/>
          <a:stretch>
            <a:fillRect/>
          </a:stretch>
        </p:blipFill>
        <p:spPr>
          <a:xfrm>
            <a:off x="585216" y="3877056"/>
            <a:ext cx="237744" cy="237744"/>
          </a:xfrm>
          <a:prstGeom prst="rect">
            <a:avLst/>
          </a:prstGeom>
        </p:spPr>
      </p:pic>
      <p:sp>
        <p:nvSpPr>
          <p:cNvPr id="35" name="Point text 1"/>
          <p:cNvSpPr txBox="1"/>
          <p:nvPr/>
        </p:nvSpPr>
        <p:spPr>
          <a:xfrm>
            <a:off x="585216" y="4151376"/>
            <a:ext cx="1783080" cy="502920"/>
          </a:xfrm>
          <a:prstGeom prst="rect">
            <a:avLst/>
          </a:prstGeom>
          <a:noFill/>
          <a:ln/>
        </p:spPr>
        <p:txBody>
          <a:bodyPr wrap="square" lIns="0" tIns="0" rIns="0" bIns="0" rtlCol="0" anchor="t"/>
          <a:lstStyle/>
          <a:p>
            <a:pPr indent="0" marL="0">
              <a:buNone/>
            </a:pPr>
            <a:r>
              <a:rPr lang="en-US" sz="1400" dirty="0">
                <a:solidFill>
                  <a:schemeClr val="bg1"/>
                </a:solidFill>
              </a:rPr>
              <a:t>LSTM models temporal dependencies</a:t>
            </a:r>
            <a:endParaRPr lang="en-US" sz="1400" dirty="0"/>
          </a:p>
        </p:txBody>
      </p:sp>
      <p:sp>
        <p:nvSpPr>
          <p:cNvPr id="36" name="Point card 2"/>
          <p:cNvSpPr/>
          <p:nvPr/>
        </p:nvSpPr>
        <p:spPr>
          <a:xfrm>
            <a:off x="2560320" y="3794760"/>
            <a:ext cx="1920240" cy="914400"/>
          </a:xfrm>
          <a:prstGeom prst="roundRect">
            <a:avLst>
              <a:gd name="adj" fmla="val 8000"/>
            </a:avLst>
          </a:prstGeom>
          <a:solidFill>
            <a:schemeClr val="tx2"/>
          </a:solidFill>
          <a:ln w="9525">
            <a:solidFill>
              <a:schemeClr val="accent5"/>
            </a:solidFill>
            <a:prstDash val="solid"/>
          </a:ln>
        </p:spPr>
      </p:sp>
      <p:pic>
        <p:nvPicPr>
          <p:cNvPr id="37" name="Image 1" descr="Autoencoder learns normal patterns">    </p:cNvPr>
          <p:cNvPicPr>
            <a:picLocks noChangeAspect="1"/>
          </p:cNvPicPr>
          <p:nvPr/>
        </p:nvPicPr>
        <p:blipFill>
          <a:blip r:embed="rId2"/>
          <a:stretch>
            <a:fillRect/>
          </a:stretch>
        </p:blipFill>
        <p:spPr>
          <a:xfrm>
            <a:off x="2688336" y="3877056"/>
            <a:ext cx="237744" cy="237744"/>
          </a:xfrm>
          <a:prstGeom prst="rect">
            <a:avLst/>
          </a:prstGeom>
        </p:spPr>
      </p:pic>
      <p:sp>
        <p:nvSpPr>
          <p:cNvPr id="38" name="Point text 2"/>
          <p:cNvSpPr txBox="1"/>
          <p:nvPr/>
        </p:nvSpPr>
        <p:spPr>
          <a:xfrm>
            <a:off x="2688336" y="4151376"/>
            <a:ext cx="1783080" cy="502920"/>
          </a:xfrm>
          <a:prstGeom prst="rect">
            <a:avLst/>
          </a:prstGeom>
          <a:noFill/>
          <a:ln/>
        </p:spPr>
        <p:txBody>
          <a:bodyPr wrap="square" lIns="0" tIns="0" rIns="0" bIns="0" rtlCol="0" anchor="t"/>
          <a:lstStyle/>
          <a:p>
            <a:pPr indent="0" marL="0">
              <a:buNone/>
            </a:pPr>
            <a:r>
              <a:rPr lang="en-US" sz="1400" dirty="0">
                <a:solidFill>
                  <a:schemeClr val="bg1"/>
                </a:solidFill>
              </a:rPr>
              <a:t>Autoencoder learns normal patterns</a:t>
            </a:r>
            <a:endParaRPr lang="en-US" sz="1400" dirty="0"/>
          </a:p>
        </p:txBody>
      </p:sp>
      <p:sp>
        <p:nvSpPr>
          <p:cNvPr id="39" name="Point card 3"/>
          <p:cNvSpPr/>
          <p:nvPr/>
        </p:nvSpPr>
        <p:spPr>
          <a:xfrm>
            <a:off x="4663440" y="3794760"/>
            <a:ext cx="1920240" cy="914400"/>
          </a:xfrm>
          <a:prstGeom prst="roundRect">
            <a:avLst>
              <a:gd name="adj" fmla="val 8000"/>
            </a:avLst>
          </a:prstGeom>
          <a:solidFill>
            <a:schemeClr val="tx2"/>
          </a:solidFill>
          <a:ln w="9525">
            <a:solidFill>
              <a:schemeClr val="accent5"/>
            </a:solidFill>
            <a:prstDash val="solid"/>
          </a:ln>
        </p:spPr>
      </p:sp>
      <p:pic>
        <p:nvPicPr>
          <p:cNvPr id="40" name="Image 2" descr="Large error signals unusual behavior">    </p:cNvPr>
          <p:cNvPicPr>
            <a:picLocks noChangeAspect="1"/>
          </p:cNvPicPr>
          <p:nvPr/>
        </p:nvPicPr>
        <p:blipFill>
          <a:blip r:embed="rId3"/>
          <a:stretch>
            <a:fillRect/>
          </a:stretch>
        </p:blipFill>
        <p:spPr>
          <a:xfrm>
            <a:off x="4791456" y="3877056"/>
            <a:ext cx="237744" cy="237744"/>
          </a:xfrm>
          <a:prstGeom prst="rect">
            <a:avLst/>
          </a:prstGeom>
        </p:spPr>
      </p:pic>
      <p:sp>
        <p:nvSpPr>
          <p:cNvPr id="41" name="Point text 3"/>
          <p:cNvSpPr txBox="1"/>
          <p:nvPr/>
        </p:nvSpPr>
        <p:spPr>
          <a:xfrm>
            <a:off x="4791456" y="4151376"/>
            <a:ext cx="1783080" cy="502920"/>
          </a:xfrm>
          <a:prstGeom prst="rect">
            <a:avLst/>
          </a:prstGeom>
          <a:noFill/>
          <a:ln/>
        </p:spPr>
        <p:txBody>
          <a:bodyPr wrap="square" lIns="0" tIns="0" rIns="0" bIns="0" rtlCol="0" anchor="t"/>
          <a:lstStyle/>
          <a:p>
            <a:pPr indent="0" marL="0">
              <a:buNone/>
            </a:pPr>
            <a:r>
              <a:rPr lang="en-US" sz="1400" dirty="0">
                <a:solidFill>
                  <a:schemeClr val="bg1"/>
                </a:solidFill>
              </a:rPr>
              <a:t>Large error signals unusual behavior</a:t>
            </a:r>
            <a:endParaRPr lang="en-US" sz="1400" dirty="0"/>
          </a:p>
        </p:txBody>
      </p:sp>
      <p:sp>
        <p:nvSpPr>
          <p:cNvPr id="42" name="Point card 4"/>
          <p:cNvSpPr/>
          <p:nvPr/>
        </p:nvSpPr>
        <p:spPr>
          <a:xfrm>
            <a:off x="6766560" y="3794760"/>
            <a:ext cx="1920240" cy="914400"/>
          </a:xfrm>
          <a:prstGeom prst="roundRect">
            <a:avLst>
              <a:gd name="adj" fmla="val 8000"/>
            </a:avLst>
          </a:prstGeom>
          <a:solidFill>
            <a:schemeClr val="tx2"/>
          </a:solidFill>
          <a:ln w="9525">
            <a:solidFill>
              <a:schemeClr val="accent5"/>
            </a:solidFill>
            <a:prstDash val="solid"/>
          </a:ln>
        </p:spPr>
      </p:sp>
      <p:pic>
        <p:nvPicPr>
          <p:cNvPr id="43" name="Image 3" descr="Threshold separates normal from anomaly">    </p:cNvPr>
          <p:cNvPicPr>
            <a:picLocks noChangeAspect="1"/>
          </p:cNvPicPr>
          <p:nvPr/>
        </p:nvPicPr>
        <p:blipFill>
          <a:blip r:embed="rId4"/>
          <a:stretch>
            <a:fillRect/>
          </a:stretch>
        </p:blipFill>
        <p:spPr>
          <a:xfrm>
            <a:off x="6894576" y="3877056"/>
            <a:ext cx="237744" cy="237744"/>
          </a:xfrm>
          <a:prstGeom prst="rect">
            <a:avLst/>
          </a:prstGeom>
        </p:spPr>
      </p:pic>
      <p:sp>
        <p:nvSpPr>
          <p:cNvPr id="44" name="Point text 4"/>
          <p:cNvSpPr txBox="1"/>
          <p:nvPr/>
        </p:nvSpPr>
        <p:spPr>
          <a:xfrm>
            <a:off x="6894576" y="4151376"/>
            <a:ext cx="1783080" cy="502920"/>
          </a:xfrm>
          <a:prstGeom prst="rect">
            <a:avLst/>
          </a:prstGeom>
          <a:noFill/>
          <a:ln/>
        </p:spPr>
        <p:txBody>
          <a:bodyPr wrap="square" lIns="0" tIns="0" rIns="0" bIns="0" rtlCol="0" anchor="t"/>
          <a:lstStyle/>
          <a:p>
            <a:pPr indent="0" marL="0">
              <a:buNone/>
            </a:pPr>
            <a:r>
              <a:rPr lang="en-US" sz="1400" dirty="0">
                <a:solidFill>
                  <a:schemeClr val="bg1"/>
                </a:solidFill>
              </a:rPr>
              <a:t>Threshold separates normal from anomaly</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2627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457200" y="329184"/>
            <a:ext cx="8229600" cy="228600"/>
          </a:xfrm>
          <a:prstGeom prst="rect">
            <a:avLst/>
          </a:prstGeom>
          <a:noFill/>
          <a:ln/>
        </p:spPr>
        <p:txBody>
          <a:bodyPr wrap="square" lIns="0" tIns="0" rIns="0" bIns="0" rtlCol="0" anchor="t"/>
          <a:lstStyle/>
          <a:p>
            <a:pPr algn="l" indent="0" marL="0">
              <a:buNone/>
            </a:pPr>
            <a:r>
              <a:rPr lang="en-US" sz="1100" b="1" spc="200" kern="0" dirty="0">
                <a:solidFill>
                  <a:schemeClr val="accent1"/>
                </a:solidFill>
              </a:rPr>
              <a:t>05  ·  DATA &amp; TOOLS</a:t>
            </a:r>
            <a:endParaRPr lang="en-US" sz="1100" dirty="0"/>
          </a:p>
        </p:txBody>
      </p:sp>
      <p:sp>
        <p:nvSpPr>
          <p:cNvPr id="3" name="Text 1"/>
          <p:cNvSpPr/>
          <p:nvPr>
            <p:ph idx="102" type="title" hasCustomPrompt="1"/>
          </p:nvPr>
        </p:nvSpPr>
        <p:spPr>
          <a:xfrm>
            <a:off x="457200" y="566928"/>
            <a:ext cx="8229600" cy="548640"/>
          </a:xfrm>
          <a:prstGeom prst="rect">
            <a:avLst/>
          </a:prstGeom>
          <a:noFill/>
          <a:ln/>
        </p:spPr>
        <p:txBody>
          <a:bodyPr wrap="square" lIns="0" tIns="0" rIns="0" bIns="0" rtlCol="0" anchor="t"/>
          <a:lstStyle/>
          <a:p>
            <a:pPr algn="l" indent="0" marL="0">
              <a:buNone/>
            </a:pPr>
            <a:r>
              <a:rPr lang="en-US" sz="2800" b="1" dirty="0">
                <a:solidFill>
                  <a:schemeClr val="bg1"/>
                </a:solidFill>
              </a:rPr>
              <a:t>Data &amp; Tech Stack</a:t>
            </a:r>
            <a:endParaRPr lang="en-US" sz="2800" dirty="0"/>
          </a:p>
        </p:txBody>
      </p:sp>
      <p:sp>
        <p:nvSpPr>
          <p:cNvPr id="4" name="Data card"/>
          <p:cNvSpPr/>
          <p:nvPr/>
        </p:nvSpPr>
        <p:spPr>
          <a:xfrm>
            <a:off x="457200" y="1280160"/>
            <a:ext cx="3657600" cy="3383280"/>
          </a:xfrm>
          <a:prstGeom prst="roundRect">
            <a:avLst>
              <a:gd name="adj" fmla="val 2162"/>
            </a:avLst>
          </a:prstGeom>
          <a:solidFill>
            <a:schemeClr val="tx2"/>
          </a:solidFill>
          <a:ln w="9525">
            <a:solidFill>
              <a:schemeClr val="accent5"/>
            </a:solidFill>
            <a:prstDash val="solid"/>
          </a:ln>
        </p:spPr>
      </p:sp>
      <p:sp>
        <p:nvSpPr>
          <p:cNvPr id="5" name="Data circle"/>
          <p:cNvSpPr/>
          <p:nvPr/>
        </p:nvSpPr>
        <p:spPr>
          <a:xfrm>
            <a:off x="585216" y="1408176"/>
            <a:ext cx="384048" cy="384048"/>
          </a:xfrm>
          <a:prstGeom prst="ellipse">
            <a:avLst/>
          </a:prstGeom>
          <a:solidFill>
            <a:schemeClr val="accent1">
              <a:alpha val="18000"/>
            </a:schemeClr>
          </a:solidFill>
          <a:ln w="9525">
            <a:solidFill>
              <a:schemeClr val="accent1"/>
            </a:solidFill>
            <a:prstDash val="solid"/>
          </a:ln>
        </p:spPr>
      </p:sp>
      <p:pic>
        <p:nvPicPr>
          <p:cNvPr id="6" name="Image 0" descr="Data">    </p:cNvPr>
          <p:cNvPicPr>
            <a:picLocks noChangeAspect="1"/>
          </p:cNvPicPr>
          <p:nvPr/>
        </p:nvPicPr>
        <p:blipFill>
          <a:blip r:embed="rId1"/>
          <a:stretch>
            <a:fillRect/>
          </a:stretch>
        </p:blipFill>
        <p:spPr>
          <a:xfrm>
            <a:off x="677388" y="1500348"/>
            <a:ext cx="199705" cy="199705"/>
          </a:xfrm>
          <a:prstGeom prst="rect">
            <a:avLst/>
          </a:prstGeom>
        </p:spPr>
      </p:pic>
      <p:sp>
        <p:nvSpPr>
          <p:cNvPr id="7" name="Data header"/>
          <p:cNvSpPr txBox="1"/>
          <p:nvPr/>
        </p:nvSpPr>
        <p:spPr>
          <a:xfrm>
            <a:off x="1097280" y="1463040"/>
            <a:ext cx="1828800" cy="274320"/>
          </a:xfrm>
          <a:prstGeom prst="rect">
            <a:avLst/>
          </a:prstGeom>
          <a:noFill/>
          <a:ln/>
        </p:spPr>
        <p:txBody>
          <a:bodyPr wrap="square" lIns="0" tIns="0" rIns="0" bIns="0" rtlCol="0" anchor="ctr"/>
          <a:lstStyle/>
          <a:p>
            <a:pPr indent="0" marL="0">
              <a:buNone/>
            </a:pPr>
            <a:r>
              <a:rPr lang="en-US" sz="1600" b="1" dirty="0">
                <a:solidFill>
                  <a:schemeClr val="bg1"/>
                </a:solidFill>
              </a:rPr>
              <a:t>DATA</a:t>
            </a:r>
            <a:endParaRPr lang="en-US" sz="1600" dirty="0"/>
          </a:p>
        </p:txBody>
      </p:sp>
      <p:sp>
        <p:nvSpPr>
          <p:cNvPr id="8" name="Data subtitle"/>
          <p:cNvSpPr txBox="1"/>
          <p:nvPr/>
        </p:nvSpPr>
        <p:spPr>
          <a:xfrm>
            <a:off x="685800" y="1874520"/>
            <a:ext cx="3291840" cy="256032"/>
          </a:xfrm>
          <a:prstGeom prst="rect">
            <a:avLst/>
          </a:prstGeom>
          <a:noFill/>
          <a:ln/>
        </p:spPr>
        <p:txBody>
          <a:bodyPr wrap="square" lIns="0" tIns="0" rIns="0" bIns="0" rtlCol="0" anchor="t"/>
          <a:lstStyle/>
          <a:p>
            <a:pPr indent="0" marL="0">
              <a:buNone/>
            </a:pPr>
            <a:r>
              <a:rPr lang="en-US" sz="1400" dirty="0">
                <a:solidFill>
                  <a:schemeClr val="bg2"/>
                </a:solidFill>
              </a:rPr>
              <a:t>Time-series telemetry measurements</a:t>
            </a:r>
            <a:endParaRPr lang="en-US" sz="1400" dirty="0"/>
          </a:p>
        </p:txBody>
      </p:sp>
      <p:pic>
        <p:nvPicPr>
          <p:cNvPr id="9" name="Image 1" descr="Temperature">    </p:cNvPr>
          <p:cNvPicPr>
            <a:picLocks noChangeAspect="1"/>
          </p:cNvPicPr>
          <p:nvPr/>
        </p:nvPicPr>
        <p:blipFill>
          <a:blip r:embed="rId2"/>
          <a:stretch>
            <a:fillRect/>
          </a:stretch>
        </p:blipFill>
        <p:spPr>
          <a:xfrm>
            <a:off x="685800" y="2276856"/>
            <a:ext cx="219456" cy="219456"/>
          </a:xfrm>
          <a:prstGeom prst="rect">
            <a:avLst/>
          </a:prstGeom>
        </p:spPr>
      </p:pic>
      <p:sp>
        <p:nvSpPr>
          <p:cNvPr id="10" name="Data item 1"/>
          <p:cNvSpPr txBox="1"/>
          <p:nvPr/>
        </p:nvSpPr>
        <p:spPr>
          <a:xfrm>
            <a:off x="1051560" y="2240280"/>
            <a:ext cx="2926080" cy="292608"/>
          </a:xfrm>
          <a:prstGeom prst="rect">
            <a:avLst/>
          </a:prstGeom>
          <a:noFill/>
          <a:ln/>
        </p:spPr>
        <p:txBody>
          <a:bodyPr wrap="square" lIns="0" tIns="0" rIns="0" bIns="0" rtlCol="0" anchor="ctr"/>
          <a:lstStyle/>
          <a:p>
            <a:pPr indent="0" marL="0">
              <a:buNone/>
            </a:pPr>
            <a:r>
              <a:rPr lang="en-US" sz="1400" dirty="0">
                <a:solidFill>
                  <a:schemeClr val="bg1"/>
                </a:solidFill>
              </a:rPr>
              <a:t>Temperature</a:t>
            </a:r>
            <a:endParaRPr lang="en-US" sz="1400" dirty="0"/>
          </a:p>
        </p:txBody>
      </p:sp>
      <p:pic>
        <p:nvPicPr>
          <p:cNvPr id="11" name="Image 2" descr="Humidity">    </p:cNvPr>
          <p:cNvPicPr>
            <a:picLocks noChangeAspect="1"/>
          </p:cNvPicPr>
          <p:nvPr/>
        </p:nvPicPr>
        <p:blipFill>
          <a:blip r:embed="rId3"/>
          <a:stretch>
            <a:fillRect/>
          </a:stretch>
        </p:blipFill>
        <p:spPr>
          <a:xfrm>
            <a:off x="685800" y="2624328"/>
            <a:ext cx="219456" cy="219456"/>
          </a:xfrm>
          <a:prstGeom prst="rect">
            <a:avLst/>
          </a:prstGeom>
        </p:spPr>
      </p:pic>
      <p:sp>
        <p:nvSpPr>
          <p:cNvPr id="12" name="Data item 2"/>
          <p:cNvSpPr txBox="1"/>
          <p:nvPr/>
        </p:nvSpPr>
        <p:spPr>
          <a:xfrm>
            <a:off x="1051560" y="2587752"/>
            <a:ext cx="2926080" cy="292608"/>
          </a:xfrm>
          <a:prstGeom prst="rect">
            <a:avLst/>
          </a:prstGeom>
          <a:noFill/>
          <a:ln/>
        </p:spPr>
        <p:txBody>
          <a:bodyPr wrap="square" lIns="0" tIns="0" rIns="0" bIns="0" rtlCol="0" anchor="ctr"/>
          <a:lstStyle/>
          <a:p>
            <a:pPr indent="0" marL="0">
              <a:buNone/>
            </a:pPr>
            <a:r>
              <a:rPr lang="en-US" sz="1400" dirty="0">
                <a:solidFill>
                  <a:schemeClr val="bg1"/>
                </a:solidFill>
              </a:rPr>
              <a:t>Humidity</a:t>
            </a:r>
            <a:endParaRPr lang="en-US" sz="1400" dirty="0"/>
          </a:p>
        </p:txBody>
      </p:sp>
      <p:pic>
        <p:nvPicPr>
          <p:cNvPr id="13" name="Image 3" descr="CPU utilization">    </p:cNvPr>
          <p:cNvPicPr>
            <a:picLocks noChangeAspect="1"/>
          </p:cNvPicPr>
          <p:nvPr/>
        </p:nvPicPr>
        <p:blipFill>
          <a:blip r:embed="rId4"/>
          <a:stretch>
            <a:fillRect/>
          </a:stretch>
        </p:blipFill>
        <p:spPr>
          <a:xfrm>
            <a:off x="685800" y="2971800"/>
            <a:ext cx="219456" cy="219456"/>
          </a:xfrm>
          <a:prstGeom prst="rect">
            <a:avLst/>
          </a:prstGeom>
        </p:spPr>
      </p:pic>
      <p:sp>
        <p:nvSpPr>
          <p:cNvPr id="14" name="Data item 3"/>
          <p:cNvSpPr txBox="1"/>
          <p:nvPr/>
        </p:nvSpPr>
        <p:spPr>
          <a:xfrm>
            <a:off x="1051560" y="2935224"/>
            <a:ext cx="2926080" cy="292608"/>
          </a:xfrm>
          <a:prstGeom prst="rect">
            <a:avLst/>
          </a:prstGeom>
          <a:noFill/>
          <a:ln/>
        </p:spPr>
        <p:txBody>
          <a:bodyPr wrap="square" lIns="0" tIns="0" rIns="0" bIns="0" rtlCol="0" anchor="ctr"/>
          <a:lstStyle/>
          <a:p>
            <a:pPr indent="0" marL="0">
              <a:buNone/>
            </a:pPr>
            <a:r>
              <a:rPr lang="en-US" sz="1400" dirty="0">
                <a:solidFill>
                  <a:schemeClr val="bg1"/>
                </a:solidFill>
              </a:rPr>
              <a:t>CPU utilization</a:t>
            </a:r>
            <a:endParaRPr lang="en-US" sz="1400" dirty="0"/>
          </a:p>
        </p:txBody>
      </p:sp>
      <p:pic>
        <p:nvPicPr>
          <p:cNvPr id="15" name="Image 4" descr="Power consumption">    </p:cNvPr>
          <p:cNvPicPr>
            <a:picLocks noChangeAspect="1"/>
          </p:cNvPicPr>
          <p:nvPr/>
        </p:nvPicPr>
        <p:blipFill>
          <a:blip r:embed="rId5"/>
          <a:stretch>
            <a:fillRect/>
          </a:stretch>
        </p:blipFill>
        <p:spPr>
          <a:xfrm>
            <a:off x="685800" y="3319272"/>
            <a:ext cx="219456" cy="219456"/>
          </a:xfrm>
          <a:prstGeom prst="rect">
            <a:avLst/>
          </a:prstGeom>
        </p:spPr>
      </p:pic>
      <p:sp>
        <p:nvSpPr>
          <p:cNvPr id="16" name="Data item 4"/>
          <p:cNvSpPr txBox="1"/>
          <p:nvPr/>
        </p:nvSpPr>
        <p:spPr>
          <a:xfrm>
            <a:off x="1051560" y="3282696"/>
            <a:ext cx="2926080" cy="292608"/>
          </a:xfrm>
          <a:prstGeom prst="rect">
            <a:avLst/>
          </a:prstGeom>
          <a:noFill/>
          <a:ln/>
        </p:spPr>
        <p:txBody>
          <a:bodyPr wrap="square" lIns="0" tIns="0" rIns="0" bIns="0" rtlCol="0" anchor="ctr"/>
          <a:lstStyle/>
          <a:p>
            <a:pPr indent="0" marL="0">
              <a:buNone/>
            </a:pPr>
            <a:r>
              <a:rPr lang="en-US" sz="1400" dirty="0">
                <a:solidFill>
                  <a:schemeClr val="bg1"/>
                </a:solidFill>
              </a:rPr>
              <a:t>Power consumption</a:t>
            </a:r>
            <a:endParaRPr lang="en-US" sz="1400" dirty="0"/>
          </a:p>
        </p:txBody>
      </p:sp>
      <p:pic>
        <p:nvPicPr>
          <p:cNvPr id="17" name="Image 5" descr="Cooling / fan-related readings">    </p:cNvPr>
          <p:cNvPicPr>
            <a:picLocks noChangeAspect="1"/>
          </p:cNvPicPr>
          <p:nvPr/>
        </p:nvPicPr>
        <p:blipFill>
          <a:blip r:embed="rId6"/>
          <a:stretch>
            <a:fillRect/>
          </a:stretch>
        </p:blipFill>
        <p:spPr>
          <a:xfrm>
            <a:off x="685800" y="3666744"/>
            <a:ext cx="219456" cy="219456"/>
          </a:xfrm>
          <a:prstGeom prst="rect">
            <a:avLst/>
          </a:prstGeom>
        </p:spPr>
      </p:pic>
      <p:sp>
        <p:nvSpPr>
          <p:cNvPr id="18" name="Data item 5"/>
          <p:cNvSpPr txBox="1"/>
          <p:nvPr/>
        </p:nvSpPr>
        <p:spPr>
          <a:xfrm>
            <a:off x="1051560" y="3630168"/>
            <a:ext cx="2926080" cy="292608"/>
          </a:xfrm>
          <a:prstGeom prst="rect">
            <a:avLst/>
          </a:prstGeom>
          <a:noFill/>
          <a:ln/>
        </p:spPr>
        <p:txBody>
          <a:bodyPr wrap="square" lIns="0" tIns="0" rIns="0" bIns="0" rtlCol="0" anchor="ctr"/>
          <a:lstStyle/>
          <a:p>
            <a:pPr indent="0" marL="0">
              <a:buNone/>
            </a:pPr>
            <a:r>
              <a:rPr lang="en-US" sz="1400" dirty="0">
                <a:solidFill>
                  <a:schemeClr val="bg1"/>
                </a:solidFill>
              </a:rPr>
              <a:t>Cooling / fan-related readings</a:t>
            </a:r>
            <a:endParaRPr lang="en-US" sz="1400" dirty="0"/>
          </a:p>
        </p:txBody>
      </p:sp>
      <p:sp>
        <p:nvSpPr>
          <p:cNvPr id="19" name="Dataset note"/>
          <p:cNvSpPr txBox="1"/>
          <p:nvPr/>
        </p:nvSpPr>
        <p:spPr>
          <a:xfrm>
            <a:off x="685800" y="4023360"/>
            <a:ext cx="3291840" cy="548640"/>
          </a:xfrm>
          <a:prstGeom prst="rect">
            <a:avLst/>
          </a:prstGeom>
          <a:noFill/>
          <a:ln/>
        </p:spPr>
        <p:txBody>
          <a:bodyPr wrap="square" lIns="0" tIns="0" rIns="0" bIns="0" rtlCol="0" anchor="t"/>
          <a:lstStyle/>
          <a:p>
            <a:pPr indent="0" marL="0">
              <a:buNone/>
            </a:pPr>
            <a:r>
              <a:rPr lang="en-US" sz="1100" i="1" dirty="0">
                <a:solidFill>
                  <a:schemeClr val="bg2"/>
                </a:solidFill>
              </a:rPr>
              <a:t>Source: public dataset or simulated / benchmark telemetry. Dataset selection to be finalized based on availability and relevance.</a:t>
            </a:r>
            <a:endParaRPr lang="en-US" sz="1100" dirty="0"/>
          </a:p>
        </p:txBody>
      </p:sp>
      <p:sp>
        <p:nvSpPr>
          <p:cNvPr id="20" name="Technology card"/>
          <p:cNvSpPr/>
          <p:nvPr/>
        </p:nvSpPr>
        <p:spPr>
          <a:xfrm>
            <a:off x="4389120" y="1280160"/>
            <a:ext cx="4297680" cy="3383280"/>
          </a:xfrm>
          <a:prstGeom prst="roundRect">
            <a:avLst>
              <a:gd name="adj" fmla="val 2162"/>
            </a:avLst>
          </a:prstGeom>
          <a:solidFill>
            <a:schemeClr val="tx2"/>
          </a:solidFill>
          <a:ln w="9525">
            <a:solidFill>
              <a:schemeClr val="accent5"/>
            </a:solidFill>
            <a:prstDash val="solid"/>
          </a:ln>
        </p:spPr>
      </p:sp>
      <p:sp>
        <p:nvSpPr>
          <p:cNvPr id="21" name="Technology circle"/>
          <p:cNvSpPr/>
          <p:nvPr/>
        </p:nvSpPr>
        <p:spPr>
          <a:xfrm>
            <a:off x="4517136" y="1408176"/>
            <a:ext cx="384048" cy="384048"/>
          </a:xfrm>
          <a:prstGeom prst="ellipse">
            <a:avLst/>
          </a:prstGeom>
          <a:solidFill>
            <a:schemeClr val="accent1">
              <a:alpha val="18000"/>
            </a:schemeClr>
          </a:solidFill>
          <a:ln w="9525">
            <a:solidFill>
              <a:schemeClr val="accent1"/>
            </a:solidFill>
            <a:prstDash val="solid"/>
          </a:ln>
        </p:spPr>
      </p:sp>
      <p:pic>
        <p:nvPicPr>
          <p:cNvPr id="22" name="Image 6" descr="Technology">    </p:cNvPr>
          <p:cNvPicPr>
            <a:picLocks noChangeAspect="1"/>
          </p:cNvPicPr>
          <p:nvPr/>
        </p:nvPicPr>
        <p:blipFill>
          <a:blip r:embed="rId7"/>
          <a:stretch>
            <a:fillRect/>
          </a:stretch>
        </p:blipFill>
        <p:spPr>
          <a:xfrm>
            <a:off x="4609308" y="1500348"/>
            <a:ext cx="199705" cy="199705"/>
          </a:xfrm>
          <a:prstGeom prst="rect">
            <a:avLst/>
          </a:prstGeom>
        </p:spPr>
      </p:pic>
      <p:sp>
        <p:nvSpPr>
          <p:cNvPr id="23" name="Tech header"/>
          <p:cNvSpPr txBox="1"/>
          <p:nvPr/>
        </p:nvSpPr>
        <p:spPr>
          <a:xfrm>
            <a:off x="5029200" y="1463040"/>
            <a:ext cx="2743200" cy="274320"/>
          </a:xfrm>
          <a:prstGeom prst="rect">
            <a:avLst/>
          </a:prstGeom>
          <a:noFill/>
          <a:ln/>
        </p:spPr>
        <p:txBody>
          <a:bodyPr wrap="square" lIns="0" tIns="0" rIns="0" bIns="0" rtlCol="0" anchor="ctr"/>
          <a:lstStyle/>
          <a:p>
            <a:pPr indent="0" marL="0">
              <a:buNone/>
            </a:pPr>
            <a:r>
              <a:rPr lang="en-US" sz="1600" b="1" dirty="0">
                <a:solidFill>
                  <a:schemeClr val="bg1"/>
                </a:solidFill>
              </a:rPr>
              <a:t>TECHNOLOGY</a:t>
            </a:r>
            <a:endParaRPr lang="en-US" sz="1600" dirty="0"/>
          </a:p>
        </p:txBody>
      </p:sp>
      <p:sp>
        <p:nvSpPr>
          <p:cNvPr id="24" name="Tech label 1"/>
          <p:cNvSpPr txBox="1"/>
          <p:nvPr/>
        </p:nvSpPr>
        <p:spPr>
          <a:xfrm>
            <a:off x="4617720" y="1965960"/>
            <a:ext cx="1234440" cy="365760"/>
          </a:xfrm>
          <a:prstGeom prst="rect">
            <a:avLst/>
          </a:prstGeom>
          <a:noFill/>
          <a:ln/>
        </p:spPr>
        <p:txBody>
          <a:bodyPr wrap="square" lIns="0" tIns="0" rIns="0" bIns="0" rtlCol="0" anchor="ctr"/>
          <a:lstStyle/>
          <a:p>
            <a:pPr indent="0" marL="0">
              <a:buNone/>
            </a:pPr>
            <a:r>
              <a:rPr lang="en-US" sz="1000" b="1" spc="100" kern="0" dirty="0">
                <a:solidFill>
                  <a:schemeClr val="bg2"/>
                </a:solidFill>
              </a:rPr>
              <a:t>LANGUAGE</a:t>
            </a:r>
            <a:endParaRPr lang="en-US" sz="1000" dirty="0"/>
          </a:p>
        </p:txBody>
      </p:sp>
      <p:sp>
        <p:nvSpPr>
          <p:cNvPr id="25" name="Tech value 1"/>
          <p:cNvSpPr txBox="1"/>
          <p:nvPr/>
        </p:nvSpPr>
        <p:spPr>
          <a:xfrm>
            <a:off x="5852160" y="1965960"/>
            <a:ext cx="2743200" cy="365760"/>
          </a:xfrm>
          <a:prstGeom prst="rect">
            <a:avLst/>
          </a:prstGeom>
          <a:noFill/>
          <a:ln/>
        </p:spPr>
        <p:txBody>
          <a:bodyPr wrap="square" lIns="0" tIns="0" rIns="0" bIns="0" rtlCol="0" anchor="ctr"/>
          <a:lstStyle/>
          <a:p>
            <a:pPr indent="0" marL="0">
              <a:buNone/>
            </a:pPr>
            <a:r>
              <a:rPr lang="en-US" sz="1400" dirty="0">
                <a:solidFill>
                  <a:schemeClr val="bg1"/>
                </a:solidFill>
              </a:rPr>
              <a:t>Python</a:t>
            </a:r>
            <a:endParaRPr lang="en-US" sz="1400" dirty="0"/>
          </a:p>
        </p:txBody>
      </p:sp>
      <p:sp>
        <p:nvSpPr>
          <p:cNvPr id="26" name="Row divider"/>
          <p:cNvSpPr/>
          <p:nvPr/>
        </p:nvSpPr>
        <p:spPr>
          <a:xfrm>
            <a:off x="4617720" y="2331720"/>
            <a:ext cx="3840480" cy="0"/>
          </a:xfrm>
          <a:prstGeom prst="line">
            <a:avLst/>
          </a:prstGeom>
          <a:noFill/>
          <a:ln w="6350">
            <a:solidFill>
              <a:schemeClr val="accent5"/>
            </a:solidFill>
            <a:prstDash val="solid"/>
          </a:ln>
        </p:spPr>
      </p:sp>
      <p:sp>
        <p:nvSpPr>
          <p:cNvPr id="27" name="Tech label 2"/>
          <p:cNvSpPr txBox="1"/>
          <p:nvPr/>
        </p:nvSpPr>
        <p:spPr>
          <a:xfrm>
            <a:off x="4617720" y="2331720"/>
            <a:ext cx="1234440" cy="365760"/>
          </a:xfrm>
          <a:prstGeom prst="rect">
            <a:avLst/>
          </a:prstGeom>
          <a:noFill/>
          <a:ln/>
        </p:spPr>
        <p:txBody>
          <a:bodyPr wrap="square" lIns="0" tIns="0" rIns="0" bIns="0" rtlCol="0" anchor="ctr"/>
          <a:lstStyle/>
          <a:p>
            <a:pPr indent="0" marL="0">
              <a:buNone/>
            </a:pPr>
            <a:r>
              <a:rPr lang="en-US" sz="1000" b="1" spc="100" kern="0" dirty="0">
                <a:solidFill>
                  <a:schemeClr val="bg2"/>
                </a:solidFill>
              </a:rPr>
              <a:t>DATA</a:t>
            </a:r>
            <a:endParaRPr lang="en-US" sz="1000" dirty="0"/>
          </a:p>
        </p:txBody>
      </p:sp>
      <p:sp>
        <p:nvSpPr>
          <p:cNvPr id="28" name="Tech value 2"/>
          <p:cNvSpPr txBox="1"/>
          <p:nvPr/>
        </p:nvSpPr>
        <p:spPr>
          <a:xfrm>
            <a:off x="5852160" y="2331720"/>
            <a:ext cx="2743200" cy="365760"/>
          </a:xfrm>
          <a:prstGeom prst="rect">
            <a:avLst/>
          </a:prstGeom>
          <a:noFill/>
          <a:ln/>
        </p:spPr>
        <p:txBody>
          <a:bodyPr wrap="square" lIns="0" tIns="0" rIns="0" bIns="0" rtlCol="0" anchor="ctr"/>
          <a:lstStyle/>
          <a:p>
            <a:pPr indent="0" marL="0">
              <a:buNone/>
            </a:pPr>
            <a:r>
              <a:rPr lang="en-US" sz="1400" dirty="0">
                <a:solidFill>
                  <a:schemeClr val="bg1"/>
                </a:solidFill>
              </a:rPr>
              <a:t>Pandas, NumPy</a:t>
            </a:r>
            <a:endParaRPr lang="en-US" sz="1400" dirty="0"/>
          </a:p>
        </p:txBody>
      </p:sp>
      <p:sp>
        <p:nvSpPr>
          <p:cNvPr id="29" name="Row divider"/>
          <p:cNvSpPr/>
          <p:nvPr/>
        </p:nvSpPr>
        <p:spPr>
          <a:xfrm>
            <a:off x="4617720" y="2697480"/>
            <a:ext cx="3840480" cy="0"/>
          </a:xfrm>
          <a:prstGeom prst="line">
            <a:avLst/>
          </a:prstGeom>
          <a:noFill/>
          <a:ln w="6350">
            <a:solidFill>
              <a:schemeClr val="accent5"/>
            </a:solidFill>
            <a:prstDash val="solid"/>
          </a:ln>
        </p:spPr>
      </p:sp>
      <p:sp>
        <p:nvSpPr>
          <p:cNvPr id="30" name="Tech label 3"/>
          <p:cNvSpPr txBox="1"/>
          <p:nvPr/>
        </p:nvSpPr>
        <p:spPr>
          <a:xfrm>
            <a:off x="4617720" y="2697480"/>
            <a:ext cx="1234440" cy="365760"/>
          </a:xfrm>
          <a:prstGeom prst="rect">
            <a:avLst/>
          </a:prstGeom>
          <a:noFill/>
          <a:ln/>
        </p:spPr>
        <p:txBody>
          <a:bodyPr wrap="square" lIns="0" tIns="0" rIns="0" bIns="0" rtlCol="0" anchor="ctr"/>
          <a:lstStyle/>
          <a:p>
            <a:pPr indent="0" marL="0">
              <a:buNone/>
            </a:pPr>
            <a:r>
              <a:rPr lang="en-US" sz="1000" b="1" spc="100" kern="0" dirty="0">
                <a:solidFill>
                  <a:schemeClr val="bg2"/>
                </a:solidFill>
              </a:rPr>
              <a:t>ML UTILITIES</a:t>
            </a:r>
            <a:endParaRPr lang="en-US" sz="1000" dirty="0"/>
          </a:p>
        </p:txBody>
      </p:sp>
      <p:sp>
        <p:nvSpPr>
          <p:cNvPr id="31" name="Tech value 3"/>
          <p:cNvSpPr txBox="1"/>
          <p:nvPr/>
        </p:nvSpPr>
        <p:spPr>
          <a:xfrm>
            <a:off x="5852160" y="2697480"/>
            <a:ext cx="2743200" cy="365760"/>
          </a:xfrm>
          <a:prstGeom prst="rect">
            <a:avLst/>
          </a:prstGeom>
          <a:noFill/>
          <a:ln/>
        </p:spPr>
        <p:txBody>
          <a:bodyPr wrap="square" lIns="0" tIns="0" rIns="0" bIns="0" rtlCol="0" anchor="ctr"/>
          <a:lstStyle/>
          <a:p>
            <a:pPr indent="0" marL="0">
              <a:buNone/>
            </a:pPr>
            <a:r>
              <a:rPr lang="en-US" sz="1400" dirty="0">
                <a:solidFill>
                  <a:schemeClr val="bg1"/>
                </a:solidFill>
              </a:rPr>
              <a:t>Scikit-learn</a:t>
            </a:r>
            <a:endParaRPr lang="en-US" sz="1400" dirty="0"/>
          </a:p>
        </p:txBody>
      </p:sp>
      <p:sp>
        <p:nvSpPr>
          <p:cNvPr id="32" name="Row divider"/>
          <p:cNvSpPr/>
          <p:nvPr/>
        </p:nvSpPr>
        <p:spPr>
          <a:xfrm>
            <a:off x="4617720" y="3063240"/>
            <a:ext cx="3840480" cy="0"/>
          </a:xfrm>
          <a:prstGeom prst="line">
            <a:avLst/>
          </a:prstGeom>
          <a:noFill/>
          <a:ln w="6350">
            <a:solidFill>
              <a:schemeClr val="accent5"/>
            </a:solidFill>
            <a:prstDash val="solid"/>
          </a:ln>
        </p:spPr>
      </p:sp>
      <p:sp>
        <p:nvSpPr>
          <p:cNvPr id="33" name="Tech label 4"/>
          <p:cNvSpPr txBox="1"/>
          <p:nvPr/>
        </p:nvSpPr>
        <p:spPr>
          <a:xfrm>
            <a:off x="4617720" y="3063240"/>
            <a:ext cx="1234440" cy="365760"/>
          </a:xfrm>
          <a:prstGeom prst="rect">
            <a:avLst/>
          </a:prstGeom>
          <a:noFill/>
          <a:ln/>
        </p:spPr>
        <p:txBody>
          <a:bodyPr wrap="square" lIns="0" tIns="0" rIns="0" bIns="0" rtlCol="0" anchor="ctr"/>
          <a:lstStyle/>
          <a:p>
            <a:pPr indent="0" marL="0">
              <a:buNone/>
            </a:pPr>
            <a:r>
              <a:rPr lang="en-US" sz="1000" b="1" spc="100" kern="0" dirty="0">
                <a:solidFill>
                  <a:schemeClr val="bg2"/>
                </a:solidFill>
              </a:rPr>
              <a:t>DEEP LEARNING</a:t>
            </a:r>
            <a:endParaRPr lang="en-US" sz="1000" dirty="0"/>
          </a:p>
        </p:txBody>
      </p:sp>
      <p:sp>
        <p:nvSpPr>
          <p:cNvPr id="34" name="Tech value 4"/>
          <p:cNvSpPr txBox="1"/>
          <p:nvPr/>
        </p:nvSpPr>
        <p:spPr>
          <a:xfrm>
            <a:off x="5852160" y="3063240"/>
            <a:ext cx="2743200" cy="365760"/>
          </a:xfrm>
          <a:prstGeom prst="rect">
            <a:avLst/>
          </a:prstGeom>
          <a:noFill/>
          <a:ln/>
        </p:spPr>
        <p:txBody>
          <a:bodyPr wrap="square" lIns="0" tIns="0" rIns="0" bIns="0" rtlCol="0" anchor="ctr"/>
          <a:lstStyle/>
          <a:p>
            <a:pPr indent="0" marL="0">
              <a:buNone/>
            </a:pPr>
            <a:r>
              <a:rPr lang="en-US" sz="1400" dirty="0">
                <a:solidFill>
                  <a:schemeClr val="bg1"/>
                </a:solidFill>
              </a:rPr>
              <a:t>TensorFlow / Keras or PyTorch</a:t>
            </a:r>
            <a:endParaRPr lang="en-US" sz="1400" dirty="0"/>
          </a:p>
        </p:txBody>
      </p:sp>
      <p:sp>
        <p:nvSpPr>
          <p:cNvPr id="35" name="Row divider"/>
          <p:cNvSpPr/>
          <p:nvPr/>
        </p:nvSpPr>
        <p:spPr>
          <a:xfrm>
            <a:off x="4617720" y="3429000"/>
            <a:ext cx="3840480" cy="0"/>
          </a:xfrm>
          <a:prstGeom prst="line">
            <a:avLst/>
          </a:prstGeom>
          <a:noFill/>
          <a:ln w="6350">
            <a:solidFill>
              <a:schemeClr val="accent5"/>
            </a:solidFill>
            <a:prstDash val="solid"/>
          </a:ln>
        </p:spPr>
      </p:sp>
      <p:sp>
        <p:nvSpPr>
          <p:cNvPr id="36" name="Tech label 5"/>
          <p:cNvSpPr txBox="1"/>
          <p:nvPr/>
        </p:nvSpPr>
        <p:spPr>
          <a:xfrm>
            <a:off x="4617720" y="3429000"/>
            <a:ext cx="1234440" cy="365760"/>
          </a:xfrm>
          <a:prstGeom prst="rect">
            <a:avLst/>
          </a:prstGeom>
          <a:noFill/>
          <a:ln/>
        </p:spPr>
        <p:txBody>
          <a:bodyPr wrap="square" lIns="0" tIns="0" rIns="0" bIns="0" rtlCol="0" anchor="ctr"/>
          <a:lstStyle/>
          <a:p>
            <a:pPr indent="0" marL="0">
              <a:buNone/>
            </a:pPr>
            <a:r>
              <a:rPr lang="en-US" sz="1000" b="1" spc="100" kern="0" dirty="0">
                <a:solidFill>
                  <a:schemeClr val="bg2"/>
                </a:solidFill>
              </a:rPr>
              <a:t>VISUALIZATION</a:t>
            </a:r>
            <a:endParaRPr lang="en-US" sz="1000" dirty="0"/>
          </a:p>
        </p:txBody>
      </p:sp>
      <p:sp>
        <p:nvSpPr>
          <p:cNvPr id="37" name="Tech value 5"/>
          <p:cNvSpPr txBox="1"/>
          <p:nvPr/>
        </p:nvSpPr>
        <p:spPr>
          <a:xfrm>
            <a:off x="5852160" y="3429000"/>
            <a:ext cx="2743200" cy="365760"/>
          </a:xfrm>
          <a:prstGeom prst="rect">
            <a:avLst/>
          </a:prstGeom>
          <a:noFill/>
          <a:ln/>
        </p:spPr>
        <p:txBody>
          <a:bodyPr wrap="square" lIns="0" tIns="0" rIns="0" bIns="0" rtlCol="0" anchor="ctr"/>
          <a:lstStyle/>
          <a:p>
            <a:pPr indent="0" marL="0">
              <a:buNone/>
            </a:pPr>
            <a:r>
              <a:rPr lang="en-US" sz="1400" dirty="0">
                <a:solidFill>
                  <a:schemeClr val="bg1"/>
                </a:solidFill>
              </a:rPr>
              <a:t>Matplotlib / Seaborn</a:t>
            </a:r>
            <a:endParaRPr lang="en-US" sz="1400" dirty="0"/>
          </a:p>
        </p:txBody>
      </p:sp>
      <p:sp>
        <p:nvSpPr>
          <p:cNvPr id="38" name="Row divider"/>
          <p:cNvSpPr/>
          <p:nvPr/>
        </p:nvSpPr>
        <p:spPr>
          <a:xfrm>
            <a:off x="4617720" y="3794760"/>
            <a:ext cx="3840480" cy="0"/>
          </a:xfrm>
          <a:prstGeom prst="line">
            <a:avLst/>
          </a:prstGeom>
          <a:noFill/>
          <a:ln w="6350">
            <a:solidFill>
              <a:schemeClr val="accent5"/>
            </a:solidFill>
            <a:prstDash val="solid"/>
          </a:ln>
        </p:spPr>
      </p:sp>
      <p:sp>
        <p:nvSpPr>
          <p:cNvPr id="39" name="Tech label 6"/>
          <p:cNvSpPr txBox="1"/>
          <p:nvPr/>
        </p:nvSpPr>
        <p:spPr>
          <a:xfrm>
            <a:off x="4617720" y="3794760"/>
            <a:ext cx="1234440" cy="365760"/>
          </a:xfrm>
          <a:prstGeom prst="rect">
            <a:avLst/>
          </a:prstGeom>
          <a:noFill/>
          <a:ln/>
        </p:spPr>
        <p:txBody>
          <a:bodyPr wrap="square" lIns="0" tIns="0" rIns="0" bIns="0" rtlCol="0" anchor="ctr"/>
          <a:lstStyle/>
          <a:p>
            <a:pPr indent="0" marL="0">
              <a:buNone/>
            </a:pPr>
            <a:r>
              <a:rPr lang="en-US" sz="1000" b="1" spc="100" kern="0" dirty="0">
                <a:solidFill>
                  <a:schemeClr val="bg2"/>
                </a:solidFill>
              </a:rPr>
              <a:t>ENVIRONMENT</a:t>
            </a:r>
            <a:endParaRPr lang="en-US" sz="1000" dirty="0"/>
          </a:p>
        </p:txBody>
      </p:sp>
      <p:sp>
        <p:nvSpPr>
          <p:cNvPr id="40" name="Tech value 6"/>
          <p:cNvSpPr txBox="1"/>
          <p:nvPr/>
        </p:nvSpPr>
        <p:spPr>
          <a:xfrm>
            <a:off x="5852160" y="3794760"/>
            <a:ext cx="2743200" cy="365760"/>
          </a:xfrm>
          <a:prstGeom prst="rect">
            <a:avLst/>
          </a:prstGeom>
          <a:noFill/>
          <a:ln/>
        </p:spPr>
        <p:txBody>
          <a:bodyPr wrap="square" lIns="0" tIns="0" rIns="0" bIns="0" rtlCol="0" anchor="ctr"/>
          <a:lstStyle/>
          <a:p>
            <a:pPr indent="0" marL="0">
              <a:buNone/>
            </a:pPr>
            <a:r>
              <a:rPr lang="en-US" sz="1400" dirty="0">
                <a:solidFill>
                  <a:schemeClr val="bg1"/>
                </a:solidFill>
              </a:rPr>
              <a:t>Jupyter Notebook / Google Colab</a:t>
            </a:r>
            <a:endParaRPr lang="en-US" sz="1400" dirty="0"/>
          </a:p>
        </p:txBody>
      </p:sp>
      <p:sp>
        <p:nvSpPr>
          <p:cNvPr id="41" name="Row divider"/>
          <p:cNvSpPr/>
          <p:nvPr/>
        </p:nvSpPr>
        <p:spPr>
          <a:xfrm>
            <a:off x="4617720" y="4160520"/>
            <a:ext cx="3840480" cy="0"/>
          </a:xfrm>
          <a:prstGeom prst="line">
            <a:avLst/>
          </a:prstGeom>
          <a:noFill/>
          <a:ln w="6350">
            <a:solidFill>
              <a:schemeClr val="accent5"/>
            </a:solidFill>
            <a:prstDash val="solid"/>
          </a:ln>
        </p:spPr>
      </p:sp>
      <p:sp>
        <p:nvSpPr>
          <p:cNvPr id="42" name="Tech label 7"/>
          <p:cNvSpPr txBox="1"/>
          <p:nvPr/>
        </p:nvSpPr>
        <p:spPr>
          <a:xfrm>
            <a:off x="4617720" y="4160520"/>
            <a:ext cx="1234440" cy="365760"/>
          </a:xfrm>
          <a:prstGeom prst="rect">
            <a:avLst/>
          </a:prstGeom>
          <a:noFill/>
          <a:ln/>
        </p:spPr>
        <p:txBody>
          <a:bodyPr wrap="square" lIns="0" tIns="0" rIns="0" bIns="0" rtlCol="0" anchor="ctr"/>
          <a:lstStyle/>
          <a:p>
            <a:pPr indent="0" marL="0">
              <a:buNone/>
            </a:pPr>
            <a:r>
              <a:rPr lang="en-US" sz="1000" b="1" spc="100" kern="0" dirty="0">
                <a:solidFill>
                  <a:schemeClr val="bg2"/>
                </a:solidFill>
              </a:rPr>
              <a:t>DASHBOARD</a:t>
            </a:r>
            <a:endParaRPr lang="en-US" sz="1000" dirty="0"/>
          </a:p>
        </p:txBody>
      </p:sp>
      <p:sp>
        <p:nvSpPr>
          <p:cNvPr id="43" name="Tech value 7"/>
          <p:cNvSpPr txBox="1"/>
          <p:nvPr/>
        </p:nvSpPr>
        <p:spPr>
          <a:xfrm>
            <a:off x="5852160" y="4160520"/>
            <a:ext cx="2743200" cy="365760"/>
          </a:xfrm>
          <a:prstGeom prst="rect">
            <a:avLst/>
          </a:prstGeom>
          <a:noFill/>
          <a:ln/>
        </p:spPr>
        <p:txBody>
          <a:bodyPr wrap="square" lIns="0" tIns="0" rIns="0" bIns="0" rtlCol="0" anchor="ctr"/>
          <a:lstStyle/>
          <a:p>
            <a:pPr indent="0" marL="0">
              <a:buNone/>
            </a:pPr>
            <a:r>
              <a:rPr lang="en-US" sz="1400" dirty="0">
                <a:solidFill>
                  <a:schemeClr val="bg1"/>
                </a:solidFill>
              </a:rPr>
              <a:t>Streamlit (optional)</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2627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457200" y="329184"/>
            <a:ext cx="8229600" cy="228600"/>
          </a:xfrm>
          <a:prstGeom prst="rect">
            <a:avLst/>
          </a:prstGeom>
          <a:noFill/>
          <a:ln/>
        </p:spPr>
        <p:txBody>
          <a:bodyPr wrap="square" lIns="0" tIns="0" rIns="0" bIns="0" rtlCol="0" anchor="t"/>
          <a:lstStyle/>
          <a:p>
            <a:pPr algn="l" indent="0" marL="0">
              <a:buNone/>
            </a:pPr>
            <a:r>
              <a:rPr lang="en-US" sz="1100" b="1" spc="200" kern="0" dirty="0">
                <a:solidFill>
                  <a:schemeClr val="accent1"/>
                </a:solidFill>
              </a:rPr>
              <a:t>06  ·  WORKFLOW</a:t>
            </a:r>
            <a:endParaRPr lang="en-US" sz="1100" dirty="0"/>
          </a:p>
        </p:txBody>
      </p:sp>
      <p:sp>
        <p:nvSpPr>
          <p:cNvPr id="3" name="Text 1"/>
          <p:cNvSpPr/>
          <p:nvPr>
            <p:ph idx="102" type="title" hasCustomPrompt="1"/>
          </p:nvPr>
        </p:nvSpPr>
        <p:spPr>
          <a:xfrm>
            <a:off x="457200" y="566928"/>
            <a:ext cx="8229600" cy="548640"/>
          </a:xfrm>
          <a:prstGeom prst="rect">
            <a:avLst/>
          </a:prstGeom>
          <a:noFill/>
          <a:ln/>
        </p:spPr>
        <p:txBody>
          <a:bodyPr wrap="square" lIns="0" tIns="0" rIns="0" bIns="0" rtlCol="0" anchor="t"/>
          <a:lstStyle/>
          <a:p>
            <a:pPr algn="l" indent="0" marL="0">
              <a:buNone/>
            </a:pPr>
            <a:r>
              <a:rPr lang="en-US" sz="2800" b="1" dirty="0">
                <a:solidFill>
                  <a:schemeClr val="bg1"/>
                </a:solidFill>
              </a:rPr>
              <a:t>Workflow, Evaluation &amp; Output</a:t>
            </a:r>
            <a:endParaRPr lang="en-US" sz="2800" dirty="0"/>
          </a:p>
        </p:txBody>
      </p:sp>
      <p:sp>
        <p:nvSpPr>
          <p:cNvPr id="4" name="Stage card 1"/>
          <p:cNvSpPr/>
          <p:nvPr/>
        </p:nvSpPr>
        <p:spPr>
          <a:xfrm>
            <a:off x="457200" y="1234440"/>
            <a:ext cx="1463040" cy="594360"/>
          </a:xfrm>
          <a:prstGeom prst="roundRect">
            <a:avLst>
              <a:gd name="adj" fmla="val 12308"/>
            </a:avLst>
          </a:prstGeom>
          <a:solidFill>
            <a:schemeClr val="tx2"/>
          </a:solidFill>
          <a:ln w="9525">
            <a:solidFill>
              <a:schemeClr val="accent5"/>
            </a:solidFill>
            <a:prstDash val="solid"/>
          </a:ln>
        </p:spPr>
      </p:sp>
      <p:sp>
        <p:nvSpPr>
          <p:cNvPr id="5" name="Stage number circle 1"/>
          <p:cNvSpPr/>
          <p:nvPr/>
        </p:nvSpPr>
        <p:spPr>
          <a:xfrm>
            <a:off x="548640" y="1394460"/>
            <a:ext cx="274320" cy="274320"/>
          </a:xfrm>
          <a:prstGeom prst="ellipse">
            <a:avLst/>
          </a:prstGeom>
          <a:solidFill>
            <a:schemeClr val="accent1"/>
          </a:solidFill>
          <a:ln w="12700">
            <a:solidFill>
              <a:schemeClr val="accent1"/>
            </a:solidFill>
            <a:prstDash val="solid"/>
          </a:ln>
        </p:spPr>
      </p:sp>
      <p:sp>
        <p:nvSpPr>
          <p:cNvPr id="6" name="Stage number 1"/>
          <p:cNvSpPr txBox="1"/>
          <p:nvPr/>
        </p:nvSpPr>
        <p:spPr>
          <a:xfrm>
            <a:off x="548640" y="139446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7" name="Stage label 1"/>
          <p:cNvSpPr txBox="1"/>
          <p:nvPr/>
        </p:nvSpPr>
        <p:spPr>
          <a:xfrm>
            <a:off x="896112" y="1261872"/>
            <a:ext cx="987552" cy="539496"/>
          </a:xfrm>
          <a:prstGeom prst="rect">
            <a:avLst/>
          </a:prstGeom>
          <a:noFill/>
          <a:ln/>
        </p:spPr>
        <p:txBody>
          <a:bodyPr wrap="square" lIns="0" tIns="0" rIns="0" bIns="0" rtlCol="0" anchor="ctr"/>
          <a:lstStyle/>
          <a:p>
            <a:pPr indent="0" marL="0">
              <a:buNone/>
            </a:pPr>
            <a:r>
              <a:rPr lang="en-US" sz="1100" b="1" dirty="0">
                <a:solidFill>
                  <a:schemeClr val="bg1"/>
                </a:solidFill>
              </a:rPr>
              <a:t>Data Collection</a:t>
            </a:r>
            <a:endParaRPr lang="en-US" sz="1100" dirty="0"/>
          </a:p>
        </p:txBody>
      </p:sp>
      <p:sp>
        <p:nvSpPr>
          <p:cNvPr id="8" name="Arrow"/>
          <p:cNvSpPr/>
          <p:nvPr/>
        </p:nvSpPr>
        <p:spPr>
          <a:xfrm>
            <a:off x="1947672" y="1531620"/>
            <a:ext cx="173736" cy="0"/>
          </a:xfrm>
          <a:prstGeom prst="line">
            <a:avLst/>
          </a:prstGeom>
          <a:noFill/>
          <a:ln w="19050">
            <a:solidFill>
              <a:schemeClr val="accent1"/>
            </a:solidFill>
            <a:prstDash val="solid"/>
            <a:tailEnd type="triangle"/>
          </a:ln>
        </p:spPr>
      </p:sp>
      <p:sp>
        <p:nvSpPr>
          <p:cNvPr id="9" name="Stage card 2"/>
          <p:cNvSpPr/>
          <p:nvPr/>
        </p:nvSpPr>
        <p:spPr>
          <a:xfrm>
            <a:off x="2148840" y="1234440"/>
            <a:ext cx="1463040" cy="594360"/>
          </a:xfrm>
          <a:prstGeom prst="roundRect">
            <a:avLst>
              <a:gd name="adj" fmla="val 12308"/>
            </a:avLst>
          </a:prstGeom>
          <a:solidFill>
            <a:schemeClr val="tx2"/>
          </a:solidFill>
          <a:ln w="9525">
            <a:solidFill>
              <a:schemeClr val="accent5"/>
            </a:solidFill>
            <a:prstDash val="solid"/>
          </a:ln>
        </p:spPr>
      </p:sp>
      <p:sp>
        <p:nvSpPr>
          <p:cNvPr id="10" name="Stage number circle 2"/>
          <p:cNvSpPr/>
          <p:nvPr/>
        </p:nvSpPr>
        <p:spPr>
          <a:xfrm>
            <a:off x="2240280" y="1394460"/>
            <a:ext cx="274320" cy="274320"/>
          </a:xfrm>
          <a:prstGeom prst="ellipse">
            <a:avLst/>
          </a:prstGeom>
          <a:solidFill>
            <a:schemeClr val="accent1"/>
          </a:solidFill>
          <a:ln w="12700">
            <a:solidFill>
              <a:schemeClr val="accent1"/>
            </a:solidFill>
            <a:prstDash val="solid"/>
          </a:ln>
        </p:spPr>
      </p:sp>
      <p:sp>
        <p:nvSpPr>
          <p:cNvPr id="11" name="Stage number 2"/>
          <p:cNvSpPr txBox="1"/>
          <p:nvPr/>
        </p:nvSpPr>
        <p:spPr>
          <a:xfrm>
            <a:off x="2240280" y="139446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12" name="Stage label 2"/>
          <p:cNvSpPr txBox="1"/>
          <p:nvPr/>
        </p:nvSpPr>
        <p:spPr>
          <a:xfrm>
            <a:off x="2587752" y="1261872"/>
            <a:ext cx="987552" cy="539496"/>
          </a:xfrm>
          <a:prstGeom prst="rect">
            <a:avLst/>
          </a:prstGeom>
          <a:noFill/>
          <a:ln/>
        </p:spPr>
        <p:txBody>
          <a:bodyPr wrap="square" lIns="0" tIns="0" rIns="0" bIns="0" rtlCol="0" anchor="ctr"/>
          <a:lstStyle/>
          <a:p>
            <a:pPr indent="0" marL="0">
              <a:buNone/>
            </a:pPr>
            <a:r>
              <a:rPr lang="en-US" sz="1100" b="1" dirty="0">
                <a:solidFill>
                  <a:schemeClr val="bg1"/>
                </a:solidFill>
              </a:rPr>
              <a:t>Cleaning &amp; Normalization</a:t>
            </a:r>
            <a:endParaRPr lang="en-US" sz="1100" dirty="0"/>
          </a:p>
        </p:txBody>
      </p:sp>
      <p:sp>
        <p:nvSpPr>
          <p:cNvPr id="13" name="Arrow"/>
          <p:cNvSpPr/>
          <p:nvPr/>
        </p:nvSpPr>
        <p:spPr>
          <a:xfrm>
            <a:off x="3639312" y="1531620"/>
            <a:ext cx="173736" cy="0"/>
          </a:xfrm>
          <a:prstGeom prst="line">
            <a:avLst/>
          </a:prstGeom>
          <a:noFill/>
          <a:ln w="19050">
            <a:solidFill>
              <a:schemeClr val="accent1"/>
            </a:solidFill>
            <a:prstDash val="solid"/>
            <a:tailEnd type="triangle"/>
          </a:ln>
        </p:spPr>
      </p:sp>
      <p:sp>
        <p:nvSpPr>
          <p:cNvPr id="14" name="Stage card 3"/>
          <p:cNvSpPr/>
          <p:nvPr/>
        </p:nvSpPr>
        <p:spPr>
          <a:xfrm>
            <a:off x="3840480" y="1234440"/>
            <a:ext cx="1463040" cy="594360"/>
          </a:xfrm>
          <a:prstGeom prst="roundRect">
            <a:avLst>
              <a:gd name="adj" fmla="val 12308"/>
            </a:avLst>
          </a:prstGeom>
          <a:solidFill>
            <a:schemeClr val="tx2"/>
          </a:solidFill>
          <a:ln w="9525">
            <a:solidFill>
              <a:schemeClr val="accent5"/>
            </a:solidFill>
            <a:prstDash val="solid"/>
          </a:ln>
        </p:spPr>
      </p:sp>
      <p:sp>
        <p:nvSpPr>
          <p:cNvPr id="15" name="Stage number circle 3"/>
          <p:cNvSpPr/>
          <p:nvPr/>
        </p:nvSpPr>
        <p:spPr>
          <a:xfrm>
            <a:off x="3931920" y="1394460"/>
            <a:ext cx="274320" cy="274320"/>
          </a:xfrm>
          <a:prstGeom prst="ellipse">
            <a:avLst/>
          </a:prstGeom>
          <a:solidFill>
            <a:schemeClr val="accent1"/>
          </a:solidFill>
          <a:ln w="12700">
            <a:solidFill>
              <a:schemeClr val="accent1"/>
            </a:solidFill>
            <a:prstDash val="solid"/>
          </a:ln>
        </p:spPr>
      </p:sp>
      <p:sp>
        <p:nvSpPr>
          <p:cNvPr id="16" name="Stage number 3"/>
          <p:cNvSpPr txBox="1"/>
          <p:nvPr/>
        </p:nvSpPr>
        <p:spPr>
          <a:xfrm>
            <a:off x="3931920" y="139446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17" name="Stage label 3"/>
          <p:cNvSpPr txBox="1"/>
          <p:nvPr/>
        </p:nvSpPr>
        <p:spPr>
          <a:xfrm>
            <a:off x="4279392" y="1261872"/>
            <a:ext cx="987552" cy="539496"/>
          </a:xfrm>
          <a:prstGeom prst="rect">
            <a:avLst/>
          </a:prstGeom>
          <a:noFill/>
          <a:ln/>
        </p:spPr>
        <p:txBody>
          <a:bodyPr wrap="square" lIns="0" tIns="0" rIns="0" bIns="0" rtlCol="0" anchor="ctr"/>
          <a:lstStyle/>
          <a:p>
            <a:pPr indent="0" marL="0">
              <a:buNone/>
            </a:pPr>
            <a:r>
              <a:rPr lang="en-US" sz="1100" b="1" dirty="0">
                <a:solidFill>
                  <a:schemeClr val="bg1"/>
                </a:solidFill>
              </a:rPr>
              <a:t>Feature Selection</a:t>
            </a:r>
            <a:endParaRPr lang="en-US" sz="1100" dirty="0"/>
          </a:p>
        </p:txBody>
      </p:sp>
      <p:sp>
        <p:nvSpPr>
          <p:cNvPr id="18" name="Arrow"/>
          <p:cNvSpPr/>
          <p:nvPr/>
        </p:nvSpPr>
        <p:spPr>
          <a:xfrm>
            <a:off x="5330952" y="1531620"/>
            <a:ext cx="173736" cy="0"/>
          </a:xfrm>
          <a:prstGeom prst="line">
            <a:avLst/>
          </a:prstGeom>
          <a:noFill/>
          <a:ln w="19050">
            <a:solidFill>
              <a:schemeClr val="accent1"/>
            </a:solidFill>
            <a:prstDash val="solid"/>
            <a:tailEnd type="triangle"/>
          </a:ln>
        </p:spPr>
      </p:sp>
      <p:sp>
        <p:nvSpPr>
          <p:cNvPr id="19" name="Stage card 4"/>
          <p:cNvSpPr/>
          <p:nvPr/>
        </p:nvSpPr>
        <p:spPr>
          <a:xfrm>
            <a:off x="5532120" y="1234440"/>
            <a:ext cx="1463040" cy="594360"/>
          </a:xfrm>
          <a:prstGeom prst="roundRect">
            <a:avLst>
              <a:gd name="adj" fmla="val 12308"/>
            </a:avLst>
          </a:prstGeom>
          <a:solidFill>
            <a:schemeClr val="tx2"/>
          </a:solidFill>
          <a:ln w="9525">
            <a:solidFill>
              <a:schemeClr val="accent5"/>
            </a:solidFill>
            <a:prstDash val="solid"/>
          </a:ln>
        </p:spPr>
      </p:sp>
      <p:sp>
        <p:nvSpPr>
          <p:cNvPr id="20" name="Stage number circle 4"/>
          <p:cNvSpPr/>
          <p:nvPr/>
        </p:nvSpPr>
        <p:spPr>
          <a:xfrm>
            <a:off x="5623560" y="1394460"/>
            <a:ext cx="274320" cy="274320"/>
          </a:xfrm>
          <a:prstGeom prst="ellipse">
            <a:avLst/>
          </a:prstGeom>
          <a:solidFill>
            <a:schemeClr val="accent1"/>
          </a:solidFill>
          <a:ln w="12700">
            <a:solidFill>
              <a:schemeClr val="accent1"/>
            </a:solidFill>
            <a:prstDash val="solid"/>
          </a:ln>
        </p:spPr>
      </p:sp>
      <p:sp>
        <p:nvSpPr>
          <p:cNvPr id="21" name="Stage number 4"/>
          <p:cNvSpPr txBox="1"/>
          <p:nvPr/>
        </p:nvSpPr>
        <p:spPr>
          <a:xfrm>
            <a:off x="5623560" y="139446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22" name="Stage label 4"/>
          <p:cNvSpPr txBox="1"/>
          <p:nvPr/>
        </p:nvSpPr>
        <p:spPr>
          <a:xfrm>
            <a:off x="5971032" y="1261872"/>
            <a:ext cx="987552" cy="539496"/>
          </a:xfrm>
          <a:prstGeom prst="rect">
            <a:avLst/>
          </a:prstGeom>
          <a:noFill/>
          <a:ln/>
        </p:spPr>
        <p:txBody>
          <a:bodyPr wrap="square" lIns="0" tIns="0" rIns="0" bIns="0" rtlCol="0" anchor="ctr"/>
          <a:lstStyle/>
          <a:p>
            <a:pPr indent="0" marL="0">
              <a:buNone/>
            </a:pPr>
            <a:r>
              <a:rPr lang="en-US" sz="1100" b="1" dirty="0">
                <a:solidFill>
                  <a:schemeClr val="bg1"/>
                </a:solidFill>
              </a:rPr>
              <a:t>Time-Window Creation</a:t>
            </a:r>
            <a:endParaRPr lang="en-US" sz="1100" dirty="0"/>
          </a:p>
        </p:txBody>
      </p:sp>
      <p:sp>
        <p:nvSpPr>
          <p:cNvPr id="23" name="Arrow"/>
          <p:cNvSpPr/>
          <p:nvPr/>
        </p:nvSpPr>
        <p:spPr>
          <a:xfrm>
            <a:off x="7022592" y="1531620"/>
            <a:ext cx="173736" cy="0"/>
          </a:xfrm>
          <a:prstGeom prst="line">
            <a:avLst/>
          </a:prstGeom>
          <a:noFill/>
          <a:ln w="19050">
            <a:solidFill>
              <a:schemeClr val="accent1"/>
            </a:solidFill>
            <a:prstDash val="solid"/>
            <a:tailEnd type="triangle"/>
          </a:ln>
        </p:spPr>
      </p:sp>
      <p:sp>
        <p:nvSpPr>
          <p:cNvPr id="24" name="Stage card 5"/>
          <p:cNvSpPr/>
          <p:nvPr/>
        </p:nvSpPr>
        <p:spPr>
          <a:xfrm>
            <a:off x="7223760" y="1234440"/>
            <a:ext cx="1463040" cy="594360"/>
          </a:xfrm>
          <a:prstGeom prst="roundRect">
            <a:avLst>
              <a:gd name="adj" fmla="val 12308"/>
            </a:avLst>
          </a:prstGeom>
          <a:solidFill>
            <a:schemeClr val="tx2"/>
          </a:solidFill>
          <a:ln w="9525">
            <a:solidFill>
              <a:schemeClr val="accent5"/>
            </a:solidFill>
            <a:prstDash val="solid"/>
          </a:ln>
        </p:spPr>
      </p:sp>
      <p:sp>
        <p:nvSpPr>
          <p:cNvPr id="25" name="Stage number circle 5"/>
          <p:cNvSpPr/>
          <p:nvPr/>
        </p:nvSpPr>
        <p:spPr>
          <a:xfrm>
            <a:off x="7315200" y="1394460"/>
            <a:ext cx="274320" cy="274320"/>
          </a:xfrm>
          <a:prstGeom prst="ellipse">
            <a:avLst/>
          </a:prstGeom>
          <a:solidFill>
            <a:schemeClr val="accent1"/>
          </a:solidFill>
          <a:ln w="12700">
            <a:solidFill>
              <a:schemeClr val="accent1"/>
            </a:solidFill>
            <a:prstDash val="solid"/>
          </a:ln>
        </p:spPr>
      </p:sp>
      <p:sp>
        <p:nvSpPr>
          <p:cNvPr id="26" name="Stage number 5"/>
          <p:cNvSpPr txBox="1"/>
          <p:nvPr/>
        </p:nvSpPr>
        <p:spPr>
          <a:xfrm>
            <a:off x="7315200" y="139446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5</a:t>
            </a:r>
            <a:endParaRPr lang="en-US" sz="1100" dirty="0"/>
          </a:p>
        </p:txBody>
      </p:sp>
      <p:sp>
        <p:nvSpPr>
          <p:cNvPr id="27" name="Stage label 5"/>
          <p:cNvSpPr txBox="1"/>
          <p:nvPr/>
        </p:nvSpPr>
        <p:spPr>
          <a:xfrm>
            <a:off x="7662672" y="1261872"/>
            <a:ext cx="987552" cy="539496"/>
          </a:xfrm>
          <a:prstGeom prst="rect">
            <a:avLst/>
          </a:prstGeom>
          <a:noFill/>
          <a:ln/>
        </p:spPr>
        <p:txBody>
          <a:bodyPr wrap="square" lIns="0" tIns="0" rIns="0" bIns="0" rtlCol="0" anchor="ctr"/>
          <a:lstStyle/>
          <a:p>
            <a:pPr indent="0" marL="0">
              <a:buNone/>
            </a:pPr>
            <a:r>
              <a:rPr lang="en-US" sz="1100" b="1" dirty="0">
                <a:solidFill>
                  <a:schemeClr val="bg1"/>
                </a:solidFill>
              </a:rPr>
              <a:t>Model Training</a:t>
            </a:r>
            <a:endParaRPr lang="en-US" sz="1100" dirty="0"/>
          </a:p>
        </p:txBody>
      </p:sp>
      <p:sp>
        <p:nvSpPr>
          <p:cNvPr id="28" name="Stage card 6"/>
          <p:cNvSpPr/>
          <p:nvPr/>
        </p:nvSpPr>
        <p:spPr>
          <a:xfrm>
            <a:off x="457200" y="2103120"/>
            <a:ext cx="1463040" cy="594360"/>
          </a:xfrm>
          <a:prstGeom prst="roundRect">
            <a:avLst>
              <a:gd name="adj" fmla="val 12308"/>
            </a:avLst>
          </a:prstGeom>
          <a:solidFill>
            <a:schemeClr val="tx2"/>
          </a:solidFill>
          <a:ln w="9525">
            <a:solidFill>
              <a:schemeClr val="accent5"/>
            </a:solidFill>
            <a:prstDash val="solid"/>
          </a:ln>
        </p:spPr>
      </p:sp>
      <p:sp>
        <p:nvSpPr>
          <p:cNvPr id="29" name="Stage number circle 6"/>
          <p:cNvSpPr/>
          <p:nvPr/>
        </p:nvSpPr>
        <p:spPr>
          <a:xfrm>
            <a:off x="548640" y="2263140"/>
            <a:ext cx="274320" cy="274320"/>
          </a:xfrm>
          <a:prstGeom prst="ellipse">
            <a:avLst/>
          </a:prstGeom>
          <a:solidFill>
            <a:schemeClr val="accent1"/>
          </a:solidFill>
          <a:ln w="12700">
            <a:solidFill>
              <a:schemeClr val="accent1"/>
            </a:solidFill>
            <a:prstDash val="solid"/>
          </a:ln>
        </p:spPr>
      </p:sp>
      <p:sp>
        <p:nvSpPr>
          <p:cNvPr id="30" name="Stage number 6"/>
          <p:cNvSpPr txBox="1"/>
          <p:nvPr/>
        </p:nvSpPr>
        <p:spPr>
          <a:xfrm>
            <a:off x="548640" y="226314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6</a:t>
            </a:r>
            <a:endParaRPr lang="en-US" sz="1100" dirty="0"/>
          </a:p>
        </p:txBody>
      </p:sp>
      <p:sp>
        <p:nvSpPr>
          <p:cNvPr id="31" name="Stage label 6"/>
          <p:cNvSpPr txBox="1"/>
          <p:nvPr/>
        </p:nvSpPr>
        <p:spPr>
          <a:xfrm>
            <a:off x="896112" y="2130552"/>
            <a:ext cx="987552" cy="539496"/>
          </a:xfrm>
          <a:prstGeom prst="rect">
            <a:avLst/>
          </a:prstGeom>
          <a:noFill/>
          <a:ln/>
        </p:spPr>
        <p:txBody>
          <a:bodyPr wrap="square" lIns="0" tIns="0" rIns="0" bIns="0" rtlCol="0" anchor="ctr"/>
          <a:lstStyle/>
          <a:p>
            <a:pPr indent="0" marL="0">
              <a:buNone/>
            </a:pPr>
            <a:r>
              <a:rPr lang="en-US" sz="1100" b="1" dirty="0">
                <a:solidFill>
                  <a:schemeClr val="bg1"/>
                </a:solidFill>
              </a:rPr>
              <a:t>Reconstruction Error</a:t>
            </a:r>
            <a:endParaRPr lang="en-US" sz="1100" dirty="0"/>
          </a:p>
        </p:txBody>
      </p:sp>
      <p:sp>
        <p:nvSpPr>
          <p:cNvPr id="32" name="Arrow"/>
          <p:cNvSpPr/>
          <p:nvPr/>
        </p:nvSpPr>
        <p:spPr>
          <a:xfrm>
            <a:off x="1947672" y="2400300"/>
            <a:ext cx="173736" cy="0"/>
          </a:xfrm>
          <a:prstGeom prst="line">
            <a:avLst/>
          </a:prstGeom>
          <a:noFill/>
          <a:ln w="19050">
            <a:solidFill>
              <a:schemeClr val="accent1"/>
            </a:solidFill>
            <a:prstDash val="solid"/>
            <a:tailEnd type="triangle"/>
          </a:ln>
        </p:spPr>
      </p:sp>
      <p:sp>
        <p:nvSpPr>
          <p:cNvPr id="33" name="Stage card 7"/>
          <p:cNvSpPr/>
          <p:nvPr/>
        </p:nvSpPr>
        <p:spPr>
          <a:xfrm>
            <a:off x="2148840" y="2103120"/>
            <a:ext cx="1463040" cy="594360"/>
          </a:xfrm>
          <a:prstGeom prst="roundRect">
            <a:avLst>
              <a:gd name="adj" fmla="val 12308"/>
            </a:avLst>
          </a:prstGeom>
          <a:solidFill>
            <a:schemeClr val="tx2"/>
          </a:solidFill>
          <a:ln w="9525">
            <a:solidFill>
              <a:schemeClr val="accent5"/>
            </a:solidFill>
            <a:prstDash val="solid"/>
          </a:ln>
        </p:spPr>
      </p:sp>
      <p:sp>
        <p:nvSpPr>
          <p:cNvPr id="34" name="Stage number circle 7"/>
          <p:cNvSpPr/>
          <p:nvPr/>
        </p:nvSpPr>
        <p:spPr>
          <a:xfrm>
            <a:off x="2240280" y="2263140"/>
            <a:ext cx="274320" cy="274320"/>
          </a:xfrm>
          <a:prstGeom prst="ellipse">
            <a:avLst/>
          </a:prstGeom>
          <a:solidFill>
            <a:schemeClr val="accent1"/>
          </a:solidFill>
          <a:ln w="12700">
            <a:solidFill>
              <a:schemeClr val="accent1"/>
            </a:solidFill>
            <a:prstDash val="solid"/>
          </a:ln>
        </p:spPr>
      </p:sp>
      <p:sp>
        <p:nvSpPr>
          <p:cNvPr id="35" name="Stage number 7"/>
          <p:cNvSpPr txBox="1"/>
          <p:nvPr/>
        </p:nvSpPr>
        <p:spPr>
          <a:xfrm>
            <a:off x="2240280" y="226314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7</a:t>
            </a:r>
            <a:endParaRPr lang="en-US" sz="1100" dirty="0"/>
          </a:p>
        </p:txBody>
      </p:sp>
      <p:sp>
        <p:nvSpPr>
          <p:cNvPr id="36" name="Stage label 7"/>
          <p:cNvSpPr txBox="1"/>
          <p:nvPr/>
        </p:nvSpPr>
        <p:spPr>
          <a:xfrm>
            <a:off x="2587752" y="2130552"/>
            <a:ext cx="987552" cy="539496"/>
          </a:xfrm>
          <a:prstGeom prst="rect">
            <a:avLst/>
          </a:prstGeom>
          <a:noFill/>
          <a:ln/>
        </p:spPr>
        <p:txBody>
          <a:bodyPr wrap="square" lIns="0" tIns="0" rIns="0" bIns="0" rtlCol="0" anchor="ctr"/>
          <a:lstStyle/>
          <a:p>
            <a:pPr indent="0" marL="0">
              <a:buNone/>
            </a:pPr>
            <a:r>
              <a:rPr lang="en-US" sz="1100" b="1" dirty="0">
                <a:solidFill>
                  <a:schemeClr val="bg1"/>
                </a:solidFill>
              </a:rPr>
              <a:t>Threshold Selection</a:t>
            </a:r>
            <a:endParaRPr lang="en-US" sz="1100" dirty="0"/>
          </a:p>
        </p:txBody>
      </p:sp>
      <p:sp>
        <p:nvSpPr>
          <p:cNvPr id="37" name="Arrow"/>
          <p:cNvSpPr/>
          <p:nvPr/>
        </p:nvSpPr>
        <p:spPr>
          <a:xfrm>
            <a:off x="3639312" y="2400300"/>
            <a:ext cx="173736" cy="0"/>
          </a:xfrm>
          <a:prstGeom prst="line">
            <a:avLst/>
          </a:prstGeom>
          <a:noFill/>
          <a:ln w="19050">
            <a:solidFill>
              <a:schemeClr val="accent1"/>
            </a:solidFill>
            <a:prstDash val="solid"/>
            <a:tailEnd type="triangle"/>
          </a:ln>
        </p:spPr>
      </p:sp>
      <p:sp>
        <p:nvSpPr>
          <p:cNvPr id="38" name="Stage card 8"/>
          <p:cNvSpPr/>
          <p:nvPr/>
        </p:nvSpPr>
        <p:spPr>
          <a:xfrm>
            <a:off x="3840480" y="2103120"/>
            <a:ext cx="1463040" cy="594360"/>
          </a:xfrm>
          <a:prstGeom prst="roundRect">
            <a:avLst>
              <a:gd name="adj" fmla="val 12308"/>
            </a:avLst>
          </a:prstGeom>
          <a:solidFill>
            <a:schemeClr val="tx2"/>
          </a:solidFill>
          <a:ln w="9525">
            <a:solidFill>
              <a:schemeClr val="accent5"/>
            </a:solidFill>
            <a:prstDash val="solid"/>
          </a:ln>
        </p:spPr>
      </p:sp>
      <p:sp>
        <p:nvSpPr>
          <p:cNvPr id="39" name="Stage number circle 8"/>
          <p:cNvSpPr/>
          <p:nvPr/>
        </p:nvSpPr>
        <p:spPr>
          <a:xfrm>
            <a:off x="3931920" y="2263140"/>
            <a:ext cx="274320" cy="274320"/>
          </a:xfrm>
          <a:prstGeom prst="ellipse">
            <a:avLst/>
          </a:prstGeom>
          <a:solidFill>
            <a:schemeClr val="accent1"/>
          </a:solidFill>
          <a:ln w="12700">
            <a:solidFill>
              <a:schemeClr val="accent1"/>
            </a:solidFill>
            <a:prstDash val="solid"/>
          </a:ln>
        </p:spPr>
      </p:sp>
      <p:sp>
        <p:nvSpPr>
          <p:cNvPr id="40" name="Stage number 8"/>
          <p:cNvSpPr txBox="1"/>
          <p:nvPr/>
        </p:nvSpPr>
        <p:spPr>
          <a:xfrm>
            <a:off x="3931920" y="226314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8</a:t>
            </a:r>
            <a:endParaRPr lang="en-US" sz="1100" dirty="0"/>
          </a:p>
        </p:txBody>
      </p:sp>
      <p:sp>
        <p:nvSpPr>
          <p:cNvPr id="41" name="Stage label 8"/>
          <p:cNvSpPr txBox="1"/>
          <p:nvPr/>
        </p:nvSpPr>
        <p:spPr>
          <a:xfrm>
            <a:off x="4279392" y="2130552"/>
            <a:ext cx="987552" cy="539496"/>
          </a:xfrm>
          <a:prstGeom prst="rect">
            <a:avLst/>
          </a:prstGeom>
          <a:noFill/>
          <a:ln/>
        </p:spPr>
        <p:txBody>
          <a:bodyPr wrap="square" lIns="0" tIns="0" rIns="0" bIns="0" rtlCol="0" anchor="ctr"/>
          <a:lstStyle/>
          <a:p>
            <a:pPr indent="0" marL="0">
              <a:buNone/>
            </a:pPr>
            <a:r>
              <a:rPr lang="en-US" sz="1100" b="1" dirty="0">
                <a:solidFill>
                  <a:schemeClr val="bg1"/>
                </a:solidFill>
              </a:rPr>
              <a:t>Anomaly Detection</a:t>
            </a:r>
            <a:endParaRPr lang="en-US" sz="1100" dirty="0"/>
          </a:p>
        </p:txBody>
      </p:sp>
      <p:sp>
        <p:nvSpPr>
          <p:cNvPr id="42" name="Arrow"/>
          <p:cNvSpPr/>
          <p:nvPr/>
        </p:nvSpPr>
        <p:spPr>
          <a:xfrm>
            <a:off x="5330952" y="2400300"/>
            <a:ext cx="173736" cy="0"/>
          </a:xfrm>
          <a:prstGeom prst="line">
            <a:avLst/>
          </a:prstGeom>
          <a:noFill/>
          <a:ln w="19050">
            <a:solidFill>
              <a:schemeClr val="accent1"/>
            </a:solidFill>
            <a:prstDash val="solid"/>
            <a:tailEnd type="triangle"/>
          </a:ln>
        </p:spPr>
      </p:sp>
      <p:sp>
        <p:nvSpPr>
          <p:cNvPr id="43" name="Stage card 9"/>
          <p:cNvSpPr/>
          <p:nvPr/>
        </p:nvSpPr>
        <p:spPr>
          <a:xfrm>
            <a:off x="5532120" y="2103120"/>
            <a:ext cx="1463040" cy="594360"/>
          </a:xfrm>
          <a:prstGeom prst="roundRect">
            <a:avLst>
              <a:gd name="adj" fmla="val 12308"/>
            </a:avLst>
          </a:prstGeom>
          <a:solidFill>
            <a:schemeClr val="accent1">
              <a:alpha val="12000"/>
            </a:schemeClr>
          </a:solidFill>
          <a:ln w="9525">
            <a:solidFill>
              <a:schemeClr val="accent1"/>
            </a:solidFill>
            <a:prstDash val="solid"/>
          </a:ln>
        </p:spPr>
      </p:sp>
      <p:sp>
        <p:nvSpPr>
          <p:cNvPr id="44" name="Stage number circle 9"/>
          <p:cNvSpPr/>
          <p:nvPr/>
        </p:nvSpPr>
        <p:spPr>
          <a:xfrm>
            <a:off x="5623560" y="2263140"/>
            <a:ext cx="274320" cy="274320"/>
          </a:xfrm>
          <a:prstGeom prst="ellipse">
            <a:avLst/>
          </a:prstGeom>
          <a:solidFill>
            <a:schemeClr val="accent1"/>
          </a:solidFill>
          <a:ln w="12700">
            <a:solidFill>
              <a:schemeClr val="accent1"/>
            </a:solidFill>
            <a:prstDash val="solid"/>
          </a:ln>
        </p:spPr>
      </p:sp>
      <p:sp>
        <p:nvSpPr>
          <p:cNvPr id="45" name="Stage number 9"/>
          <p:cNvSpPr txBox="1"/>
          <p:nvPr/>
        </p:nvSpPr>
        <p:spPr>
          <a:xfrm>
            <a:off x="5623560" y="226314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9</a:t>
            </a:r>
            <a:endParaRPr lang="en-US" sz="1100" dirty="0"/>
          </a:p>
        </p:txBody>
      </p:sp>
      <p:sp>
        <p:nvSpPr>
          <p:cNvPr id="46" name="Stage label 9"/>
          <p:cNvSpPr txBox="1"/>
          <p:nvPr/>
        </p:nvSpPr>
        <p:spPr>
          <a:xfrm>
            <a:off x="5971032" y="2130552"/>
            <a:ext cx="987552" cy="539496"/>
          </a:xfrm>
          <a:prstGeom prst="rect">
            <a:avLst/>
          </a:prstGeom>
          <a:noFill/>
          <a:ln/>
        </p:spPr>
        <p:txBody>
          <a:bodyPr wrap="square" lIns="0" tIns="0" rIns="0" bIns="0" rtlCol="0" anchor="ctr"/>
          <a:lstStyle/>
          <a:p>
            <a:pPr indent="0" marL="0">
              <a:buNone/>
            </a:pPr>
            <a:r>
              <a:rPr lang="en-US" sz="1100" b="1" dirty="0">
                <a:solidFill>
                  <a:schemeClr val="bg1"/>
                </a:solidFill>
              </a:rPr>
              <a:t>Visualization / Dashboard</a:t>
            </a:r>
            <a:endParaRPr lang="en-US" sz="1100" dirty="0"/>
          </a:p>
        </p:txBody>
      </p:sp>
      <p:sp>
        <p:nvSpPr>
          <p:cNvPr id="47" name="Elbow 1"/>
          <p:cNvSpPr/>
          <p:nvPr/>
        </p:nvSpPr>
        <p:spPr>
          <a:xfrm>
            <a:off x="7955280" y="1828800"/>
            <a:ext cx="0" cy="137160"/>
          </a:xfrm>
          <a:prstGeom prst="line">
            <a:avLst/>
          </a:prstGeom>
          <a:noFill/>
          <a:ln w="19050">
            <a:solidFill>
              <a:schemeClr val="accent1"/>
            </a:solidFill>
            <a:prstDash val="solid"/>
          </a:ln>
        </p:spPr>
      </p:sp>
      <p:sp>
        <p:nvSpPr>
          <p:cNvPr id="48" name="Elbow 2"/>
          <p:cNvSpPr/>
          <p:nvPr/>
        </p:nvSpPr>
        <p:spPr>
          <a:xfrm>
            <a:off x="1188720" y="1965960"/>
            <a:ext cx="6766560" cy="0"/>
          </a:xfrm>
          <a:prstGeom prst="line">
            <a:avLst/>
          </a:prstGeom>
          <a:noFill/>
          <a:ln w="19050">
            <a:solidFill>
              <a:schemeClr val="accent1"/>
            </a:solidFill>
            <a:prstDash val="solid"/>
          </a:ln>
        </p:spPr>
      </p:sp>
      <p:sp>
        <p:nvSpPr>
          <p:cNvPr id="49" name="Arrow"/>
          <p:cNvSpPr/>
          <p:nvPr/>
        </p:nvSpPr>
        <p:spPr>
          <a:xfrm>
            <a:off x="1188720" y="1965960"/>
            <a:ext cx="0" cy="137160"/>
          </a:xfrm>
          <a:prstGeom prst="line">
            <a:avLst/>
          </a:prstGeom>
          <a:noFill/>
          <a:ln w="19050">
            <a:solidFill>
              <a:schemeClr val="accent1"/>
            </a:solidFill>
            <a:prstDash val="solid"/>
            <a:tailEnd type="triangle"/>
          </a:ln>
        </p:spPr>
      </p:sp>
      <p:sp>
        <p:nvSpPr>
          <p:cNvPr id="50" name="Training note"/>
          <p:cNvSpPr/>
          <p:nvPr/>
        </p:nvSpPr>
        <p:spPr>
          <a:xfrm>
            <a:off x="7223760" y="2103120"/>
            <a:ext cx="1463040" cy="594360"/>
          </a:xfrm>
          <a:prstGeom prst="roundRect">
            <a:avLst>
              <a:gd name="adj" fmla="val 12308"/>
            </a:avLst>
          </a:prstGeom>
          <a:solidFill>
            <a:schemeClr val="tx1"/>
          </a:solidFill>
          <a:ln w="9525">
            <a:solidFill>
              <a:schemeClr val="accent5"/>
            </a:solidFill>
            <a:prstDash val="dash"/>
          </a:ln>
        </p:spPr>
      </p:sp>
      <p:sp>
        <p:nvSpPr>
          <p:cNvPr id="51" name="Training note text"/>
          <p:cNvSpPr txBox="1"/>
          <p:nvPr/>
        </p:nvSpPr>
        <p:spPr>
          <a:xfrm>
            <a:off x="7296912" y="2103120"/>
            <a:ext cx="1325880" cy="594360"/>
          </a:xfrm>
          <a:prstGeom prst="rect">
            <a:avLst/>
          </a:prstGeom>
          <a:noFill/>
          <a:ln/>
        </p:spPr>
        <p:txBody>
          <a:bodyPr wrap="square" lIns="0" tIns="0" rIns="0" bIns="0" rtlCol="0" anchor="ctr"/>
          <a:lstStyle/>
          <a:p>
            <a:pPr indent="0" marL="0">
              <a:buNone/>
            </a:pPr>
            <a:r>
              <a:rPr lang="en-US" sz="1000" i="1" dirty="0">
                <a:solidFill>
                  <a:schemeClr val="bg2"/>
                </a:solidFill>
              </a:rPr>
              <a:t>Planned: train on normal-behavior windows</a:t>
            </a:r>
            <a:endParaRPr lang="en-US" sz="1000" dirty="0"/>
          </a:p>
        </p:txBody>
      </p:sp>
      <p:sp>
        <p:nvSpPr>
          <p:cNvPr id="52" name="Evaluation card"/>
          <p:cNvSpPr/>
          <p:nvPr/>
        </p:nvSpPr>
        <p:spPr>
          <a:xfrm>
            <a:off x="457200" y="2926080"/>
            <a:ext cx="4023360" cy="1737360"/>
          </a:xfrm>
          <a:prstGeom prst="roundRect">
            <a:avLst>
              <a:gd name="adj" fmla="val 4211"/>
            </a:avLst>
          </a:prstGeom>
          <a:solidFill>
            <a:schemeClr val="tx2"/>
          </a:solidFill>
          <a:ln w="9525">
            <a:solidFill>
              <a:schemeClr val="accent5"/>
            </a:solidFill>
            <a:prstDash val="solid"/>
          </a:ln>
        </p:spPr>
      </p:sp>
      <p:sp>
        <p:nvSpPr>
          <p:cNvPr id="53" name="Evaluation circle"/>
          <p:cNvSpPr/>
          <p:nvPr/>
        </p:nvSpPr>
        <p:spPr>
          <a:xfrm>
            <a:off x="603504" y="3026664"/>
            <a:ext cx="347472" cy="347472"/>
          </a:xfrm>
          <a:prstGeom prst="ellipse">
            <a:avLst/>
          </a:prstGeom>
          <a:solidFill>
            <a:schemeClr val="accent1">
              <a:alpha val="18000"/>
            </a:schemeClr>
          </a:solidFill>
          <a:ln w="9525">
            <a:solidFill>
              <a:schemeClr val="accent1"/>
            </a:solidFill>
            <a:prstDash val="solid"/>
          </a:ln>
        </p:spPr>
      </p:sp>
      <p:pic>
        <p:nvPicPr>
          <p:cNvPr id="54" name="Image 0" descr="Evaluation">    </p:cNvPr>
          <p:cNvPicPr>
            <a:picLocks noChangeAspect="1"/>
          </p:cNvPicPr>
          <p:nvPr/>
        </p:nvPicPr>
        <p:blipFill>
          <a:blip r:embed="rId1"/>
          <a:stretch>
            <a:fillRect/>
          </a:stretch>
        </p:blipFill>
        <p:spPr>
          <a:xfrm>
            <a:off x="686897" y="3110057"/>
            <a:ext cx="180685" cy="180685"/>
          </a:xfrm>
          <a:prstGeom prst="rect">
            <a:avLst/>
          </a:prstGeom>
        </p:spPr>
      </p:pic>
      <p:sp>
        <p:nvSpPr>
          <p:cNvPr id="55" name="Evaluation header"/>
          <p:cNvSpPr txBox="1"/>
          <p:nvPr/>
        </p:nvSpPr>
        <p:spPr>
          <a:xfrm>
            <a:off x="1097280" y="3063240"/>
            <a:ext cx="3108960" cy="274320"/>
          </a:xfrm>
          <a:prstGeom prst="rect">
            <a:avLst/>
          </a:prstGeom>
          <a:noFill/>
          <a:ln/>
        </p:spPr>
        <p:txBody>
          <a:bodyPr wrap="square" lIns="0" tIns="0" rIns="0" bIns="0" rtlCol="0" anchor="ctr"/>
          <a:lstStyle/>
          <a:p>
            <a:pPr indent="0" marL="0">
              <a:buNone/>
            </a:pPr>
            <a:r>
              <a:rPr lang="en-US" sz="1300" b="1" spc="100" kern="0" dirty="0">
                <a:solidFill>
                  <a:schemeClr val="accent1"/>
                </a:solidFill>
              </a:rPr>
              <a:t>PLANNED EVALUATION</a:t>
            </a:r>
            <a:endParaRPr lang="en-US" sz="1300" dirty="0"/>
          </a:p>
        </p:txBody>
      </p:sp>
      <p:sp>
        <p:nvSpPr>
          <p:cNvPr id="56" name="Evaluation bullets"/>
          <p:cNvSpPr txBox="1"/>
          <p:nvPr/>
        </p:nvSpPr>
        <p:spPr>
          <a:xfrm>
            <a:off x="685800" y="3474720"/>
            <a:ext cx="3657600" cy="114300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bg1"/>
                </a:solidFill>
              </a:rPr>
              <a:t>Compare normal vs anomalous behavior</a:t>
            </a:r>
            <a:endParaRPr lang="en-US" sz="1400" dirty="0"/>
          </a:p>
          <a:p>
            <a:pPr marL="342900" indent="-342900">
              <a:spcAft>
                <a:spcPts val="200"/>
              </a:spcAft>
              <a:buSzPct val="100000"/>
              <a:buChar char="•"/>
            </a:pPr>
            <a:r>
              <a:rPr lang="en-US" sz="1400" dirty="0">
                <a:solidFill>
                  <a:schemeClr val="bg1"/>
                </a:solidFill>
              </a:rPr>
              <a:t>Analyze anomaly scores</a:t>
            </a:r>
            <a:endParaRPr lang="en-US" sz="1400" dirty="0"/>
          </a:p>
          <a:p>
            <a:pPr marL="342900" indent="-342900">
              <a:spcAft>
                <a:spcPts val="200"/>
              </a:spcAft>
              <a:buSzPct val="100000"/>
              <a:buChar char="•"/>
            </a:pPr>
            <a:r>
              <a:rPr lang="en-US" sz="1400" dirty="0">
                <a:solidFill>
                  <a:schemeClr val="bg1"/>
                </a:solidFill>
              </a:rPr>
              <a:t>Measure detection with suitable metrics</a:t>
            </a:r>
            <a:endParaRPr lang="en-US" sz="1400" dirty="0"/>
          </a:p>
          <a:p>
            <a:pPr marL="342900" indent="-342900">
              <a:buSzPct val="100000"/>
              <a:buChar char="•"/>
            </a:pPr>
            <a:r>
              <a:rPr lang="en-US" sz="1400" dirty="0">
                <a:solidFill>
                  <a:schemeClr val="bg1"/>
                </a:solidFill>
              </a:rPr>
              <a:t>Compare with a baseline such as Isolation Forest or a basic Autoencoder</a:t>
            </a:r>
            <a:endParaRPr lang="en-US" sz="1400" dirty="0"/>
          </a:p>
        </p:txBody>
      </p:sp>
      <p:sp>
        <p:nvSpPr>
          <p:cNvPr id="57" name="Output card"/>
          <p:cNvSpPr/>
          <p:nvPr/>
        </p:nvSpPr>
        <p:spPr>
          <a:xfrm>
            <a:off x="4663440" y="2926080"/>
            <a:ext cx="4023360" cy="1737360"/>
          </a:xfrm>
          <a:prstGeom prst="roundRect">
            <a:avLst>
              <a:gd name="adj" fmla="val 4211"/>
            </a:avLst>
          </a:prstGeom>
          <a:solidFill>
            <a:schemeClr val="tx2"/>
          </a:solidFill>
          <a:ln w="9525">
            <a:solidFill>
              <a:schemeClr val="accent5"/>
            </a:solidFill>
            <a:prstDash val="solid"/>
          </a:ln>
        </p:spPr>
      </p:sp>
      <p:sp>
        <p:nvSpPr>
          <p:cNvPr id="58" name="Expected output circle"/>
          <p:cNvSpPr/>
          <p:nvPr/>
        </p:nvSpPr>
        <p:spPr>
          <a:xfrm>
            <a:off x="4809744" y="3026664"/>
            <a:ext cx="347472" cy="347472"/>
          </a:xfrm>
          <a:prstGeom prst="ellipse">
            <a:avLst/>
          </a:prstGeom>
          <a:solidFill>
            <a:schemeClr val="accent3">
              <a:alpha val="18000"/>
            </a:schemeClr>
          </a:solidFill>
          <a:ln w="9525">
            <a:solidFill>
              <a:schemeClr val="accent3"/>
            </a:solidFill>
            <a:prstDash val="solid"/>
          </a:ln>
        </p:spPr>
      </p:sp>
      <p:pic>
        <p:nvPicPr>
          <p:cNvPr id="59" name="Image 1" descr="Expected output">    </p:cNvPr>
          <p:cNvPicPr>
            <a:picLocks noChangeAspect="1"/>
          </p:cNvPicPr>
          <p:nvPr/>
        </p:nvPicPr>
        <p:blipFill>
          <a:blip r:embed="rId2"/>
          <a:stretch>
            <a:fillRect/>
          </a:stretch>
        </p:blipFill>
        <p:spPr>
          <a:xfrm>
            <a:off x="4893137" y="3110057"/>
            <a:ext cx="180685" cy="180685"/>
          </a:xfrm>
          <a:prstGeom prst="rect">
            <a:avLst/>
          </a:prstGeom>
        </p:spPr>
      </p:pic>
      <p:sp>
        <p:nvSpPr>
          <p:cNvPr id="60" name="Output header"/>
          <p:cNvSpPr txBox="1"/>
          <p:nvPr/>
        </p:nvSpPr>
        <p:spPr>
          <a:xfrm>
            <a:off x="5303520" y="3063240"/>
            <a:ext cx="3108960" cy="274320"/>
          </a:xfrm>
          <a:prstGeom prst="rect">
            <a:avLst/>
          </a:prstGeom>
          <a:noFill/>
          <a:ln/>
        </p:spPr>
        <p:txBody>
          <a:bodyPr wrap="square" lIns="0" tIns="0" rIns="0" bIns="0" rtlCol="0" anchor="ctr"/>
          <a:lstStyle/>
          <a:p>
            <a:pPr indent="0" marL="0">
              <a:buNone/>
            </a:pPr>
            <a:r>
              <a:rPr lang="en-US" sz="1300" b="1" spc="100" kern="0" dirty="0">
                <a:solidFill>
                  <a:schemeClr val="accent3"/>
                </a:solidFill>
              </a:rPr>
              <a:t>EXPECTED OUTPUT</a:t>
            </a:r>
            <a:endParaRPr lang="en-US" sz="1300" dirty="0"/>
          </a:p>
        </p:txBody>
      </p:sp>
      <p:sp>
        <p:nvSpPr>
          <p:cNvPr id="61" name="Output bullets"/>
          <p:cNvSpPr txBox="1"/>
          <p:nvPr/>
        </p:nvSpPr>
        <p:spPr>
          <a:xfrm>
            <a:off x="4892040" y="3474720"/>
            <a:ext cx="3657600" cy="114300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bg1"/>
                </a:solidFill>
              </a:rPr>
              <a:t>Anomaly score over time</a:t>
            </a:r>
            <a:endParaRPr lang="en-US" sz="1400" dirty="0"/>
          </a:p>
          <a:p>
            <a:pPr marL="342900" indent="-342900">
              <a:spcAft>
                <a:spcPts val="200"/>
              </a:spcAft>
              <a:buSzPct val="100000"/>
              <a:buChar char="•"/>
            </a:pPr>
            <a:r>
              <a:rPr lang="en-US" sz="1400" dirty="0">
                <a:solidFill>
                  <a:schemeClr val="bg1"/>
                </a:solidFill>
              </a:rPr>
              <a:t>Normal vs anomalous periods</a:t>
            </a:r>
            <a:endParaRPr lang="en-US" sz="1400" dirty="0"/>
          </a:p>
          <a:p>
            <a:pPr marL="342900" indent="-342900">
              <a:spcAft>
                <a:spcPts val="200"/>
              </a:spcAft>
              <a:buSzPct val="100000"/>
              <a:buChar char="•"/>
            </a:pPr>
            <a:r>
              <a:rPr lang="en-US" sz="1400" dirty="0">
                <a:solidFill>
                  <a:schemeClr val="bg1"/>
                </a:solidFill>
              </a:rPr>
              <a:t>Visual alerts for abnormal cooling behavior</a:t>
            </a:r>
            <a:endParaRPr lang="en-US" sz="1400" dirty="0"/>
          </a:p>
          <a:p>
            <a:pPr marL="342900" indent="-342900">
              <a:buSzPct val="100000"/>
              <a:buChar char="•"/>
            </a:pPr>
            <a:r>
              <a:rPr lang="en-US" sz="1400" dirty="0">
                <a:solidFill>
                  <a:schemeClr val="bg1"/>
                </a:solidFill>
              </a:rPr>
              <a:t>Optional interactive dashboard</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2627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457200" y="329184"/>
            <a:ext cx="8229600" cy="228600"/>
          </a:xfrm>
          <a:prstGeom prst="rect">
            <a:avLst/>
          </a:prstGeom>
          <a:noFill/>
          <a:ln/>
        </p:spPr>
        <p:txBody>
          <a:bodyPr wrap="square" lIns="0" tIns="0" rIns="0" bIns="0" rtlCol="0" anchor="t"/>
          <a:lstStyle/>
          <a:p>
            <a:pPr algn="l" indent="0" marL="0">
              <a:buNone/>
            </a:pPr>
            <a:r>
              <a:rPr lang="en-US" sz="1100" b="1" spc="200" kern="0" dirty="0">
                <a:solidFill>
                  <a:schemeClr val="accent1"/>
                </a:solidFill>
              </a:rPr>
              <a:t>07  ·  OUTLOOK</a:t>
            </a:r>
            <a:endParaRPr lang="en-US" sz="1100" dirty="0"/>
          </a:p>
        </p:txBody>
      </p:sp>
      <p:sp>
        <p:nvSpPr>
          <p:cNvPr id="3" name="Text 1"/>
          <p:cNvSpPr/>
          <p:nvPr>
            <p:ph idx="102" type="title" hasCustomPrompt="1"/>
          </p:nvPr>
        </p:nvSpPr>
        <p:spPr>
          <a:xfrm>
            <a:off x="457200" y="566928"/>
            <a:ext cx="8229600" cy="548640"/>
          </a:xfrm>
          <a:prstGeom prst="rect">
            <a:avLst/>
          </a:prstGeom>
          <a:noFill/>
          <a:ln/>
        </p:spPr>
        <p:txBody>
          <a:bodyPr wrap="square" lIns="0" tIns="0" rIns="0" bIns="0" rtlCol="0" anchor="t"/>
          <a:lstStyle/>
          <a:p>
            <a:pPr algn="l" indent="0" marL="0">
              <a:buNone/>
            </a:pPr>
            <a:r>
              <a:rPr lang="en-US" sz="2800" b="1" dirty="0">
                <a:solidFill>
                  <a:schemeClr val="bg1"/>
                </a:solidFill>
              </a:rPr>
              <a:t>Impact, Future Scope &amp; Conclusion</a:t>
            </a:r>
            <a:endParaRPr lang="en-US" sz="2800" dirty="0"/>
          </a:p>
        </p:txBody>
      </p:sp>
      <p:sp>
        <p:nvSpPr>
          <p:cNvPr id="4" name="Impact header"/>
          <p:cNvSpPr txBox="1"/>
          <p:nvPr/>
        </p:nvSpPr>
        <p:spPr>
          <a:xfrm>
            <a:off x="457200" y="1280160"/>
            <a:ext cx="3931920" cy="274320"/>
          </a:xfrm>
          <a:prstGeom prst="rect">
            <a:avLst/>
          </a:prstGeom>
          <a:noFill/>
          <a:ln/>
        </p:spPr>
        <p:txBody>
          <a:bodyPr wrap="square" lIns="0" tIns="0" rIns="0" bIns="0" rtlCol="0" anchor="t"/>
          <a:lstStyle/>
          <a:p>
            <a:pPr indent="0" marL="0">
              <a:buNone/>
            </a:pPr>
            <a:r>
              <a:rPr lang="en-US" sz="1300" b="1" spc="100" kern="0" dirty="0">
                <a:solidFill>
                  <a:schemeClr val="accent1"/>
                </a:solidFill>
              </a:rPr>
              <a:t>EXPECTED IMPACT</a:t>
            </a:r>
            <a:endParaRPr lang="en-US" sz="1300" dirty="0"/>
          </a:p>
        </p:txBody>
      </p:sp>
      <p:sp>
        <p:nvSpPr>
          <p:cNvPr id="5" name="Impact card 1"/>
          <p:cNvSpPr/>
          <p:nvPr/>
        </p:nvSpPr>
        <p:spPr>
          <a:xfrm>
            <a:off x="457200" y="1645920"/>
            <a:ext cx="3977640" cy="475488"/>
          </a:xfrm>
          <a:prstGeom prst="roundRect">
            <a:avLst>
              <a:gd name="adj" fmla="val 15385"/>
            </a:avLst>
          </a:prstGeom>
          <a:solidFill>
            <a:schemeClr val="tx2"/>
          </a:solidFill>
          <a:ln w="9525">
            <a:solidFill>
              <a:schemeClr val="accent5"/>
            </a:solidFill>
            <a:prstDash val="solid"/>
          </a:ln>
        </p:spPr>
      </p:sp>
      <p:sp>
        <p:nvSpPr>
          <p:cNvPr id="6" name="Early identification of abnormal cooling behavior circle"/>
          <p:cNvSpPr/>
          <p:nvPr/>
        </p:nvSpPr>
        <p:spPr>
          <a:xfrm>
            <a:off x="640080" y="1728216"/>
            <a:ext cx="310896" cy="310896"/>
          </a:xfrm>
          <a:prstGeom prst="ellipse">
            <a:avLst/>
          </a:prstGeom>
          <a:solidFill>
            <a:schemeClr val="accent1">
              <a:alpha val="18000"/>
            </a:schemeClr>
          </a:solidFill>
          <a:ln w="9525">
            <a:solidFill>
              <a:schemeClr val="accent1"/>
            </a:solidFill>
            <a:prstDash val="solid"/>
          </a:ln>
        </p:spPr>
      </p:sp>
      <p:pic>
        <p:nvPicPr>
          <p:cNvPr id="7" name="Image 0" descr="Early identification of abnormal cooling behavior">    </p:cNvPr>
          <p:cNvPicPr>
            <a:picLocks noChangeAspect="1"/>
          </p:cNvPicPr>
          <p:nvPr/>
        </p:nvPicPr>
        <p:blipFill>
          <a:blip r:embed="rId1"/>
          <a:stretch>
            <a:fillRect/>
          </a:stretch>
        </p:blipFill>
        <p:spPr>
          <a:xfrm>
            <a:off x="714695" y="1802831"/>
            <a:ext cx="161666" cy="161666"/>
          </a:xfrm>
          <a:prstGeom prst="rect">
            <a:avLst/>
          </a:prstGeom>
        </p:spPr>
      </p:pic>
      <p:sp>
        <p:nvSpPr>
          <p:cNvPr id="8" name="Impact text 1"/>
          <p:cNvSpPr txBox="1"/>
          <p:nvPr/>
        </p:nvSpPr>
        <p:spPr>
          <a:xfrm>
            <a:off x="1097280" y="1645920"/>
            <a:ext cx="3246120" cy="475488"/>
          </a:xfrm>
          <a:prstGeom prst="rect">
            <a:avLst/>
          </a:prstGeom>
          <a:noFill/>
          <a:ln/>
        </p:spPr>
        <p:txBody>
          <a:bodyPr wrap="square" lIns="0" tIns="0" rIns="0" bIns="0" rtlCol="0" anchor="ctr"/>
          <a:lstStyle/>
          <a:p>
            <a:pPr indent="0" marL="0">
              <a:buNone/>
            </a:pPr>
            <a:r>
              <a:rPr lang="en-US" sz="1400" dirty="0">
                <a:solidFill>
                  <a:schemeClr val="bg1"/>
                </a:solidFill>
              </a:rPr>
              <a:t>Early identification of abnormal cooling behavior</a:t>
            </a:r>
            <a:endParaRPr lang="en-US" sz="1400" dirty="0"/>
          </a:p>
        </p:txBody>
      </p:sp>
      <p:sp>
        <p:nvSpPr>
          <p:cNvPr id="9" name="Impact card 2"/>
          <p:cNvSpPr/>
          <p:nvPr/>
        </p:nvSpPr>
        <p:spPr>
          <a:xfrm>
            <a:off x="457200" y="2194560"/>
            <a:ext cx="3977640" cy="475488"/>
          </a:xfrm>
          <a:prstGeom prst="roundRect">
            <a:avLst>
              <a:gd name="adj" fmla="val 15385"/>
            </a:avLst>
          </a:prstGeom>
          <a:solidFill>
            <a:schemeClr val="tx2"/>
          </a:solidFill>
          <a:ln w="9525">
            <a:solidFill>
              <a:schemeClr val="accent5"/>
            </a:solidFill>
            <a:prstDash val="solid"/>
          </a:ln>
        </p:spPr>
      </p:sp>
      <p:sp>
        <p:nvSpPr>
          <p:cNvPr id="10" name="Better infrastructure monitoring circle"/>
          <p:cNvSpPr/>
          <p:nvPr/>
        </p:nvSpPr>
        <p:spPr>
          <a:xfrm>
            <a:off x="640080" y="2276856"/>
            <a:ext cx="310896" cy="310896"/>
          </a:xfrm>
          <a:prstGeom prst="ellipse">
            <a:avLst/>
          </a:prstGeom>
          <a:solidFill>
            <a:schemeClr val="accent1">
              <a:alpha val="18000"/>
            </a:schemeClr>
          </a:solidFill>
          <a:ln w="9525">
            <a:solidFill>
              <a:schemeClr val="accent1"/>
            </a:solidFill>
            <a:prstDash val="solid"/>
          </a:ln>
        </p:spPr>
      </p:sp>
      <p:pic>
        <p:nvPicPr>
          <p:cNvPr id="11" name="Image 1" descr="Better infrastructure monitoring">    </p:cNvPr>
          <p:cNvPicPr>
            <a:picLocks noChangeAspect="1"/>
          </p:cNvPicPr>
          <p:nvPr/>
        </p:nvPicPr>
        <p:blipFill>
          <a:blip r:embed="rId2"/>
          <a:stretch>
            <a:fillRect/>
          </a:stretch>
        </p:blipFill>
        <p:spPr>
          <a:xfrm>
            <a:off x="714695" y="2351471"/>
            <a:ext cx="161666" cy="161666"/>
          </a:xfrm>
          <a:prstGeom prst="rect">
            <a:avLst/>
          </a:prstGeom>
        </p:spPr>
      </p:pic>
      <p:sp>
        <p:nvSpPr>
          <p:cNvPr id="12" name="Impact text 2"/>
          <p:cNvSpPr txBox="1"/>
          <p:nvPr/>
        </p:nvSpPr>
        <p:spPr>
          <a:xfrm>
            <a:off x="1097280" y="2194560"/>
            <a:ext cx="3246120" cy="475488"/>
          </a:xfrm>
          <a:prstGeom prst="rect">
            <a:avLst/>
          </a:prstGeom>
          <a:noFill/>
          <a:ln/>
        </p:spPr>
        <p:txBody>
          <a:bodyPr wrap="square" lIns="0" tIns="0" rIns="0" bIns="0" rtlCol="0" anchor="ctr"/>
          <a:lstStyle/>
          <a:p>
            <a:pPr indent="0" marL="0">
              <a:buNone/>
            </a:pPr>
            <a:r>
              <a:rPr lang="en-US" sz="1400" dirty="0">
                <a:solidFill>
                  <a:schemeClr val="bg1"/>
                </a:solidFill>
              </a:rPr>
              <a:t>Better infrastructure monitoring</a:t>
            </a:r>
            <a:endParaRPr lang="en-US" sz="1400" dirty="0"/>
          </a:p>
        </p:txBody>
      </p:sp>
      <p:sp>
        <p:nvSpPr>
          <p:cNvPr id="13" name="Impact card 3"/>
          <p:cNvSpPr/>
          <p:nvPr/>
        </p:nvSpPr>
        <p:spPr>
          <a:xfrm>
            <a:off x="457200" y="2743200"/>
            <a:ext cx="3977640" cy="475488"/>
          </a:xfrm>
          <a:prstGeom prst="roundRect">
            <a:avLst>
              <a:gd name="adj" fmla="val 15385"/>
            </a:avLst>
          </a:prstGeom>
          <a:solidFill>
            <a:schemeClr val="tx2"/>
          </a:solidFill>
          <a:ln w="9525">
            <a:solidFill>
              <a:schemeClr val="accent5"/>
            </a:solidFill>
            <a:prstDash val="solid"/>
          </a:ln>
        </p:spPr>
      </p:sp>
      <p:sp>
        <p:nvSpPr>
          <p:cNvPr id="14" name="Potential reduction of overheating risk circle"/>
          <p:cNvSpPr/>
          <p:nvPr/>
        </p:nvSpPr>
        <p:spPr>
          <a:xfrm>
            <a:off x="640080" y="2825496"/>
            <a:ext cx="310896" cy="310896"/>
          </a:xfrm>
          <a:prstGeom prst="ellipse">
            <a:avLst/>
          </a:prstGeom>
          <a:solidFill>
            <a:schemeClr val="accent1">
              <a:alpha val="18000"/>
            </a:schemeClr>
          </a:solidFill>
          <a:ln w="9525">
            <a:solidFill>
              <a:schemeClr val="accent1"/>
            </a:solidFill>
            <a:prstDash val="solid"/>
          </a:ln>
        </p:spPr>
      </p:sp>
      <p:pic>
        <p:nvPicPr>
          <p:cNvPr id="15" name="Image 2" descr="Potential reduction of overheating risk">    </p:cNvPr>
          <p:cNvPicPr>
            <a:picLocks noChangeAspect="1"/>
          </p:cNvPicPr>
          <p:nvPr/>
        </p:nvPicPr>
        <p:blipFill>
          <a:blip r:embed="rId3"/>
          <a:stretch>
            <a:fillRect/>
          </a:stretch>
        </p:blipFill>
        <p:spPr>
          <a:xfrm>
            <a:off x="714695" y="2900111"/>
            <a:ext cx="161666" cy="161666"/>
          </a:xfrm>
          <a:prstGeom prst="rect">
            <a:avLst/>
          </a:prstGeom>
        </p:spPr>
      </p:pic>
      <p:sp>
        <p:nvSpPr>
          <p:cNvPr id="16" name="Impact text 3"/>
          <p:cNvSpPr txBox="1"/>
          <p:nvPr/>
        </p:nvSpPr>
        <p:spPr>
          <a:xfrm>
            <a:off x="1097280" y="2743200"/>
            <a:ext cx="3246120" cy="475488"/>
          </a:xfrm>
          <a:prstGeom prst="rect">
            <a:avLst/>
          </a:prstGeom>
          <a:noFill/>
          <a:ln/>
        </p:spPr>
        <p:txBody>
          <a:bodyPr wrap="square" lIns="0" tIns="0" rIns="0" bIns="0" rtlCol="0" anchor="ctr"/>
          <a:lstStyle/>
          <a:p>
            <a:pPr indent="0" marL="0">
              <a:buNone/>
            </a:pPr>
            <a:r>
              <a:rPr lang="en-US" sz="1400" dirty="0">
                <a:solidFill>
                  <a:schemeClr val="bg1"/>
                </a:solidFill>
              </a:rPr>
              <a:t>Potential reduction of overheating risk</a:t>
            </a:r>
            <a:endParaRPr lang="en-US" sz="1400" dirty="0"/>
          </a:p>
        </p:txBody>
      </p:sp>
      <p:sp>
        <p:nvSpPr>
          <p:cNvPr id="17" name="Impact card 4"/>
          <p:cNvSpPr/>
          <p:nvPr/>
        </p:nvSpPr>
        <p:spPr>
          <a:xfrm>
            <a:off x="457200" y="3291840"/>
            <a:ext cx="3977640" cy="475488"/>
          </a:xfrm>
          <a:prstGeom prst="roundRect">
            <a:avLst>
              <a:gd name="adj" fmla="val 15385"/>
            </a:avLst>
          </a:prstGeom>
          <a:solidFill>
            <a:schemeClr val="tx2"/>
          </a:solidFill>
          <a:ln w="9525">
            <a:solidFill>
              <a:schemeClr val="accent5"/>
            </a:solidFill>
            <a:prstDash val="solid"/>
          </a:ln>
        </p:spPr>
      </p:sp>
      <p:sp>
        <p:nvSpPr>
          <p:cNvPr id="18" name="Potential improvement in operational efficiency circle"/>
          <p:cNvSpPr/>
          <p:nvPr/>
        </p:nvSpPr>
        <p:spPr>
          <a:xfrm>
            <a:off x="640080" y="3374136"/>
            <a:ext cx="310896" cy="310896"/>
          </a:xfrm>
          <a:prstGeom prst="ellipse">
            <a:avLst/>
          </a:prstGeom>
          <a:solidFill>
            <a:schemeClr val="accent1">
              <a:alpha val="18000"/>
            </a:schemeClr>
          </a:solidFill>
          <a:ln w="9525">
            <a:solidFill>
              <a:schemeClr val="accent1"/>
            </a:solidFill>
            <a:prstDash val="solid"/>
          </a:ln>
        </p:spPr>
      </p:sp>
      <p:pic>
        <p:nvPicPr>
          <p:cNvPr id="19" name="Image 3" descr="Potential improvement in operational efficiency">    </p:cNvPr>
          <p:cNvPicPr>
            <a:picLocks noChangeAspect="1"/>
          </p:cNvPicPr>
          <p:nvPr/>
        </p:nvPicPr>
        <p:blipFill>
          <a:blip r:embed="rId4"/>
          <a:stretch>
            <a:fillRect/>
          </a:stretch>
        </p:blipFill>
        <p:spPr>
          <a:xfrm>
            <a:off x="714695" y="3448751"/>
            <a:ext cx="161666" cy="161666"/>
          </a:xfrm>
          <a:prstGeom prst="rect">
            <a:avLst/>
          </a:prstGeom>
        </p:spPr>
      </p:pic>
      <p:sp>
        <p:nvSpPr>
          <p:cNvPr id="20" name="Impact text 4"/>
          <p:cNvSpPr txBox="1"/>
          <p:nvPr/>
        </p:nvSpPr>
        <p:spPr>
          <a:xfrm>
            <a:off x="1097280" y="3291840"/>
            <a:ext cx="3246120" cy="475488"/>
          </a:xfrm>
          <a:prstGeom prst="rect">
            <a:avLst/>
          </a:prstGeom>
          <a:noFill/>
          <a:ln/>
        </p:spPr>
        <p:txBody>
          <a:bodyPr wrap="square" lIns="0" tIns="0" rIns="0" bIns="0" rtlCol="0" anchor="ctr"/>
          <a:lstStyle/>
          <a:p>
            <a:pPr indent="0" marL="0">
              <a:buNone/>
            </a:pPr>
            <a:r>
              <a:rPr lang="en-US" sz="1400" dirty="0">
                <a:solidFill>
                  <a:schemeClr val="bg1"/>
                </a:solidFill>
              </a:rPr>
              <a:t>Potential improvement in operational efficiency</a:t>
            </a:r>
            <a:endParaRPr lang="en-US" sz="1400" dirty="0"/>
          </a:p>
        </p:txBody>
      </p:sp>
      <p:sp>
        <p:nvSpPr>
          <p:cNvPr id="21" name="Future header"/>
          <p:cNvSpPr txBox="1"/>
          <p:nvPr/>
        </p:nvSpPr>
        <p:spPr>
          <a:xfrm>
            <a:off x="4709160" y="1280160"/>
            <a:ext cx="3931920" cy="274320"/>
          </a:xfrm>
          <a:prstGeom prst="rect">
            <a:avLst/>
          </a:prstGeom>
          <a:noFill/>
          <a:ln/>
        </p:spPr>
        <p:txBody>
          <a:bodyPr wrap="square" lIns="0" tIns="0" rIns="0" bIns="0" rtlCol="0" anchor="t"/>
          <a:lstStyle/>
          <a:p>
            <a:pPr indent="0" marL="0">
              <a:buNone/>
            </a:pPr>
            <a:r>
              <a:rPr lang="en-US" sz="1300" b="1" spc="100" kern="0" dirty="0">
                <a:solidFill>
                  <a:schemeClr val="accent3"/>
                </a:solidFill>
              </a:rPr>
              <a:t>FUTURE SCOPE</a:t>
            </a:r>
            <a:endParaRPr lang="en-US" sz="1300" dirty="0"/>
          </a:p>
        </p:txBody>
      </p:sp>
      <p:sp>
        <p:nvSpPr>
          <p:cNvPr id="22" name="Roadmap line"/>
          <p:cNvSpPr/>
          <p:nvPr/>
        </p:nvSpPr>
        <p:spPr>
          <a:xfrm>
            <a:off x="4919472" y="1874520"/>
            <a:ext cx="0" cy="1755648"/>
          </a:xfrm>
          <a:prstGeom prst="line">
            <a:avLst/>
          </a:prstGeom>
          <a:noFill/>
          <a:ln w="19050">
            <a:solidFill>
              <a:schemeClr val="accent1"/>
            </a:solidFill>
            <a:prstDash val="solid"/>
          </a:ln>
        </p:spPr>
      </p:sp>
      <p:sp>
        <p:nvSpPr>
          <p:cNvPr id="23" name="Roadmap dot 1"/>
          <p:cNvSpPr/>
          <p:nvPr/>
        </p:nvSpPr>
        <p:spPr>
          <a:xfrm>
            <a:off x="4846320" y="1801368"/>
            <a:ext cx="146304" cy="146304"/>
          </a:xfrm>
          <a:prstGeom prst="ellipse">
            <a:avLst/>
          </a:prstGeom>
          <a:solidFill>
            <a:schemeClr val="accent3"/>
          </a:solidFill>
          <a:ln w="12700">
            <a:solidFill>
              <a:schemeClr val="accent3"/>
            </a:solidFill>
            <a:prstDash val="solid"/>
          </a:ln>
        </p:spPr>
      </p:sp>
      <p:sp>
        <p:nvSpPr>
          <p:cNvPr id="24" name="Future text 1"/>
          <p:cNvSpPr txBox="1"/>
          <p:nvPr/>
        </p:nvSpPr>
        <p:spPr>
          <a:xfrm>
            <a:off x="5212080" y="1655064"/>
            <a:ext cx="3474720" cy="438912"/>
          </a:xfrm>
          <a:prstGeom prst="rect">
            <a:avLst/>
          </a:prstGeom>
          <a:noFill/>
          <a:ln/>
        </p:spPr>
        <p:txBody>
          <a:bodyPr wrap="square" lIns="0" tIns="0" rIns="0" bIns="0" rtlCol="0" anchor="ctr"/>
          <a:lstStyle/>
          <a:p>
            <a:pPr indent="0" marL="0">
              <a:buNone/>
            </a:pPr>
            <a:r>
              <a:rPr lang="en-US" sz="1400" dirty="0">
                <a:solidFill>
                  <a:schemeClr val="bg1"/>
                </a:solidFill>
              </a:rPr>
              <a:t>Real-time telemetry integration</a:t>
            </a:r>
            <a:endParaRPr lang="en-US" sz="1400" dirty="0"/>
          </a:p>
        </p:txBody>
      </p:sp>
      <p:sp>
        <p:nvSpPr>
          <p:cNvPr id="25" name="Roadmap dot 2"/>
          <p:cNvSpPr/>
          <p:nvPr/>
        </p:nvSpPr>
        <p:spPr>
          <a:xfrm>
            <a:off x="4846320" y="2240280"/>
            <a:ext cx="146304" cy="146304"/>
          </a:xfrm>
          <a:prstGeom prst="ellipse">
            <a:avLst/>
          </a:prstGeom>
          <a:solidFill>
            <a:schemeClr val="accent3"/>
          </a:solidFill>
          <a:ln w="12700">
            <a:solidFill>
              <a:schemeClr val="accent3"/>
            </a:solidFill>
            <a:prstDash val="solid"/>
          </a:ln>
        </p:spPr>
      </p:sp>
      <p:sp>
        <p:nvSpPr>
          <p:cNvPr id="26" name="Future text 2"/>
          <p:cNvSpPr txBox="1"/>
          <p:nvPr/>
        </p:nvSpPr>
        <p:spPr>
          <a:xfrm>
            <a:off x="5212080" y="2093976"/>
            <a:ext cx="3474720" cy="438912"/>
          </a:xfrm>
          <a:prstGeom prst="rect">
            <a:avLst/>
          </a:prstGeom>
          <a:noFill/>
          <a:ln/>
        </p:spPr>
        <p:txBody>
          <a:bodyPr wrap="square" lIns="0" tIns="0" rIns="0" bIns="0" rtlCol="0" anchor="ctr"/>
          <a:lstStyle/>
          <a:p>
            <a:pPr indent="0" marL="0">
              <a:buNone/>
            </a:pPr>
            <a:r>
              <a:rPr lang="en-US" sz="1400" dirty="0">
                <a:solidFill>
                  <a:schemeClr val="bg1"/>
                </a:solidFill>
              </a:rPr>
              <a:t>Anomaly localization</a:t>
            </a:r>
            <a:endParaRPr lang="en-US" sz="1400" dirty="0"/>
          </a:p>
        </p:txBody>
      </p:sp>
      <p:sp>
        <p:nvSpPr>
          <p:cNvPr id="27" name="Roadmap dot 3"/>
          <p:cNvSpPr/>
          <p:nvPr/>
        </p:nvSpPr>
        <p:spPr>
          <a:xfrm>
            <a:off x="4846320" y="2679192"/>
            <a:ext cx="146304" cy="146304"/>
          </a:xfrm>
          <a:prstGeom prst="ellipse">
            <a:avLst/>
          </a:prstGeom>
          <a:solidFill>
            <a:schemeClr val="accent3"/>
          </a:solidFill>
          <a:ln w="12700">
            <a:solidFill>
              <a:schemeClr val="accent3"/>
            </a:solidFill>
            <a:prstDash val="solid"/>
          </a:ln>
        </p:spPr>
      </p:sp>
      <p:sp>
        <p:nvSpPr>
          <p:cNvPr id="28" name="Future text 3"/>
          <p:cNvSpPr txBox="1"/>
          <p:nvPr/>
        </p:nvSpPr>
        <p:spPr>
          <a:xfrm>
            <a:off x="5212080" y="2532888"/>
            <a:ext cx="3474720" cy="438912"/>
          </a:xfrm>
          <a:prstGeom prst="rect">
            <a:avLst/>
          </a:prstGeom>
          <a:noFill/>
          <a:ln/>
        </p:spPr>
        <p:txBody>
          <a:bodyPr wrap="square" lIns="0" tIns="0" rIns="0" bIns="0" rtlCol="0" anchor="ctr"/>
          <a:lstStyle/>
          <a:p>
            <a:pPr indent="0" marL="0">
              <a:buNone/>
            </a:pPr>
            <a:r>
              <a:rPr lang="en-US" sz="1400" dirty="0">
                <a:solidFill>
                  <a:schemeClr val="bg1"/>
                </a:solidFill>
              </a:rPr>
              <a:t>Predictive maintenance</a:t>
            </a:r>
            <a:endParaRPr lang="en-US" sz="1400" dirty="0"/>
          </a:p>
        </p:txBody>
      </p:sp>
      <p:sp>
        <p:nvSpPr>
          <p:cNvPr id="29" name="Roadmap dot 4"/>
          <p:cNvSpPr/>
          <p:nvPr/>
        </p:nvSpPr>
        <p:spPr>
          <a:xfrm>
            <a:off x="4846320" y="3118104"/>
            <a:ext cx="146304" cy="146304"/>
          </a:xfrm>
          <a:prstGeom prst="ellipse">
            <a:avLst/>
          </a:prstGeom>
          <a:solidFill>
            <a:schemeClr val="accent3"/>
          </a:solidFill>
          <a:ln w="12700">
            <a:solidFill>
              <a:schemeClr val="accent3"/>
            </a:solidFill>
            <a:prstDash val="solid"/>
          </a:ln>
        </p:spPr>
      </p:sp>
      <p:sp>
        <p:nvSpPr>
          <p:cNvPr id="30" name="Future text 4"/>
          <p:cNvSpPr txBox="1"/>
          <p:nvPr/>
        </p:nvSpPr>
        <p:spPr>
          <a:xfrm>
            <a:off x="5212080" y="2971800"/>
            <a:ext cx="3474720" cy="438912"/>
          </a:xfrm>
          <a:prstGeom prst="rect">
            <a:avLst/>
          </a:prstGeom>
          <a:noFill/>
          <a:ln/>
        </p:spPr>
        <p:txBody>
          <a:bodyPr wrap="square" lIns="0" tIns="0" rIns="0" bIns="0" rtlCol="0" anchor="ctr"/>
          <a:lstStyle/>
          <a:p>
            <a:pPr indent="0" marL="0">
              <a:buNone/>
            </a:pPr>
            <a:r>
              <a:rPr lang="en-US" sz="1400" dirty="0">
                <a:solidFill>
                  <a:schemeClr val="bg1"/>
                </a:solidFill>
              </a:rPr>
              <a:t>Advanced models such as GRU / Transformer</a:t>
            </a:r>
            <a:endParaRPr lang="en-US" sz="1400" dirty="0"/>
          </a:p>
        </p:txBody>
      </p:sp>
      <p:sp>
        <p:nvSpPr>
          <p:cNvPr id="31" name="Roadmap dot 5"/>
          <p:cNvSpPr/>
          <p:nvPr/>
        </p:nvSpPr>
        <p:spPr>
          <a:xfrm>
            <a:off x="4846320" y="3557016"/>
            <a:ext cx="146304" cy="146304"/>
          </a:xfrm>
          <a:prstGeom prst="ellipse">
            <a:avLst/>
          </a:prstGeom>
          <a:solidFill>
            <a:schemeClr val="accent3"/>
          </a:solidFill>
          <a:ln w="12700">
            <a:solidFill>
              <a:schemeClr val="accent3"/>
            </a:solidFill>
            <a:prstDash val="solid"/>
          </a:ln>
        </p:spPr>
      </p:sp>
      <p:sp>
        <p:nvSpPr>
          <p:cNvPr id="32" name="Future text 5"/>
          <p:cNvSpPr txBox="1"/>
          <p:nvPr/>
        </p:nvSpPr>
        <p:spPr>
          <a:xfrm>
            <a:off x="5212080" y="3410712"/>
            <a:ext cx="3474720" cy="438912"/>
          </a:xfrm>
          <a:prstGeom prst="rect">
            <a:avLst/>
          </a:prstGeom>
          <a:noFill/>
          <a:ln/>
        </p:spPr>
        <p:txBody>
          <a:bodyPr wrap="square" lIns="0" tIns="0" rIns="0" bIns="0" rtlCol="0" anchor="ctr"/>
          <a:lstStyle/>
          <a:p>
            <a:pPr indent="0" marL="0">
              <a:buNone/>
            </a:pPr>
            <a:r>
              <a:rPr lang="en-US" sz="1400" dirty="0">
                <a:solidFill>
                  <a:schemeClr val="bg1"/>
                </a:solidFill>
              </a:rPr>
              <a:t>Deployment in real-world data-center monitoring</a:t>
            </a:r>
            <a:endParaRPr lang="en-US" sz="1400" dirty="0"/>
          </a:p>
        </p:txBody>
      </p:sp>
      <p:sp>
        <p:nvSpPr>
          <p:cNvPr id="33" name="Conclusion banner"/>
          <p:cNvSpPr/>
          <p:nvPr/>
        </p:nvSpPr>
        <p:spPr>
          <a:xfrm>
            <a:off x="457200" y="4023360"/>
            <a:ext cx="8229600" cy="685800"/>
          </a:xfrm>
          <a:prstGeom prst="roundRect">
            <a:avLst>
              <a:gd name="adj" fmla="val 10667"/>
            </a:avLst>
          </a:prstGeom>
          <a:solidFill>
            <a:schemeClr val="accent1">
              <a:alpha val="12000"/>
            </a:schemeClr>
          </a:solidFill>
          <a:ln w="9525">
            <a:solidFill>
              <a:schemeClr val="accent1"/>
            </a:solidFill>
            <a:prstDash val="solid"/>
          </a:ln>
        </p:spPr>
      </p:sp>
      <p:sp>
        <p:nvSpPr>
          <p:cNvPr id="34" name="Conclusion circle"/>
          <p:cNvSpPr/>
          <p:nvPr/>
        </p:nvSpPr>
        <p:spPr>
          <a:xfrm>
            <a:off x="704088" y="4155948"/>
            <a:ext cx="420624" cy="420624"/>
          </a:xfrm>
          <a:prstGeom prst="ellipse">
            <a:avLst/>
          </a:prstGeom>
          <a:solidFill>
            <a:schemeClr val="accent1">
              <a:alpha val="18000"/>
            </a:schemeClr>
          </a:solidFill>
          <a:ln w="9525">
            <a:solidFill>
              <a:schemeClr val="accent1"/>
            </a:solidFill>
            <a:prstDash val="solid"/>
          </a:ln>
        </p:spPr>
      </p:sp>
      <p:pic>
        <p:nvPicPr>
          <p:cNvPr id="35" name="Image 4" descr="Conclusion">    </p:cNvPr>
          <p:cNvPicPr>
            <a:picLocks noChangeAspect="1"/>
          </p:cNvPicPr>
          <p:nvPr/>
        </p:nvPicPr>
        <p:blipFill>
          <a:blip r:embed="rId5"/>
          <a:stretch>
            <a:fillRect/>
          </a:stretch>
        </p:blipFill>
        <p:spPr>
          <a:xfrm>
            <a:off x="805038" y="4256898"/>
            <a:ext cx="218724" cy="218724"/>
          </a:xfrm>
          <a:prstGeom prst="rect">
            <a:avLst/>
          </a:prstGeom>
        </p:spPr>
      </p:pic>
      <p:sp>
        <p:nvSpPr>
          <p:cNvPr id="36" name="Conclusion text"/>
          <p:cNvSpPr txBox="1"/>
          <p:nvPr/>
        </p:nvSpPr>
        <p:spPr>
          <a:xfrm>
            <a:off x="1325880" y="4023360"/>
            <a:ext cx="7223760" cy="685800"/>
          </a:xfrm>
          <a:prstGeom prst="rect">
            <a:avLst/>
          </a:prstGeom>
          <a:noFill/>
          <a:ln/>
        </p:spPr>
        <p:txBody>
          <a:bodyPr wrap="square" lIns="0" tIns="0" rIns="0" bIns="0" rtlCol="0" anchor="ctr"/>
          <a:lstStyle/>
          <a:p>
            <a:pPr indent="0" marL="0">
              <a:buNone/>
            </a:pPr>
            <a:r>
              <a:rPr lang="en-US" sz="1400" b="1" dirty="0">
                <a:solidFill>
                  <a:schemeClr val="accent1"/>
                </a:solidFill>
              </a:rPr>
              <a:t>Conclusion: </a:t>
            </a:r>
            <a:pPr indent="0" marL="0">
              <a:buNone/>
            </a:pPr>
            <a:r>
              <a:rPr lang="en-US" sz="1400" dirty="0">
                <a:solidFill>
                  <a:schemeClr val="bg1"/>
                </a:solidFill>
              </a:rPr>
              <a:t>Deep Learning can learn complex temporal relationships in data-center telemetry and provide an intelligent approach to detecting abnormal cooling behavior.</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2627E"/>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DC Cooling Light">
  <a:themeElements>
    <a:clrScheme name="DC Cooling Light">
      <a:dk1>
        <a:srgbClr val="F4F7FB"/>
      </a:dk1>
      <a:lt1>
        <a:srgbClr val="0F1B33"/>
      </a:lt1>
      <a:dk2>
        <a:srgbClr val="FFFFFF"/>
      </a:dk2>
      <a:lt2>
        <a:srgbClr val="52627E"/>
      </a:lt2>
      <a:accent1>
        <a:srgbClr val="0E7490"/>
      </a:accent1>
      <a:accent2>
        <a:srgbClr val="2563EB"/>
      </a:accent2>
      <a:accent3>
        <a:srgbClr val="B45309"/>
      </a:accent3>
      <a:accent4>
        <a:srgbClr val="047857"/>
      </a:accent4>
      <a:accent5>
        <a:srgbClr val="D5DEEB"/>
      </a:accent5>
      <a:accent6>
        <a:srgbClr val="6D28D9"/>
      </a:accent6>
      <a:hlink>
        <a:srgbClr val="0E7490"/>
      </a:hlink>
      <a:folHlink>
        <a:srgbClr val="52627E"/>
      </a:folHlink>
    </a:clrScheme>
    <a:fontScheme name="DC Cooling L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Learning-Based Anomaly Detection in Data Center Cooling Systems</dc:title>
  <dc:subject>PptxGenJS Presentation</dc:subject>
  <dc:creator>Rishabh Srivastava, Mitul Seth, Madhav Mittal</dc:creator>
  <cp:lastModifiedBy>Rishabh Srivastava, Mitul Seth, Madhav Mittal</cp:lastModifiedBy>
  <cp:revision>1</cp:revision>
  <dcterms:created xsi:type="dcterms:W3CDTF">2026-10-07T10:25:33Z</dcterms:created>
  <dcterms:modified xsi:type="dcterms:W3CDTF">2026-10-07T10:25:33Z</dcterms:modified>
</cp:coreProperties>
</file>