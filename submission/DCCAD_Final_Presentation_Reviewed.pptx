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84f7f8239d4af7" /><Relationship Type="http://schemas.openxmlformats.org/officeDocument/2006/relationships/extended-properties" Target="/docProps/app.xml" Id="Rff2fb6a895714a48" /><Relationship Type="http://schemas.openxmlformats.org/officeDocument/2006/relationships/officeDocument" Target="/ppt/presentation.xml" Id="R004bfc394e9542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6f8ed9364c44d5"/>
  </p:sldMasterIdLst>
  <p:notesMasterIdLst>
    <p:notesMasterId xmlns:r="http://schemas.openxmlformats.org/officeDocument/2006/relationships" r:id="R3199d14a09b34f00"/>
  </p:notesMasterIdLst>
  <p:sldIdLst>
    <p:sldId xmlns:r="http://schemas.openxmlformats.org/officeDocument/2006/relationships" id="256" r:id="R07525ffd0a034b6f"/>
    <p:sldId xmlns:r="http://schemas.openxmlformats.org/officeDocument/2006/relationships" id="257" r:id="R3c6e0e2d3e584eab"/>
    <p:sldId xmlns:r="http://schemas.openxmlformats.org/officeDocument/2006/relationships" id="258" r:id="R2f19d408307e43bb"/>
    <p:sldId xmlns:r="http://schemas.openxmlformats.org/officeDocument/2006/relationships" id="259" r:id="R044fdc4d6a024406"/>
    <p:sldId xmlns:r="http://schemas.openxmlformats.org/officeDocument/2006/relationships" id="260" r:id="Rd2f35a0b31234075"/>
    <p:sldId xmlns:r="http://schemas.openxmlformats.org/officeDocument/2006/relationships" id="261" r:id="Rb63ce9e4e2bd4df4"/>
    <p:sldId xmlns:r="http://schemas.openxmlformats.org/officeDocument/2006/relationships" id="262" r:id="Rc92ec69016984f73"/>
    <p:sldId xmlns:r="http://schemas.openxmlformats.org/officeDocument/2006/relationships" id="263" r:id="R3a8967f3613c4b45"/>
    <p:sldId xmlns:r="http://schemas.openxmlformats.org/officeDocument/2006/relationships" id="264" r:id="Rb523692f6700499d"/>
    <p:sldId xmlns:r="http://schemas.openxmlformats.org/officeDocument/2006/relationships" id="265" r:id="Rbb37b2c3e3bf4ea6"/>
    <p:sldId xmlns:r="http://schemas.openxmlformats.org/officeDocument/2006/relationships" id="266" r:id="Rf05609b098774a2c"/>
    <p:sldId xmlns:r="http://schemas.openxmlformats.org/officeDocument/2006/relationships" id="267" r:id="Red3c717be1174211"/>
    <p:sldId xmlns:r="http://schemas.openxmlformats.org/officeDocument/2006/relationships" id="268" r:id="Rd689ccfe7c0d4276"/>
    <p:sldId xmlns:r="http://schemas.openxmlformats.org/officeDocument/2006/relationships" id="269" r:id="R5336048705674a0f"/>
    <p:sldId xmlns:r="http://schemas.openxmlformats.org/officeDocument/2006/relationships" id="270" r:id="R1468ef0c64564b49"/>
    <p:sldId xmlns:r="http://schemas.openxmlformats.org/officeDocument/2006/relationships" id="271" r:id="R52f97ee7973d431f"/>
    <p:sldId xmlns:r="http://schemas.openxmlformats.org/officeDocument/2006/relationships" id="272" r:id="R4c675889ffc843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3788022fa4f4a" /><Relationship Type="http://schemas.openxmlformats.org/officeDocument/2006/relationships/slideMaster" Target="/ppt/slideMasters/slideMaster1.xml" Id="Re96f8ed9364c44d5" /><Relationship Type="http://schemas.openxmlformats.org/officeDocument/2006/relationships/notesMaster" Target="/ppt/notesMasters/notesMaster1.xml" Id="R3199d14a09b34f00" /><Relationship Type="http://schemas.openxmlformats.org/officeDocument/2006/relationships/presProps" Target="/ppt/presProps.xml" Id="R12f7cb0a972c449a" /><Relationship Type="http://schemas.openxmlformats.org/officeDocument/2006/relationships/tableStyles" Target="/ppt/tableStyles.xml" Id="Rd8ebad69ef59431f" /><Relationship Type="http://schemas.openxmlformats.org/officeDocument/2006/relationships/slide" Target="/ppt/slides/slide1.xml" Id="R07525ffd0a034b6f" /><Relationship Type="http://schemas.openxmlformats.org/officeDocument/2006/relationships/slide" Target="/ppt/slides/slide2.xml" Id="R3c6e0e2d3e584eab" /><Relationship Type="http://schemas.openxmlformats.org/officeDocument/2006/relationships/slide" Target="/ppt/slides/slide3.xml" Id="R2f19d408307e43bb" /><Relationship Type="http://schemas.openxmlformats.org/officeDocument/2006/relationships/slide" Target="/ppt/slides/slide4.xml" Id="R044fdc4d6a024406" /><Relationship Type="http://schemas.openxmlformats.org/officeDocument/2006/relationships/slide" Target="/ppt/slides/slide5.xml" Id="Rd2f35a0b31234075" /><Relationship Type="http://schemas.openxmlformats.org/officeDocument/2006/relationships/slide" Target="/ppt/slides/slide6.xml" Id="Rb63ce9e4e2bd4df4" /><Relationship Type="http://schemas.openxmlformats.org/officeDocument/2006/relationships/slide" Target="/ppt/slides/slide7.xml" Id="Rc92ec69016984f73" /><Relationship Type="http://schemas.openxmlformats.org/officeDocument/2006/relationships/slide" Target="/ppt/slides/slide8.xml" Id="R3a8967f3613c4b45" /><Relationship Type="http://schemas.openxmlformats.org/officeDocument/2006/relationships/slide" Target="/ppt/slides/slide9.xml" Id="Rb523692f6700499d" /><Relationship Type="http://schemas.openxmlformats.org/officeDocument/2006/relationships/slide" Target="/ppt/slides/slide10.xml" Id="Rbb37b2c3e3bf4ea6" /><Relationship Type="http://schemas.openxmlformats.org/officeDocument/2006/relationships/slide" Target="/ppt/slides/slide11.xml" Id="Rf05609b098774a2c" /><Relationship Type="http://schemas.openxmlformats.org/officeDocument/2006/relationships/slide" Target="/ppt/slides/slide12.xml" Id="Red3c717be1174211" /><Relationship Type="http://schemas.openxmlformats.org/officeDocument/2006/relationships/slide" Target="/ppt/slides/slide13.xml" Id="Rd689ccfe7c0d4276" /><Relationship Type="http://schemas.openxmlformats.org/officeDocument/2006/relationships/slide" Target="/ppt/slides/slide14.xml" Id="R5336048705674a0f" /><Relationship Type="http://schemas.openxmlformats.org/officeDocument/2006/relationships/slide" Target="/ppt/slides/slide15.xml" Id="R1468ef0c64564b49" /><Relationship Type="http://schemas.openxmlformats.org/officeDocument/2006/relationships/slide" Target="/ppt/slides/slide16.xml" Id="R52f97ee7973d431f" /><Relationship Type="http://schemas.openxmlformats.org/officeDocument/2006/relationships/slide" Target="/ppt/slides/slide17.xml" Id="R4c675889ffc843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bf1901cabe4f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c8a4cad30e4aba" /><Relationship Type="http://schemas.openxmlformats.org/officeDocument/2006/relationships/notesMaster" Target="/ppt/notesMasters/notesMaster1.xml" Id="R3f4a84f76d2e46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8416f83c014229" /><Relationship Type="http://schemas.openxmlformats.org/officeDocument/2006/relationships/notesMaster" Target="/ppt/notesMasters/notesMaster1.xml" Id="R6bcea04a568748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f38dc21a094d46" /><Relationship Type="http://schemas.openxmlformats.org/officeDocument/2006/relationships/notesMaster" Target="/ppt/notesMasters/notesMaster1.xml" Id="Ref5faddf98b249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de00796c0640b4" /><Relationship Type="http://schemas.openxmlformats.org/officeDocument/2006/relationships/notesMaster" Target="/ppt/notesMasters/notesMaster1.xml" Id="Rb41beb8c4e4e40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913b792ac4d50" /><Relationship Type="http://schemas.openxmlformats.org/officeDocument/2006/relationships/notesMaster" Target="/ppt/notesMasters/notesMaster1.xml" Id="Rb4ae89d989314d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5f7160799547be" /><Relationship Type="http://schemas.openxmlformats.org/officeDocument/2006/relationships/notesMaster" Target="/ppt/notesMasters/notesMaster1.xml" Id="Rda6ed51f2c0541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2e400ccfb94bca" /><Relationship Type="http://schemas.openxmlformats.org/officeDocument/2006/relationships/notesMaster" Target="/ppt/notesMasters/notesMaster1.xml" Id="R328b02b0e4b34e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a304cde8934d6a" /><Relationship Type="http://schemas.openxmlformats.org/officeDocument/2006/relationships/notesMaster" Target="/ppt/notesMasters/notesMaster1.xml" Id="R373afae34fa645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d67956437f4849" /><Relationship Type="http://schemas.openxmlformats.org/officeDocument/2006/relationships/notesMaster" Target="/ppt/notesMasters/notesMaster1.xml" Id="R5d3377509fe044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2800df57e84b85" /><Relationship Type="http://schemas.openxmlformats.org/officeDocument/2006/relationships/notesMaster" Target="/ppt/notesMasters/notesMaster1.xml" Id="Rf0751d3696bd40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50cd381916419e" /><Relationship Type="http://schemas.openxmlformats.org/officeDocument/2006/relationships/notesMaster" Target="/ppt/notesMasters/notesMaster1.xml" Id="Rf91ea8d2e1b247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4b569e8ccc4fd4" /><Relationship Type="http://schemas.openxmlformats.org/officeDocument/2006/relationships/notesMaster" Target="/ppt/notesMasters/notesMaster1.xml" Id="R4059b3f4044645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71eaffb6324e26" /><Relationship Type="http://schemas.openxmlformats.org/officeDocument/2006/relationships/notesMaster" Target="/ppt/notesMasters/notesMaster1.xml" Id="Raf121bbe8c7f4b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edfecd19234114" /><Relationship Type="http://schemas.openxmlformats.org/officeDocument/2006/relationships/notesMaster" Target="/ppt/notesMasters/notesMaster1.xml" Id="R237f31900b984f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0a6e1b427d49fd" /><Relationship Type="http://schemas.openxmlformats.org/officeDocument/2006/relationships/notesMaster" Target="/ppt/notesMasters/notesMaster1.xml" Id="R173a7277d67c4ba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e7cd5c136b44be9" /><Relationship Type="http://schemas.openxmlformats.org/officeDocument/2006/relationships/notesMaster" Target="/ppt/notesMasters/notesMaster1.xml" Id="R9c4a3911471d480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1546a190ca4c18" /><Relationship Type="http://schemas.openxmlformats.org/officeDocument/2006/relationships/notesMaster" Target="/ppt/notesMasters/notesMaster1.xml" Id="Reb03dccd433b42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final project evaluates general server-health alerts using thermal, fan and power features. It does not establish cooling-specific fault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https://zenodo.org/records/7541722</a:t>
            </a:r>
          </a:p>
          <a:p xmlns:a="http://schemas.openxmlformats.org/drawingml/2006/main">
            <a:r>
              <a:t>Paper: https://www.nature.com/articles/s41597-023-02174-3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https://zenodo.org/records/7541722</a:t>
            </a:r>
          </a:p>
          <a:p xmlns:a="http://schemas.openxmlformats.org/drawingml/2006/main">
            <a:r>
              <a:t>Paper: https://www.nature.com/articles/s41597-023-02174-3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follows a normal-sequence reconstruction approach. Related work: https://arxiv.org/abs/1607.00148</a:t>
            </a:r>
          </a:p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  <a:p xmlns:a="http://schemas.openxmlformats.org/drawingml/2006/main">
            <a:r>
              <a:t>Average precision definition: https://scikit-learn.org/stable/modules/generated/sklearn.metrics.average_precision_score.html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  <a:p xmlns:a="http://schemas.openxmlformats.org/drawingml/2006/main">
            <a:r>
              <a:t>Fixed retrospective policy comparison from results/original_audit/alarm_sensitivity.csv. This is not validation-selected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 source: results/submission_evidence.json. Settings are selected on validation data. Test recordings were inspected during earlier project development; results remain exploratory.</a:t>
            </a:r>
          </a:p>
          <a:p xmlns:a="http://schemas.openxmlformats.org/drawingml/2006/main">
            <a:r>
              <a:t>Dataset: https://zenodo.org/records/7541722</a:t>
            </a:r>
          </a:p>
          <a:p xmlns:a="http://schemas.openxmlformats.org/drawingml/2006/main">
            <a:r>
              <a:t>Paper: https://www.nature.com/articles/s41597-023-02174-3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https://zenodo.org/records/7541722</a:t>
            </a:r>
          </a:p>
          <a:p xmlns:a="http://schemas.openxmlformats.org/drawingml/2006/main">
            <a:r>
              <a:t>Paper: https://www.nature.com/articles/s41597-023-02174-3</a:t>
            </a:r>
          </a:p>
          <a:p xmlns:a="http://schemas.openxmlformats.org/drawingml/2006/main">
            <a:r>
              <a:t>Related work: https://www.bioinf.jku.at/publications/older/2604.pdf</a:t>
            </a:r>
          </a:p>
          <a:p xmlns:a="http://schemas.openxmlformats.org/drawingml/2006/main">
            <a:r>
              <a:t>https://arxiv.org/abs/1607.00148</a:t>
            </a:r>
          </a:p>
          <a:p xmlns:a="http://schemas.openxmlformats.org/drawingml/2006/main">
            <a:r>
              <a:t>Baseline docs: https://scikit-learn.org/stable/modules/generated/sklearn.ensemble.IsolationForest.html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2c296cf2547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b4ac13f5640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a9ab6813049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9da4d5fa5943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70bb80e5df4f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82a380d8b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6D630A-1AE2-41FC-BA99-51FFA8ABBC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ACEF95-72E6-4B00-B8AD-4372D2CA17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0109D1F-A06E-4DE8-9CD2-6EC6EB792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7EBB31-B89A-43DE-B829-1BB8DD7471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483D22-4A85-4DB8-B845-BC3BE493E0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956488-8BD3-4DAA-8E2C-ADF33E64E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4D6EEAD-944F-45D9-BAB7-7227405F53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5135F42-F5BE-46EC-BEE3-2C10D8CE03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682F77D-E363-41CE-985B-9EB19C3D5B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AA085B-A498-402E-A160-3C63E4F0A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e98da38d9c4edb" /><Relationship Type="http://schemas.openxmlformats.org/officeDocument/2006/relationships/slideLayout" Target="/ppt/slideLayouts/slideLayout1.xml" Id="R5aec9208112d42ed" /><Relationship Type="http://schemas.openxmlformats.org/officeDocument/2006/relationships/slideLayout" Target="/ppt/slideLayouts/slideLayout2.xml" Id="R352d22539d7d461e" /><Relationship Type="http://schemas.openxmlformats.org/officeDocument/2006/relationships/slideLayout" Target="/ppt/slideLayouts/slideLayout3.xml" Id="R62e86a59f7e54c68" /><Relationship Type="http://schemas.openxmlformats.org/officeDocument/2006/relationships/slideLayout" Target="/ppt/slideLayouts/slideLayout4.xml" Id="R8349c1c7365b47f4" /><Relationship Type="http://schemas.openxmlformats.org/officeDocument/2006/relationships/slideLayout" Target="/ppt/slideLayouts/slideLayout5.xml" Id="R5c59fad088514a69" /><Relationship Type="http://schemas.openxmlformats.org/officeDocument/2006/relationships/slideLayout" Target="/ppt/slideLayouts/slideLayout6.xml" Id="R3dc229a33bb148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ec9208112d42ed"/>
    <p:sldLayoutId xmlns:r="http://schemas.openxmlformats.org/officeDocument/2006/relationships" id="2147483650" r:id="R352d22539d7d461e"/>
    <p:sldLayoutId xmlns:r="http://schemas.openxmlformats.org/officeDocument/2006/relationships" id="2147483651" r:id="R62e86a59f7e54c68"/>
    <p:sldLayoutId xmlns:r="http://schemas.openxmlformats.org/officeDocument/2006/relationships" id="2147483652" r:id="R8349c1c7365b47f4"/>
    <p:sldLayoutId xmlns:r="http://schemas.openxmlformats.org/officeDocument/2006/relationships" id="2147483653" r:id="R5c59fad088514a69"/>
    <p:sldLayoutId xmlns:r="http://schemas.openxmlformats.org/officeDocument/2006/relationships" id="2147483654" r:id="R3dc229a33bb148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cae8fdec344e6b" /><Relationship Type="http://schemas.openxmlformats.org/officeDocument/2006/relationships/notesSlide" Target="/ppt/notesSlides/notesSlide1.xml" Id="R849ea814337646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9ef58588d49b8" /><Relationship Type="http://schemas.openxmlformats.org/officeDocument/2006/relationships/notesSlide" Target="/ppt/notesSlides/notesSlide2.xml" Id="R2464f33f288448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16be00e114297" /><Relationship Type="http://schemas.openxmlformats.org/officeDocument/2006/relationships/notesSlide" Target="/ppt/notesSlides/notesSlide3.xml" Id="R30b4c94fbc404c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abacb2ba24355" /><Relationship Type="http://schemas.openxmlformats.org/officeDocument/2006/relationships/notesSlide" Target="/ppt/notesSlides/notesSlide4.xml" Id="Rff3a1bb89a444f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6a612a9c9f4b3b" /><Relationship Type="http://schemas.openxmlformats.org/officeDocument/2006/relationships/notesSlide" Target="/ppt/notesSlides/notesSlide5.xml" Id="R7a14994b535146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f1dac73a864fed" /><Relationship Type="http://schemas.openxmlformats.org/officeDocument/2006/relationships/chart" Target="/ppt/slides/charts/chart1.xml" Id="Rb047e9038fab4d0d" /><Relationship Type="http://schemas.openxmlformats.org/officeDocument/2006/relationships/notesSlide" Target="/ppt/notesSlides/notesSlide6.xml" Id="R2dab3e3c75e54f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3b9a3a7a442a5" /><Relationship Type="http://schemas.openxmlformats.org/officeDocument/2006/relationships/notesSlide" Target="/ppt/notesSlides/notesSlide7.xml" Id="R6d727a4cf9c348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ec4fde1e84ead" /><Relationship Type="http://schemas.openxmlformats.org/officeDocument/2006/relationships/notesSlide" Target="/ppt/notesSlides/notesSlide8.xml" Id="R037c8e26d9f040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918a21cd048a0" /><Relationship Type="http://schemas.openxmlformats.org/officeDocument/2006/relationships/notesSlide" Target="/ppt/notesSlides/notesSlide9.xml" Id="R2c20b74db67b48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5c7df980d44a0d" /><Relationship Type="http://schemas.openxmlformats.org/officeDocument/2006/relationships/chart" Target="/ppt/slides/charts/chart2.xml" Id="Rb56e928c93f44b9a" /><Relationship Type="http://schemas.openxmlformats.org/officeDocument/2006/relationships/notesSlide" Target="/ppt/notesSlides/notesSlide10.xml" Id="Re5aee7e702c5460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cab9b6a2144fb7" /><Relationship Type="http://schemas.openxmlformats.org/officeDocument/2006/relationships/notesSlide" Target="/ppt/notesSlides/notesSlide11.xml" Id="R688a8b05dd094f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8504b9e654475" /><Relationship Type="http://schemas.openxmlformats.org/officeDocument/2006/relationships/image" Target="/ppt/media/image.png" Id="Rce4e6a212b8a4bfa" /><Relationship Type="http://schemas.openxmlformats.org/officeDocument/2006/relationships/notesSlide" Target="/ppt/notesSlides/notesSlide12.xml" Id="R2a2862f406f240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1aa0fa5d7457b" /><Relationship Type="http://schemas.openxmlformats.org/officeDocument/2006/relationships/image" Target="/ppt/media/image2.png" Id="R3d0ae687b95c43d8" /><Relationship Type="http://schemas.openxmlformats.org/officeDocument/2006/relationships/notesSlide" Target="/ppt/notesSlides/notesSlide13.xml" Id="Rccf88a3f616d48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a5974f142245e8" /><Relationship Type="http://schemas.openxmlformats.org/officeDocument/2006/relationships/image" Target="/ppt/media/image3.png" Id="R873c294042054fa7" /><Relationship Type="http://schemas.openxmlformats.org/officeDocument/2006/relationships/notesSlide" Target="/ppt/notesSlides/notesSlide14.xml" Id="R90849476a84f4f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51a0046d74893" /><Relationship Type="http://schemas.openxmlformats.org/officeDocument/2006/relationships/image" Target="/ppt/media/image.jpeg" Id="R97aad71d515d4720" /><Relationship Type="http://schemas.openxmlformats.org/officeDocument/2006/relationships/notesSlide" Target="/ppt/notesSlides/notesSlide15.xml" Id="R0467642a95ef485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a6d5073f0456f" /><Relationship Type="http://schemas.openxmlformats.org/officeDocument/2006/relationships/notesSlide" Target="/ppt/notesSlides/notesSlide16.xml" Id="R4fd5afdda5d340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f0a749144473b" /><Relationship Type="http://schemas.openxmlformats.org/officeDocument/2006/relationships/notesSlide" Target="/ppt/notesSlides/notesSlide17.xml" Id="R1c61a417f5554b0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Training</c:v>
          </c:tx>
          <c:spPr>
            <a:ln xmlns:a="http://schemas.openxmlformats.org/drawingml/2006/main" w="28575">
              <a:solidFill>
                <a:srgbClr val="19638A"/>
              </a:solidFill>
            </a:ln>
          </c:spPr>
          <c:marker>
            <c:symbol val="none"/>
          </c:marker>
          <c:cat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Data'!$B$2:$B$31</c:f>
              <c:numCache>
                <c:formatCode>General</c:formatCode>
                <c:ptCount val="30"/>
                <c:pt idx="0">
                  <c:v>0.23725602</c:v>
                </c:pt>
                <c:pt idx="1">
                  <c:v>0.04185861</c:v>
                </c:pt>
                <c:pt idx="2">
                  <c:v>0.0267541</c:v>
                </c:pt>
                <c:pt idx="3">
                  <c:v>0.02170327</c:v>
                </c:pt>
                <c:pt idx="4">
                  <c:v>0.01914468</c:v>
                </c:pt>
                <c:pt idx="5">
                  <c:v>0.01749036</c:v>
                </c:pt>
                <c:pt idx="6">
                  <c:v>0.01617928</c:v>
                </c:pt>
                <c:pt idx="7">
                  <c:v>0.01520225</c:v>
                </c:pt>
                <c:pt idx="8">
                  <c:v>0.01440119</c:v>
                </c:pt>
                <c:pt idx="9">
                  <c:v>0.01358755</c:v>
                </c:pt>
                <c:pt idx="10">
                  <c:v>0.01273718</c:v>
                </c:pt>
                <c:pt idx="11">
                  <c:v>0.01202262</c:v>
                </c:pt>
                <c:pt idx="12">
                  <c:v>0.01154096</c:v>
                </c:pt>
                <c:pt idx="13">
                  <c:v>0.01098635</c:v>
                </c:pt>
                <c:pt idx="14">
                  <c:v>0.01073882</c:v>
                </c:pt>
                <c:pt idx="15">
                  <c:v>0.01046079</c:v>
                </c:pt>
                <c:pt idx="16">
                  <c:v>0.01023071</c:v>
                </c:pt>
                <c:pt idx="17">
                  <c:v>0.01001039</c:v>
                </c:pt>
                <c:pt idx="18">
                  <c:v>0.00965003</c:v>
                </c:pt>
                <c:pt idx="19">
                  <c:v>0.00957621</c:v>
                </c:pt>
                <c:pt idx="20">
                  <c:v>0.00922436</c:v>
                </c:pt>
                <c:pt idx="21">
                  <c:v>0.00901118</c:v>
                </c:pt>
                <c:pt idx="22">
                  <c:v>0.00878449</c:v>
                </c:pt>
                <c:pt idx="23">
                  <c:v>0.0087961</c:v>
                </c:pt>
                <c:pt idx="24">
                  <c:v>0.00852</c:v>
                </c:pt>
                <c:pt idx="25">
                  <c:v>0.00828998</c:v>
                </c:pt>
                <c:pt idx="26">
                  <c:v>0.00806782</c:v>
                </c:pt>
                <c:pt idx="27">
                  <c:v>0.00792722</c:v>
                </c:pt>
                <c:pt idx="28">
                  <c:v>0.00778284</c:v>
                </c:pt>
                <c:pt idx="29">
                  <c:v>0.00755782</c:v>
                </c:pt>
              </c:numCache>
            </c:numRef>
          </c:val>
        </c:ser>
        <c:ser>
          <c:idx val="1"/>
          <c:order val="1"/>
          <c:tx>
            <c:v>Normal validation</c:v>
          </c:tx>
          <c:spPr>
            <a:ln xmlns:a="http://schemas.openxmlformats.org/drawingml/2006/main" w="28575">
              <a:solidFill>
                <a:srgbClr val="C67B22"/>
              </a:solidFill>
            </a:ln>
          </c:spPr>
          <c:marker>
            <c:symbol val="none"/>
          </c:marker>
          <c:cat>
            <c:numRef>
              <c:f>'Chart Data'!$C$2:$C$31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cat>
          <c:val>
            <c:numRef>
              <c:f>'Chart Data'!$D$2:$D$31</c:f>
              <c:numCache>
                <c:formatCode>General</c:formatCode>
                <c:ptCount val="30"/>
                <c:pt idx="0">
                  <c:v>0.03577807</c:v>
                </c:pt>
                <c:pt idx="1">
                  <c:v>0.01761996</c:v>
                </c:pt>
                <c:pt idx="2">
                  <c:v>0.01459933</c:v>
                </c:pt>
                <c:pt idx="3">
                  <c:v>0.01294072</c:v>
                </c:pt>
                <c:pt idx="4">
                  <c:v>0.01166057</c:v>
                </c:pt>
                <c:pt idx="5">
                  <c:v>0.01091304</c:v>
                </c:pt>
                <c:pt idx="6">
                  <c:v>0.01031875</c:v>
                </c:pt>
                <c:pt idx="7">
                  <c:v>0.00987351</c:v>
                </c:pt>
                <c:pt idx="8">
                  <c:v>0.0091461</c:v>
                </c:pt>
                <c:pt idx="9">
                  <c:v>0.00869214</c:v>
                </c:pt>
                <c:pt idx="10">
                  <c:v>0.00856491</c:v>
                </c:pt>
                <c:pt idx="11">
                  <c:v>0.00805845</c:v>
                </c:pt>
                <c:pt idx="12">
                  <c:v>0.00791308</c:v>
                </c:pt>
                <c:pt idx="13">
                  <c:v>0.00765421</c:v>
                </c:pt>
                <c:pt idx="14">
                  <c:v>0.0078785</c:v>
                </c:pt>
                <c:pt idx="15">
                  <c:v>0.00721467</c:v>
                </c:pt>
                <c:pt idx="16">
                  <c:v>0.00714001</c:v>
                </c:pt>
                <c:pt idx="17">
                  <c:v>0.00686581</c:v>
                </c:pt>
                <c:pt idx="18">
                  <c:v>0.00667496</c:v>
                </c:pt>
                <c:pt idx="19">
                  <c:v>0.00666986</c:v>
                </c:pt>
                <c:pt idx="20">
                  <c:v>0.00643919</c:v>
                </c:pt>
                <c:pt idx="21">
                  <c:v>0.00620916</c:v>
                </c:pt>
                <c:pt idx="22">
                  <c:v>0.00615251</c:v>
                </c:pt>
                <c:pt idx="23">
                  <c:v>0.0060302</c:v>
                </c:pt>
                <c:pt idx="24">
                  <c:v>0.00600734</c:v>
                </c:pt>
                <c:pt idx="25">
                  <c:v>0.00586771</c:v>
                </c:pt>
                <c:pt idx="26">
                  <c:v>0.00588818</c:v>
                </c:pt>
                <c:pt idx="27">
                  <c:v>0.00571222</c:v>
                </c:pt>
                <c:pt idx="28">
                  <c:v>0.00542732</c:v>
                </c:pt>
                <c:pt idx="29">
                  <c:v>0.00538258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Scaled reconstruction MSE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Endpoint average precision</c:v>
          </c:tx>
          <c:spPr>
            <a:solidFill xmlns:a="http://schemas.openxmlformats.org/drawingml/2006/main">
              <a:srgbClr val="19638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base8</c:v>
                </c:pt>
                <c:pt idx="1">
                  <c:v>Isolation Forest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0.103086</c:v>
                </c:pt>
                <c:pt idx="1">
                  <c:v>0.447298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Arial"/>
                    <a:ea typeface="Arial"/>
                    <a:cs typeface="Arial"/>
                  </a:rPr>
                  <a:t>Average precision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8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05973-E022-43C1-93A7-54CE6DE5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Anomaly Detection in</a:t>
            </a:r>
          </a:p>
          <a:p xmlns:a="http://schemas.openxmlformats.org/drawingml/2006/main">
            <a:pPr>
              <a:defRPr sz="4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Center Telemetry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BB6F32-560C-49B6-AAB7-1F012920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E8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E8E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CE8EE"/>
                </a:solidFill>
                <a:latin typeface="Arial"/>
                <a:ea typeface="Arial"/>
                <a:cs typeface="Arial"/>
              </a:rPr>
              <a:t>LSTM autoencoder experiments and a working monitoring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50397-83BC-4C9C-9613-618060D5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Rishabh Srivastava  2430010149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Mitul Seth  2430010099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Madhav Mittal  2430010096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3F3B2-B87E-447A-A82A-396C17C6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CE8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DCE8E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8EE"/>
                </a:solidFill>
                <a:latin typeface="Arial"/>
                <a:ea typeface="Arial"/>
                <a:cs typeface="Arial"/>
              </a:rPr>
              <a:t>Deep Learning   Section B   12 October 2026</a:t>
            </a:r>
          </a:p>
        </p:txBody>
      </p:sp>
    </p:spTree>
    <p:extLst>
      <p:ext uri="{BB962C8B-B14F-4D97-AF65-F5344CB8AC3E}">
        <p14:creationId xmlns:p14="http://schemas.microsoft.com/office/powerpoint/2010/main" val="403595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22F89-6B2F-4011-8A8D-7ABBB914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Problem and project 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AF57B-1BD9-4A3D-9804-5ABE46D8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FD901-1955-40FE-AE7B-AF5AC91B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Temperature, fan speed and power change together during server operation.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77361-90BA-43CD-9D18-A95668F7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The model learns normal relationships and scores unusual telemetry.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B0ED6-DB5A-41E5-9CC0-98CCA34F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The objective is measured anomaly detection with an inspectable demo.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E5268-EBF9-41B3-8E0E-45A9FFB1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Reference labels are general server-health alerts from Nagios.</a:t>
            </a:r>
          </a:p>
        </p:txBody>
      </p:sp>
    </p:spTree>
    <p:extLst>
      <p:ext uri="{BB962C8B-B14F-4D97-AF65-F5344CB8AC3E}">
        <p14:creationId xmlns:p14="http://schemas.microsoft.com/office/powerpoint/2010/main" val="990927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195C6-776F-489E-B5D9-E9CFBE1F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Dataset and study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3CF9B-4759-466D-B677-2704904F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EF993-8B49-4A38-9D1A-6280C49C8F9B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905750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Actual project setup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M100 rack 0 time-aggregated telemetry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Subset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9 nodes from 16 available node files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Readings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751,363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Cadence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15-minute sensor aggregations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Feature sets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22 base features and 33 enhanced features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Time range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2020-03-09 to 2022-09-28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6286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95E83-C335-4570-8BCE-EA18E522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Preprocessing and chronological splits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218BF-855B-4FFA-B895-04D9492C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68F44-A223-490C-8E47-BBBB339A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Sort each node by timestamp and fill short gaps causally.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87506-5326-4DD6-9DF8-1AA6B948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Use 70% training, 10% validation and 20% test rows per node.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DEB04-8229-41BD-9D1F-E8D34D84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Fit scaling on finite normal training rows only.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46AE9-C325-4FF8-9BDB-9C2BAE4B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Keep complete windows inside one split and train on normal windows.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2D0D5-D4D3-4E5B-9487-27CA9A37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Missing periods reset filling and alarm streaks. Unknown labels are excluded from evaluated windows.</a:t>
            </a:r>
          </a:p>
        </p:txBody>
      </p:sp>
    </p:spTree>
    <p:extLst>
      <p:ext uri="{BB962C8B-B14F-4D97-AF65-F5344CB8AC3E}">
        <p14:creationId xmlns:p14="http://schemas.microsoft.com/office/powerpoint/2010/main" val="477106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F78EB-5CBE-4BF3-B5D9-B498FEBC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LSTM autoencoder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8A767-C7F1-49CD-94CC-54F27840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520B2-9F39-4D1F-BD83-5F8A31AA4CC8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191250"/>
              </a:tblGrid>
              <a:tr h="552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Representation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8 readings by 22 features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LSTM encoder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64 hidden 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Linear bottleneck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16 latent values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Repeated latent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8 readings by 16 values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LSTM decoder and linear output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Reconstructed sensor sequence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850B8-3ECD-4B1C-BB52-E36B5B73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Training objective: mean squared reconstruction error. Selected model: 45,990 parameters.</a:t>
            </a:r>
          </a:p>
        </p:txBody>
      </p:sp>
    </p:spTree>
    <p:extLst>
      <p:ext uri="{BB962C8B-B14F-4D97-AF65-F5344CB8AC3E}">
        <p14:creationId xmlns:p14="http://schemas.microsoft.com/office/powerpoint/2010/main" val="421287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BE8A2-2F3B-4FBF-88EC-392732CD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Training behaviour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BA650-53B6-46B1-BF87-9985118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603BA49-374B-4C18-B58A-4AE9CBA6EE39}"/>
              </a:ext>
            </a:extLst>
          </p:cNvPr>
          <p:cNvGraphicFramePr/>
          <p:nvPr/>
        </p:nvGraphicFramePr>
        <p:xfrm>
          <a:off xmlns:a="http://schemas.openxmlformats.org/drawingml/2006/main" x="762000" y="1466850"/>
          <a:ext xmlns:a="http://schemas.openxmlformats.org/drawingml/2006/main" cx="1066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47e9038fab4d0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5012D-4E6F-46E0-BEBF-58955DC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base8: Adam 0.001, batch 512, seed 42, up to 30 epochs, early-stopping patience 5.</a:t>
            </a:r>
          </a:p>
        </p:txBody>
      </p:sp>
    </p:spTree>
    <p:extLst>
      <p:ext uri="{BB962C8B-B14F-4D97-AF65-F5344CB8AC3E}">
        <p14:creationId xmlns:p14="http://schemas.microsoft.com/office/powerpoint/2010/main" val="1857195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08D8D5-56F0-43B7-A29D-916D46E8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Correct incident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9FFDB-6810-4885-A2EB-14291073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C2F46-E109-458E-B93B-86306648C2DC}"/>
              </a:ext>
            </a:extLst>
          </p:cNvPr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0"/>
                <a:gridCol w="4000500"/>
              </a:tblGrid>
              <a:tr h="552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Original six-hour cohort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Positive overlapping windows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761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CRITICAL at the scored timestamp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432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Raw timestamped incidents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Incidents with scoring opportunities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8BFF2-A506-42B6-8D27-FEC969C8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An alarm counts as a detection only when its timestamp falls inside an original CRITICAL interval.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E4FA5-D041-46B3-A21C-CF708B80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Incident totals retain missed coverage. Alarm bursts break at missing timestamps.</a:t>
            </a:r>
          </a:p>
        </p:txBody>
      </p:sp>
    </p:spTree>
    <p:extLst>
      <p:ext uri="{BB962C8B-B14F-4D97-AF65-F5344CB8AC3E}">
        <p14:creationId xmlns:p14="http://schemas.microsoft.com/office/powerpoint/2010/main" val="7088739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06299-8994-467F-B68A-B0282652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Controlled experiment comparisons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17CCC-835E-45CF-A1F5-C260B521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FFB64-C4EE-4ADE-B9A8-2460DF6BB887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314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333625"/>
                <a:gridCol w="3048000"/>
                <a:gridCol w="2714625"/>
              </a:tblGrid>
              <a:tr h="5524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Experiment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History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Features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F1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base24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24 readings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Base 22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0.0275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base48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48 readings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Base 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0.0144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base8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8 readings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Base 22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0.0750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enhanced24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24 readings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Enhanced 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0.0645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robust24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24 readings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Base 22 robust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0.0163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5E877-BE96-4E56-A3E7-B6FC417E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Each run evaluates both score definitions, three percentiles, global or node thresholds, and persistence.</a:t>
            </a:r>
          </a:p>
        </p:txBody>
      </p:sp>
    </p:spTree>
    <p:extLst>
      <p:ext uri="{BB962C8B-B14F-4D97-AF65-F5344CB8AC3E}">
        <p14:creationId xmlns:p14="http://schemas.microsoft.com/office/powerpoint/2010/main" val="6306413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A40FE-C4E9-422D-8EFC-153EEF8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Test results at scored endpoints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23490-88E5-46A1-BE9E-E9CCAF23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9C911-5CAD-4C6F-97FE-F590B0CB7E93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238250"/>
                <a:gridCol w="1714500"/>
                <a:gridCol w="1619250"/>
                <a:gridCol w="1333500"/>
                <a:gridCol w="219075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Experiment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Incidents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base24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0.096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1.9%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70.8%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0.037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16/34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base48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0.145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5.3%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61.7%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11/34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base8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0.103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2.1%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72.3%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0.041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17/34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enhanced24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2.6%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65.9%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15/34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isolation_forest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0.447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1.6%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61.8%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0.030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14/34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robust24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0.481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53.7%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0.025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16/34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0C4D0-DED5-4639-90C5-E0F06C43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Selected by validation: base8. Different widths change retained scoring cohorts.</a:t>
            </a:r>
          </a:p>
        </p:txBody>
      </p:sp>
    </p:spTree>
    <p:extLst>
      <p:ext uri="{BB962C8B-B14F-4D97-AF65-F5344CB8AC3E}">
        <p14:creationId xmlns:p14="http://schemas.microsoft.com/office/powerpoint/2010/main" val="617249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AAF1E-EC42-4732-8FAB-F04A89AE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Ranking quality and alarm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8628C-68AF-4797-B10D-22A1F0A5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284CBE0-8B67-45D5-A350-A60EF1BBB113}"/>
              </a:ext>
            </a:extLst>
          </p:cNvPr>
          <p:cNvGraphicFramePr/>
          <p:nvPr/>
        </p:nvGraphicFramePr>
        <p:xfrm>
          <a:off xmlns:a="http://schemas.openxmlformats.org/drawingml/2006/main" x="809625" y="1676400"/>
          <a:ext xmlns:a="http://schemas.openxmlformats.org/drawingml/2006/main" cx="7429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6e928c93f44b9a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67C37-38A4-406A-B789-1980806B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47875"/>
            <a:ext cx="3000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Selected LSTM</a:t>
            </a:r>
          </a:p>
          <a:p xmlns:a="http://schemas.openxmlformats.org/drawingml/2006/main">
            <a:pPr>
              <a:defRPr sz="210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17/34 incidents caught</a:t>
            </a:r>
          </a:p>
          <a:p xmlns:a="http://schemas.openxmlformats.org/drawingml/2006/main">
            <a:pPr>
              <a:defRPr sz="210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0.692 false bursts</a:t>
            </a:r>
          </a:p>
          <a:p xmlns:a="http://schemas.openxmlformats.org/drawingml/2006/main">
            <a:pPr>
              <a:defRPr sz="210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per scored node-day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823B0-8D4B-42EA-91FF-AB3B97B4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Ranking performance and a chosen alarm threshold answer different questions. The comparison is mixed.</a:t>
            </a:r>
          </a:p>
        </p:txBody>
      </p:sp>
    </p:spTree>
    <p:extLst>
      <p:ext uri="{BB962C8B-B14F-4D97-AF65-F5344CB8AC3E}">
        <p14:creationId xmlns:p14="http://schemas.microsoft.com/office/powerpoint/2010/main" val="2752021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8FFBC-695F-421A-8D94-E9517577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Persistence and false alarm bursts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53952-BE2A-49D3-8D83-8F453496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284A4-0DC3-4F55-A215-34CFFCB4147C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571750"/>
                <a:gridCol w="2571750"/>
              </a:tblGrid>
              <a:tr h="5524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Original LSTM at q99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Incidents detected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False bursts</a:t>
                      </a:r>
                    </a:p>
                  </a:txBody>
                  <a:tcPr marL="91440" marR="91440" marT="45720" marB="45720">
                    <a:solidFill>
                      <a:srgbClr val="14384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Immediate alarm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13 of 34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479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Two consecutive high readings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13 of 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384C"/>
                          </a:solidFill>
                          <a:latin typeface="Arial"/>
                          <a:ea typeface="Arial"/>
                          <a:cs typeface="Arial"/>
                        </a:rPr>
                        <a:t>364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075EF-2771-4744-B322-FB21F471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9638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9638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9638A"/>
                </a:solidFill>
                <a:latin typeface="Arial"/>
                <a:ea typeface="Arial"/>
                <a:cs typeface="Arial"/>
              </a:rPr>
              <a:t>24.0% fewer false bursts at this fixed threshold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13D3B-10BC-468E-9383-24D6B42A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This is a retrospective sensitivity check. Persistence can increase delay and miss brief alerts.</a:t>
            </a:r>
          </a:p>
        </p:txBody>
      </p:sp>
    </p:spTree>
    <p:extLst>
      <p:ext uri="{BB962C8B-B14F-4D97-AF65-F5344CB8AC3E}">
        <p14:creationId xmlns:p14="http://schemas.microsoft.com/office/powerpoint/2010/main" val="17520578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91A61-E57C-4001-BA20-CD4979B6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A successful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AA5A6-9D13-42BA-A5E9-017E5738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49C39-BC5C-423C-817E-14467F58E0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e6a212b8a4bfa"/>
          <a:stretch xmlns:a="http://schemas.openxmlformats.org/drawingml/2006/main"/>
        </p:blipFill>
        <p:spPr>
          <a:xfrm xmlns:a="http://schemas.openxmlformats.org/drawingml/2006/main">
            <a:off x="1480226" y="1352550"/>
            <a:ext cx="9231549" cy="417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3C70C-CBB4-4090-811A-4CD19FF0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Node 7: alarm occurs inside the original interval. First delay: 0 minutes.</a:t>
            </a:r>
          </a:p>
        </p:txBody>
      </p:sp>
    </p:spTree>
    <p:extLst>
      <p:ext uri="{BB962C8B-B14F-4D97-AF65-F5344CB8AC3E}">
        <p14:creationId xmlns:p14="http://schemas.microsoft.com/office/powerpoint/2010/main" val="2677140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C7D9D-F5BC-4370-BF67-F11F2DC4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An observable missed incident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8EE13-18F6-4B0E-8375-DEC5E329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FC551-3AAC-43F4-821E-CDA04B5E57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ae687b95c43d8"/>
          <a:stretch xmlns:a="http://schemas.openxmlformats.org/drawingml/2006/main"/>
        </p:blipFill>
        <p:spPr>
          <a:xfrm xmlns:a="http://schemas.openxmlformats.org/drawingml/2006/main">
            <a:off x="1480226" y="1352550"/>
            <a:ext cx="9231549" cy="417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AB10B-B792-4F25-A611-903E302D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Node 8: scoring is available, but the alarm rule misses the original interval.</a:t>
            </a:r>
          </a:p>
        </p:txBody>
      </p:sp>
    </p:spTree>
    <p:extLst>
      <p:ext uri="{BB962C8B-B14F-4D97-AF65-F5344CB8AC3E}">
        <p14:creationId xmlns:p14="http://schemas.microsoft.com/office/powerpoint/2010/main" val="3934584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6B696-952C-49CC-A36C-3EEB2AB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A false alarm burst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F0B55-3C99-4734-9D20-604C100C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C2B46-F905-4C1D-A9DC-231036C465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c294042054fa7"/>
          <a:stretch xmlns:a="http://schemas.openxmlformats.org/drawingml/2006/main"/>
        </p:blipFill>
        <p:spPr>
          <a:xfrm xmlns:a="http://schemas.openxmlformats.org/drawingml/2006/main">
            <a:off x="1480226" y="1352550"/>
            <a:ext cx="9231549" cy="417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F7BD9-95DA-4BD9-8DFD-6F53029B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Node 7: the alarm burst overlaps no raw CRITICAL interval. Sensor error does not prove a fault cause.</a:t>
            </a:r>
          </a:p>
        </p:txBody>
      </p:sp>
    </p:spTree>
    <p:extLst>
      <p:ext uri="{BB962C8B-B14F-4D97-AF65-F5344CB8AC3E}">
        <p14:creationId xmlns:p14="http://schemas.microsoft.com/office/powerpoint/2010/main" val="9152006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6FA8B-509A-4A3D-8143-53314B2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Working demo and saved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8A726-7F1D-4DAD-A052-0F503AB5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1CB26-923D-4DBB-B68B-536B03B880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ad71d515d4720"/>
          <a:stretch xmlns:a="http://schemas.openxmlformats.org/drawingml/2006/main"/>
        </p:blipFill>
        <p:spPr>
          <a:xfrm xmlns:a="http://schemas.openxmlformats.org/drawingml/2006/main">
            <a:off x="666750" y="1638895"/>
            <a:ext cx="7143750" cy="401835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44803-6FD1-44E8-93C0-1A199955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57375"/>
            <a:ext cx="333375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Recorded replay</a:t>
            </a:r>
          </a:p>
          <a:p xmlns:a="http://schemas.openxmlformats.org/drawingml/2006/main">
            <a:pPr>
              <a:defRPr sz="217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Timestamp-aware alarms</a:t>
            </a:r>
          </a:p>
          <a:p xmlns:a="http://schemas.openxmlformats.org/drawingml/2006/main">
            <a:pPr>
              <a:defRPr sz="217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Sensor reconstructions</a:t>
            </a:r>
          </a:p>
          <a:p xmlns:a="http://schemas.openxmlformats.org/drawingml/2006/main">
            <a:pPr>
              <a:defRPr sz="217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Experiment comparison</a:t>
            </a:r>
          </a:p>
          <a:p xmlns:a="http://schemas.openxmlformats.org/drawingml/2006/main">
            <a:pPr>
              <a:defRPr sz="2175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Fresh CSV inference</a:t>
            </a:r>
          </a:p>
        </p:txBody>
      </p:sp>
    </p:spTree>
    <p:extLst>
      <p:ext uri="{BB962C8B-B14F-4D97-AF65-F5344CB8AC3E}">
        <p14:creationId xmlns:p14="http://schemas.microsoft.com/office/powerpoint/2010/main" val="12302793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E4EAF-40E2-4F13-B94C-F647E14E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Limitations and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FC112-5803-4D8E-878D-64826587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4FD23-2F23-4486-9A84-96B82375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The selected LSTM is base8; the experiment comparison is metric dependent.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753D6-166D-4149-A516-26093931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False alarms and unobservable incidents limit practical usefulness.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3432A-2620-42BD-9B46-5F53876C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General server-health labels cannot establish cooling-specific diagnosis.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811FF-975A-43B2-BF1F-4D85F625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Next steps are alert-specific labels, later data, more nodes and repeated seeds.</a:t>
            </a:r>
          </a:p>
        </p:txBody>
      </p:sp>
    </p:spTree>
    <p:extLst>
      <p:ext uri="{BB962C8B-B14F-4D97-AF65-F5344CB8AC3E}">
        <p14:creationId xmlns:p14="http://schemas.microsoft.com/office/powerpoint/2010/main" val="5020638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547B9-9632-43C0-A298-1A5F94F2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References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638D6-F435-4BD7-8D65-89816157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4D657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D65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BABA1-2BB9-4DE3-AB10-345DAB2B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Hochreiter and Schmidhuber, Long Short-Term Memory, 1997.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A62FE-8776-48CA-9795-2A8B9B89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Malhotra et al., LSTM-based Encoder-Decoder for Multi-sensor Anomaly Detection, 2016.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F164E-D32C-4718-A21B-6083803F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Borghesi et al., M100 ExaData, Scientific Data, 2023.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4612E-9B9A-40E0-9F6B-6B7E9E7F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384C"/>
                </a:solidFill>
                <a:latin typeface="Arial"/>
                <a:ea typeface="Arial"/>
                <a:cs typeface="Arial"/>
              </a:rPr>
              <a:t>M100 aggregated dataset, Zenodo DOI 10.5281/zenodo.7541722.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795D0-327D-4722-8D60-D1CCE9E4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4384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84C"/>
                </a:solidFill>
                <a:latin typeface="Arial"/>
                <a:ea typeface="Arial"/>
                <a:cs typeface="Arial"/>
              </a:rPr>
              <a:t>Submission includes source, a clean notebook, trained models, scalers, histories, scores and incident records.</a:t>
            </a:r>
          </a:p>
        </p:txBody>
      </p:sp>
    </p:spTree>
    <p:extLst>
      <p:ext uri="{BB962C8B-B14F-4D97-AF65-F5344CB8AC3E}">
        <p14:creationId xmlns:p14="http://schemas.microsoft.com/office/powerpoint/2010/main" val="905895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2026-10-12T16:52:28.6140000Z</dcterms:created>
  <dcterms:modified xsi:type="dcterms:W3CDTF">2026-10-12T16:52:28.6140000Z</dcterms:modified>
</coreProperties>
</file>