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230fa382d724d8b" /><Relationship Type="http://schemas.openxmlformats.org/officeDocument/2006/relationships/extended-properties" Target="/docProps/app.xml" Id="R3c71503c68ca4c9b" /><Relationship Type="http://schemas.openxmlformats.org/officeDocument/2006/relationships/officeDocument" Target="/ppt/presentation.xml" Id="R3c17937f4362405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11ef5b780ec4991"/>
  </p:sldMasterIdLst>
  <p:notesMasterIdLst>
    <p:notesMasterId xmlns:r="http://schemas.openxmlformats.org/officeDocument/2006/relationships" r:id="R039510be2a4142d8"/>
  </p:notesMasterIdLst>
  <p:sldIdLst>
    <p:sldId xmlns:r="http://schemas.openxmlformats.org/officeDocument/2006/relationships" id="256" r:id="Rbb2abf9736054da2"/>
    <p:sldId xmlns:r="http://schemas.openxmlformats.org/officeDocument/2006/relationships" id="257" r:id="R440b498560bd4242"/>
    <p:sldId xmlns:r="http://schemas.openxmlformats.org/officeDocument/2006/relationships" id="258" r:id="R1905826ed50d4c8b"/>
    <p:sldId xmlns:r="http://schemas.openxmlformats.org/officeDocument/2006/relationships" id="259" r:id="Rb03db4fc7468451a"/>
    <p:sldId xmlns:r="http://schemas.openxmlformats.org/officeDocument/2006/relationships" id="260" r:id="Rd53b72cf51cd4873"/>
    <p:sldId xmlns:r="http://schemas.openxmlformats.org/officeDocument/2006/relationships" id="261" r:id="R99d7e17bd2d34638"/>
    <p:sldId xmlns:r="http://schemas.openxmlformats.org/officeDocument/2006/relationships" id="262" r:id="Ra28c870db468451e"/>
    <p:sldId xmlns:r="http://schemas.openxmlformats.org/officeDocument/2006/relationships" id="263" r:id="R2005a521562f4462"/>
    <p:sldId xmlns:r="http://schemas.openxmlformats.org/officeDocument/2006/relationships" id="264" r:id="R2e924988eec04696"/>
    <p:sldId xmlns:r="http://schemas.openxmlformats.org/officeDocument/2006/relationships" id="265" r:id="R15670c43a91845e6"/>
    <p:sldId xmlns:r="http://schemas.openxmlformats.org/officeDocument/2006/relationships" id="266" r:id="R8d41b30415464f16"/>
    <p:sldId xmlns:r="http://schemas.openxmlformats.org/officeDocument/2006/relationships" id="267" r:id="R66e51d411a2e434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8079b41a8eb49e0" /><Relationship Type="http://schemas.openxmlformats.org/officeDocument/2006/relationships/slideMaster" Target="/ppt/slideMasters/slideMaster1.xml" Id="Rb11ef5b780ec4991" /><Relationship Type="http://schemas.openxmlformats.org/officeDocument/2006/relationships/notesMaster" Target="/ppt/notesMasters/notesMaster1.xml" Id="R039510be2a4142d8" /><Relationship Type="http://schemas.openxmlformats.org/officeDocument/2006/relationships/presProps" Target="/ppt/presProps.xml" Id="R59da253faa164a6f" /><Relationship Type="http://schemas.openxmlformats.org/officeDocument/2006/relationships/tableStyles" Target="/ppt/tableStyles.xml" Id="R9ab6241f755f4483" /><Relationship Type="http://schemas.openxmlformats.org/officeDocument/2006/relationships/slide" Target="/ppt/slides/slide1.xml" Id="Rbb2abf9736054da2" /><Relationship Type="http://schemas.openxmlformats.org/officeDocument/2006/relationships/slide" Target="/ppt/slides/slide2.xml" Id="R440b498560bd4242" /><Relationship Type="http://schemas.openxmlformats.org/officeDocument/2006/relationships/slide" Target="/ppt/slides/slide3.xml" Id="R1905826ed50d4c8b" /><Relationship Type="http://schemas.openxmlformats.org/officeDocument/2006/relationships/slide" Target="/ppt/slides/slide4.xml" Id="Rb03db4fc7468451a" /><Relationship Type="http://schemas.openxmlformats.org/officeDocument/2006/relationships/slide" Target="/ppt/slides/slide5.xml" Id="Rd53b72cf51cd4873" /><Relationship Type="http://schemas.openxmlformats.org/officeDocument/2006/relationships/slide" Target="/ppt/slides/slide6.xml" Id="R99d7e17bd2d34638" /><Relationship Type="http://schemas.openxmlformats.org/officeDocument/2006/relationships/slide" Target="/ppt/slides/slide7.xml" Id="Ra28c870db468451e" /><Relationship Type="http://schemas.openxmlformats.org/officeDocument/2006/relationships/slide" Target="/ppt/slides/slide8.xml" Id="R2005a521562f4462" /><Relationship Type="http://schemas.openxmlformats.org/officeDocument/2006/relationships/slide" Target="/ppt/slides/slide9.xml" Id="R2e924988eec04696" /><Relationship Type="http://schemas.openxmlformats.org/officeDocument/2006/relationships/slide" Target="/ppt/slides/slide10.xml" Id="R15670c43a91845e6" /><Relationship Type="http://schemas.openxmlformats.org/officeDocument/2006/relationships/slide" Target="/ppt/slides/slide11.xml" Id="R8d41b30415464f16" /><Relationship Type="http://schemas.openxmlformats.org/officeDocument/2006/relationships/slide" Target="/ppt/slides/slide12.xml" Id="R66e51d411a2e43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b980907b1444f8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4fcaf5ba7154cd9" /><Relationship Type="http://schemas.openxmlformats.org/officeDocument/2006/relationships/notesMaster" Target="/ppt/notesMasters/notesMaster1.xml" Id="R880ab6f7db534dd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72d77147baa40a9" /><Relationship Type="http://schemas.openxmlformats.org/officeDocument/2006/relationships/notesMaster" Target="/ppt/notesMasters/notesMaster1.xml" Id="R0889b167add54ec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d6fbae406d14d60" /><Relationship Type="http://schemas.openxmlformats.org/officeDocument/2006/relationships/notesMaster" Target="/ppt/notesMasters/notesMaster1.xml" Id="Rc46302a551a044b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3b3c80d32084185" /><Relationship Type="http://schemas.openxmlformats.org/officeDocument/2006/relationships/notesMaster" Target="/ppt/notesMasters/notesMaster1.xml" Id="R1b601a5717d94d8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370fe8b94cd4931" /><Relationship Type="http://schemas.openxmlformats.org/officeDocument/2006/relationships/notesMaster" Target="/ppt/notesMasters/notesMaster1.xml" Id="Rb4fc73ad6a914a4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9730c0689de4cf0" /><Relationship Type="http://schemas.openxmlformats.org/officeDocument/2006/relationships/notesMaster" Target="/ppt/notesMasters/notesMaster1.xml" Id="R714f6946a8b745b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0cc847377ae4ddc" /><Relationship Type="http://schemas.openxmlformats.org/officeDocument/2006/relationships/notesMaster" Target="/ppt/notesMasters/notesMaster1.xml" Id="R5cc44231a32c450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f65498416ae4962" /><Relationship Type="http://schemas.openxmlformats.org/officeDocument/2006/relationships/notesMaster" Target="/ppt/notesMasters/notesMaster1.xml" Id="Rb950aeddd3774e3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c0994b934e64662" /><Relationship Type="http://schemas.openxmlformats.org/officeDocument/2006/relationships/notesMaster" Target="/ppt/notesMasters/notesMaster1.xml" Id="R597df52f702744c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a590e297db745f5" /><Relationship Type="http://schemas.openxmlformats.org/officeDocument/2006/relationships/notesMaster" Target="/ppt/notesMasters/notesMaster1.xml" Id="Rea5841357b9e419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44c564567624a3c" /><Relationship Type="http://schemas.openxmlformats.org/officeDocument/2006/relationships/notesMaster" Target="/ppt/notesMasters/notesMaster1.xml" Id="Rfdedd5b78db2491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336ce86b3734462" /><Relationship Type="http://schemas.openxmlformats.org/officeDocument/2006/relationships/notesMaster" Target="/ppt/notesMasters/notesMaster1.xml" Id="R2dce49478093461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Four modeled sensor locations in a different simulated dual-duct AHU. The earlier outdoor-air benchmark remains separate. Guide: Dr. Neha V Sharma. Instructor: Mr. Santosh Rajak.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https://faultdetection.lbl.gov/dataset/simulated-dd-ahu-dataset/ and DOI 10.1038/s41597-023-02197-w Table 4. One imposed bias per native scenario. No simultaneous faults.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https://faultdetection.lbl.gov/dataset/simulated-dd-ahu-dataset/. Local audit: results/multisensor_v1/archive_inventory.json, scenarios.json and training_ranges.csv. Twenty-six model inputs comprise 21 measurements plus five commands.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results/multisensor_v2/experiment_plan.json; results/multisensor_v1/cohort_counts.csv. ISO week modulo six: zero test, five validation, other training. Matching calendar periods remain together across every scenario.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results/multisensor_v2/all_inputs/summary.json, experiment_plan.json. Version 1 used a twenty-epoch budget. Version 2 recorded refinement before any test scores. Four unique models total. One fixed training seed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results/multisensor_v1/feature_selection.json and training_feature_ranking.csv. Whole-day grouped permutation on held-out training weeks. No validation or test used. Rankings are conditional on a tree selector and correlated variables.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results/multisensor_v2/test_summary.json. Model and policy frozen before evaluation. Test FPR target is unmet. No post-test threshold tuning.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results/multisensor_v2/test_by_sensor.csv. Correct-sensor recall counts only the matching faulty sensor prediction. Precision is per sensor class. Editable native chart uses unrounded saved values.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results/multisensor_v2/test_summary.json. Native counts. First row corresponds to healthy source minutes, first column to missed fault minutes. Column order is the frozen class order.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results/multisensor_v2/model_comparison.csv and frozen_model.json. All candidates disclosed. Primary family selected on validation, not chosen by test accuracy. V1 refers to original training budget and V2 to logged refinement.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results/multisensor_v2/REPORT.md and test_summary.json. Pressure filename tokens differ from documented offset magnitudes; preserve native identifiers without making a verified magnitude claim. Source-paper DOI 10.1038/s41597-023-02197-w.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https://faultdetection.lbl.gov/dataset/simulated-dd-ahu-dataset/; collection DOI 10.25984/1881324; project repository https://github.com/Mitul-dev/DataCenter-Cooling-Anomaly-Detection. Reproduction and limitations are in the updated PBL report and executed notebook.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df0af9b7864ab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263efb4ba2430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74222b94864f3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f4fbdcef754d4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3196f27930487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3a191d57f74d0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14083EE-9580-46FD-AB2D-D6668F5157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54BC7B0-C7C3-4F94-897D-1CC7EC850F1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284553B-EC94-4BC5-A9EA-23404393AF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9DF9C81-6C63-43EF-9B74-71633C5FBB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EA70814-E303-4CAB-8386-C25F058B786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45C9869-C641-4D29-B85C-FB44CE88F0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01479CB-295E-487F-BD76-16882EB09B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E2E4F9D-A8D7-486E-9877-F2A9D51743E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BC8DAFB-0A71-488B-BE1E-DA6B6261EF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F41A785-1554-4F74-82AD-D2047CCE88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39758474f34be0" /><Relationship Type="http://schemas.openxmlformats.org/officeDocument/2006/relationships/slideLayout" Target="/ppt/slideLayouts/slideLayout1.xml" Id="R5730e36302534090" /><Relationship Type="http://schemas.openxmlformats.org/officeDocument/2006/relationships/slideLayout" Target="/ppt/slideLayouts/slideLayout2.xml" Id="Rbdb317b8175d476d" /><Relationship Type="http://schemas.openxmlformats.org/officeDocument/2006/relationships/slideLayout" Target="/ppt/slideLayouts/slideLayout3.xml" Id="R4d910baa38504bbb" /><Relationship Type="http://schemas.openxmlformats.org/officeDocument/2006/relationships/slideLayout" Target="/ppt/slideLayouts/slideLayout4.xml" Id="R5d14d2b78ca342fc" /><Relationship Type="http://schemas.openxmlformats.org/officeDocument/2006/relationships/slideLayout" Target="/ppt/slideLayouts/slideLayout5.xml" Id="Ra9a53eb955e24cf3" /><Relationship Type="http://schemas.openxmlformats.org/officeDocument/2006/relationships/slideLayout" Target="/ppt/slideLayouts/slideLayout6.xml" Id="R95a15f04b8b34df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730e36302534090"/>
    <p:sldLayoutId xmlns:r="http://schemas.openxmlformats.org/officeDocument/2006/relationships" id="2147483650" r:id="Rbdb317b8175d476d"/>
    <p:sldLayoutId xmlns:r="http://schemas.openxmlformats.org/officeDocument/2006/relationships" id="2147483651" r:id="R4d910baa38504bbb"/>
    <p:sldLayoutId xmlns:r="http://schemas.openxmlformats.org/officeDocument/2006/relationships" id="2147483652" r:id="R5d14d2b78ca342fc"/>
    <p:sldLayoutId xmlns:r="http://schemas.openxmlformats.org/officeDocument/2006/relationships" id="2147483653" r:id="Ra9a53eb955e24cf3"/>
    <p:sldLayoutId xmlns:r="http://schemas.openxmlformats.org/officeDocument/2006/relationships" id="2147483654" r:id="R95a15f04b8b34df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b3ad54883344c4" /><Relationship Type="http://schemas.openxmlformats.org/officeDocument/2006/relationships/notesSlide" Target="/ppt/notesSlides/notesSlide1.xml" Id="Re0d6812eacbf4b4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59e082c840458c" /><Relationship Type="http://schemas.openxmlformats.org/officeDocument/2006/relationships/notesSlide" Target="/ppt/notesSlides/notesSlide2.xml" Id="Rd7bbe0b574e04d9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0d40af4cfa474e" /><Relationship Type="http://schemas.openxmlformats.org/officeDocument/2006/relationships/notesSlide" Target="/ppt/notesSlides/notesSlide3.xml" Id="Ra572e89c4362411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e6284772a74cb1" /><Relationship Type="http://schemas.openxmlformats.org/officeDocument/2006/relationships/notesSlide" Target="/ppt/notesSlides/notesSlide4.xml" Id="R03f1bc4095e341f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bfc7b82c4446ef" /><Relationship Type="http://schemas.openxmlformats.org/officeDocument/2006/relationships/notesSlide" Target="/ppt/notesSlides/notesSlide5.xml" Id="Rba275c2288da4eb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c5ee06ed8743f7" /><Relationship Type="http://schemas.openxmlformats.org/officeDocument/2006/relationships/notesSlide" Target="/ppt/notesSlides/notesSlide6.xml" Id="Rff1c5156b4694de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0cbb8305d44b43" /><Relationship Type="http://schemas.openxmlformats.org/officeDocument/2006/relationships/notesSlide" Target="/ppt/notesSlides/notesSlide7.xml" Id="R2d7554bcaaee410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29a7d671144b7c" /><Relationship Type="http://schemas.openxmlformats.org/officeDocument/2006/relationships/chart" Target="/ppt/slides/charts/chart1.xml" Id="Ra5dee0c8d6144754" /><Relationship Type="http://schemas.openxmlformats.org/officeDocument/2006/relationships/notesSlide" Target="/ppt/notesSlides/notesSlide8.xml" Id="Re7e82746af14430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39203d81654cb5" /><Relationship Type="http://schemas.openxmlformats.org/officeDocument/2006/relationships/notesSlide" Target="/ppt/notesSlides/notesSlide9.xml" Id="R0a9ac7c5b14f4f4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a3053aa24a4743" /><Relationship Type="http://schemas.openxmlformats.org/officeDocument/2006/relationships/notesSlide" Target="/ppt/notesSlides/notesSlide10.xml" Id="R39cb5cb8a8794c2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2eb47c33f7431f" /><Relationship Type="http://schemas.openxmlformats.org/officeDocument/2006/relationships/notesSlide" Target="/ppt/notesSlides/notesSlide11.xml" Id="Rbde015c42529422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90398aace34b27" /><Relationship Type="http://schemas.openxmlformats.org/officeDocument/2006/relationships/notesSlide" Target="/ppt/notesSlides/notesSlide12.xml" Id="Rdce71ec969634bec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Arial"/>
                <a:ea typeface="Arial"/>
                <a:cs typeface="Arial"/>
              </a:rPr>
              <a:t>Precision and correct-sensor recall on reserved weeks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Correct-sensor recall</c:v>
          </c:tx>
          <c:spPr>
            <a:solidFill xmlns:a="http://schemas.openxmlformats.org/drawingml/2006/main">
              <a:srgbClr val="137B9A"/>
            </a:solidFill>
          </c:spPr>
          <c:invertIfNegative val="0"/>
          <c:cat>
            <c:strLit>
              <c:ptCount val="4"/>
              <c:pt idx="0">
                <c:v>Cold temp</c:v>
              </c:pt>
              <c:pt idx="1">
                <c:v>Hot temp</c:v>
              </c:pt>
              <c:pt idx="2">
                <c:v>Cold pressure</c:v>
              </c:pt>
              <c:pt idx="3">
                <c:v>Hot pressure</c:v>
              </c:pt>
            </c:strLit>
          </c:cat>
          <c:val>
            <c:numLit>
              <c:formatCode>0%</c:formatCode>
              <c:ptCount val="4"/>
              <c:pt idx="0">
                <c:v>0.9103125180743797</c:v>
              </c:pt>
              <c:pt idx="1">
                <c:v>0.8752170767004341</c:v>
              </c:pt>
              <c:pt idx="2">
                <c:v>0.9567655571635311</c:v>
              </c:pt>
              <c:pt idx="3">
                <c:v>0.9587825615050651</c:v>
              </c:pt>
            </c:numLit>
          </c:val>
        </c:ser>
        <c:ser>
          <c:idx val="1"/>
          <c:order val="1"/>
          <c:tx>
            <c:v>Precision</c:v>
          </c:tx>
          <c:spPr>
            <a:solidFill xmlns:a="http://schemas.openxmlformats.org/drawingml/2006/main">
              <a:srgbClr val="123550"/>
            </a:solidFill>
          </c:spPr>
          <c:invertIfNegative val="0"/>
          <c:cat>
            <c:strLit>
              <c:ptCount val="4"/>
              <c:pt idx="0">
                <c:v>Cold temp</c:v>
              </c:pt>
              <c:pt idx="1">
                <c:v>Hot temp</c:v>
              </c:pt>
              <c:pt idx="2">
                <c:v>Cold pressure</c:v>
              </c:pt>
              <c:pt idx="3">
                <c:v>Hot pressure</c:v>
              </c:pt>
            </c:strLit>
          </c:cat>
          <c:val>
            <c:numLit>
              <c:formatCode>0%</c:formatCode>
              <c:ptCount val="4"/>
              <c:pt idx="0">
                <c:v>0.9943037641484601</c:v>
              </c:pt>
              <c:pt idx="1">
                <c:v>0.9912719226356335</c:v>
              </c:pt>
              <c:pt idx="2">
                <c:v>0.9921029431074262</c:v>
              </c:pt>
              <c:pt idx="3">
                <c:v>0.99501567574671</c:v>
              </c:pt>
            </c:numLit>
          </c:val>
        </c:ser>
        <c:dLbls>
          <c:numFmt formatCode="0.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.1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E3EBF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2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Arial"/>
              <a:ea typeface="Arial"/>
              <a:cs typeface="Arial"/>
            </a:defRPr>
          </a:pPr>
        </a:p>
      </c:txPr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55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623035-7DAA-4625-9F5B-7B2E05502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Fault Detection</a:t>
            </a:r>
          </a:p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Across Four Sensors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AE84E7-0C38-4678-B859-9A9D24121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14725"/>
            <a:ext cx="1057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CBE7F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CBE7F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CBE7F1"/>
                </a:solidFill>
                <a:latin typeface="Arial"/>
                <a:ea typeface="Arial"/>
                <a:cs typeface="Arial"/>
              </a:rPr>
              <a:t>LSTM diagnosis in a simulated air-handling unit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ABD9A7-78A5-4DE3-B192-1422BC663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38725"/>
            <a:ext cx="10668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Rishabh Srivastava, Mitul Seth and Madhav Mittal</a:t>
            </a:r>
          </a:p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DSE 3170 PBL 3, Section 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671F3D-5385-407F-91A5-71E2D46DD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19825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CBE7F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CBE7F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BE7F1"/>
                </a:solidFill>
                <a:latin typeface="Arial"/>
                <a:ea typeface="Arial"/>
                <a:cs typeface="Arial"/>
              </a:rPr>
              <a:t>October 2026</a:t>
            </a:r>
          </a:p>
        </p:txBody>
      </p:sp>
    </p:spTree>
    <p:extLst>
      <p:ext uri="{BB962C8B-B14F-4D97-AF65-F5344CB8AC3E}">
        <p14:creationId xmlns:p14="http://schemas.microsoft.com/office/powerpoint/2010/main" val="2453734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29E110-AA34-49FA-BC29-0AE0C3C11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35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355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3550"/>
                </a:solidFill>
                <a:latin typeface="Arial"/>
                <a:ea typeface="Arial"/>
                <a:cs typeface="Arial"/>
              </a:rPr>
              <a:t>Four sensor fault targets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364732-441A-4932-BF7B-E4AC788A9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7385"/>
                </a:solidFill>
                <a:latin typeface="Arial"/>
                <a:ea typeface="Arial"/>
                <a:cs typeface="Arial"/>
              </a:rPr>
              <a:t>Cooling equipment sensor fault detection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46F0D5-E7DC-4EA4-B347-F493ECCAB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738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1F3745-C329-4493-B011-4DEA5F595C54}"/>
              </a:ext>
            </a:extLst>
          </p:cNvPr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143500"/>
                <a:gridCol w="5829300"/>
              </a:tblGrid>
              <a:tr h="5715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Model output</a:t>
                      </a:r>
                    </a:p>
                  </a:txBody>
                  <a:tcPr marL="133350" marR="114300" marT="114300" marB="114300">
                    <a:lnL w="5715">
                      <a:solidFill>
                        <a:srgbClr val="D5E3EC"/>
                      </a:solidFill>
                      <a:prstDash val="solid"/>
                    </a:lnL>
                    <a:lnR w="5715">
                      <a:solidFill>
                        <a:srgbClr val="D5E3EC"/>
                      </a:solidFill>
                      <a:prstDash val="solid"/>
                    </a:lnR>
                    <a:lnT w="5715">
                      <a:solidFill>
                        <a:srgbClr val="D5E3EC"/>
                      </a:solidFill>
                      <a:prstDash val="solid"/>
                    </a:lnT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Sensor location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T w="5715">
                      <a:solidFill>
                        <a:srgbClr val="D5E3EC"/>
                      </a:solidFill>
                      <a:prstDash val="solid"/>
                    </a:lnT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EDF5F9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Healthy</a:t>
                      </a:r>
                    </a:p>
                  </a:txBody>
                  <a:tcPr marL="133350" marR="114300" marT="114300" marB="114300">
                    <a:lnL w="5715">
                      <a:solidFill>
                        <a:srgbClr val="D5E3EC"/>
                      </a:solidFill>
                      <a:prstDash val="solid"/>
                    </a:lnL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No modeled sensor bias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Cold temperature fault</a:t>
                      </a:r>
                    </a:p>
                  </a:txBody>
                  <a:tcPr marL="133350" marR="114300" marT="114300" marB="114300">
                    <a:lnL w="5715">
                      <a:solidFill>
                        <a:srgbClr val="D5E3EC"/>
                      </a:solidFill>
                      <a:prstDash val="solid"/>
                    </a:lnL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Cold supply-air temperature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Hot temperature fault</a:t>
                      </a:r>
                    </a:p>
                  </a:txBody>
                  <a:tcPr marL="133350" marR="114300" marT="114300" marB="114300">
                    <a:lnL w="5715">
                      <a:solidFill>
                        <a:srgbClr val="D5E3EC"/>
                      </a:solidFill>
                      <a:prstDash val="solid"/>
                    </a:lnL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Hot supply-air temperature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Cold pressure fault</a:t>
                      </a:r>
                    </a:p>
                  </a:txBody>
                  <a:tcPr marL="133350" marR="114300" marT="114300" marB="114300">
                    <a:lnL w="5715">
                      <a:solidFill>
                        <a:srgbClr val="D5E3EC"/>
                      </a:solidFill>
                      <a:prstDash val="solid"/>
                    </a:lnL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Cold supply-duct pressure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Hot pressure fault</a:t>
                      </a:r>
                    </a:p>
                  </a:txBody>
                  <a:tcPr marL="133350" marR="114300" marT="114300" marB="114300">
                    <a:lnL w="5715">
                      <a:solidFill>
                        <a:srgbClr val="D5E3EC"/>
                      </a:solidFill>
                      <a:prstDash val="solid"/>
                    </a:lnL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Hot supply-duct pressure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557749-3CCB-4CCE-A1F7-5EB48F0D4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37B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37B9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37B9A"/>
                </a:solidFill>
                <a:latin typeface="Arial"/>
                <a:ea typeface="Arial"/>
                <a:cs typeface="Arial"/>
              </a:rPr>
              <a:t>Each source scenario contains one faulty sensor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459605-BBC6-42ED-BB4F-6ECF9ED72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388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C7385"/>
                </a:solidFill>
                <a:latin typeface="Arial"/>
                <a:ea typeface="Arial"/>
                <a:cs typeface="Arial"/>
              </a:rPr>
              <a:t>The earlier outdoor-air detector remains a separately selectable benchmark</a:t>
            </a:r>
          </a:p>
        </p:txBody>
      </p:sp>
    </p:spTree>
    <p:extLst>
      <p:ext uri="{BB962C8B-B14F-4D97-AF65-F5344CB8AC3E}">
        <p14:creationId xmlns:p14="http://schemas.microsoft.com/office/powerpoint/2010/main" val="8101271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2F8E35-1981-480E-8F91-B18CFC7A4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35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355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3550"/>
                </a:solidFill>
                <a:latin typeface="Arial"/>
                <a:ea typeface="Arial"/>
                <a:cs typeface="Arial"/>
              </a:rPr>
              <a:t>Simulation dataset and recorded inputs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B22884-3A13-4BB2-8CBE-958C3A50D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7385"/>
                </a:solidFill>
                <a:latin typeface="Arial"/>
                <a:ea typeface="Arial"/>
                <a:cs typeface="Arial"/>
              </a:rPr>
              <a:t>Cooling equipment sensor fault detection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3A18B2-DEA3-4094-9995-4763DAA83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738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C625A4-59E2-4286-9946-C975270E5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37B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37B9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37B9A"/>
                </a:solidFill>
                <a:latin typeface="Arial"/>
                <a:ea typeface="Arial"/>
                <a:cs typeface="Arial"/>
              </a:rPr>
              <a:t>17 native scenarios across a full year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5C8294-3FAC-4329-B713-781590496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9825"/>
            <a:ext cx="10972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63B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63B4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3B4E"/>
                </a:solidFill>
                <a:latin typeface="Arial"/>
                <a:ea typeface="Arial"/>
                <a:cs typeface="Arial"/>
              </a:rPr>
              <a:t>One healthy case and 16 temperature or pressure bias cases</a:t>
            </a:r>
          </a:p>
          <a:p xmlns:a="http://schemas.openxmlformats.org/drawingml/2006/main">
            <a:pPr>
              <a:defRPr sz="2175" b="0">
                <a:solidFill>
                  <a:srgbClr val="263B4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3B4E"/>
                </a:solidFill>
                <a:latin typeface="Arial"/>
                <a:ea typeface="Arial"/>
                <a:cs typeface="Arial"/>
              </a:rPr>
              <a:t>525,600 one-minute readings in each selected file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F141D8-987C-4F48-B278-C0BCEC434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37B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37B9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7B9A"/>
                </a:solidFill>
                <a:latin typeface="Arial"/>
                <a:ea typeface="Arial"/>
                <a:cs typeface="Arial"/>
              </a:rPr>
              <a:t>26 model inputs from 114 recorded points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0A57F6-598D-4D85-BE6E-D061CFE0D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109728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63B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63B4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3B4E"/>
                </a:solidFill>
                <a:latin typeface="Arial"/>
                <a:ea typeface="Arial"/>
                <a:cs typeface="Arial"/>
              </a:rPr>
              <a:t>Temperatures, pressure, humidity, airflow, fan speed and power</a:t>
            </a:r>
          </a:p>
          <a:p xmlns:a="http://schemas.openxmlformats.org/drawingml/2006/main">
            <a:pPr>
              <a:defRPr sz="2175" b="0">
                <a:solidFill>
                  <a:srgbClr val="263B4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3B4E"/>
                </a:solidFill>
                <a:latin typeface="Arial"/>
                <a:ea typeface="Arial"/>
                <a:cs typeface="Arial"/>
              </a:rPr>
              <a:t>21 measurement channels and five actuator commands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21961F-CDC2-4351-8597-A6654C1E3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C7385"/>
                </a:solidFill>
                <a:latin typeface="Arial"/>
                <a:ea typeface="Arial"/>
                <a:cs typeface="Arial"/>
              </a:rPr>
              <a:t>Parallel scenarios share one simulated unit and calendar weather</a:t>
            </a:r>
          </a:p>
        </p:txBody>
      </p:sp>
    </p:spTree>
    <p:extLst>
      <p:ext uri="{BB962C8B-B14F-4D97-AF65-F5344CB8AC3E}">
        <p14:creationId xmlns:p14="http://schemas.microsoft.com/office/powerpoint/2010/main" val="2541914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62A176-9B8C-4713-BAFD-C4F22643C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35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355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3550"/>
                </a:solidFill>
                <a:latin typeface="Arial"/>
                <a:ea typeface="Arial"/>
                <a:cs typeface="Arial"/>
              </a:rPr>
              <a:t>Calendar separation and causal cleaning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9B9FFB-A2FE-4A8B-84D4-A70C4D928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7385"/>
                </a:solidFill>
                <a:latin typeface="Arial"/>
                <a:ea typeface="Arial"/>
                <a:cs typeface="Arial"/>
              </a:rPr>
              <a:t>Cooling equipment sensor fault detection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973616-6FF6-4DBD-BF44-2C2106A6D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738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6FEFEE-0F12-4D8E-AABD-64018607153F}"/>
              </a:ext>
            </a:extLst>
          </p:cNvPr>
          <p:cNvGraphicFramePr/>
          <p:nvPr/>
        </p:nvGraphicFramePr>
        <p:xfrm>
          <a:off xmlns:a="http://schemas.openxmlformats.org/drawingml/2006/main" x="609600" y="1733550"/>
          <a:ext xmlns:a="http://schemas.openxmlformats.org/drawingml/2006/main" cx="10972800" cy="2619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62200"/>
                <a:gridCol w="2857500"/>
                <a:gridCol w="5753100"/>
              </a:tblGrid>
              <a:tr h="654844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Partition</a:t>
                      </a:r>
                    </a:p>
                  </a:txBody>
                  <a:tcPr marL="133350" marR="114300" marT="114300" marB="114300">
                    <a:lnL w="5715">
                      <a:solidFill>
                        <a:srgbClr val="D5E3EC"/>
                      </a:solidFill>
                      <a:prstDash val="solid"/>
                    </a:lnL>
                    <a:lnR w="5715">
                      <a:solidFill>
                        <a:srgbClr val="D5E3EC"/>
                      </a:solidFill>
                      <a:prstDash val="solid"/>
                    </a:lnR>
                    <a:lnT w="5715">
                      <a:solidFill>
                        <a:srgbClr val="D5E3EC"/>
                      </a:solidFill>
                      <a:prstDash val="solid"/>
                    </a:lnT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Eligible minutes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T w="5715">
                      <a:solidFill>
                        <a:srgbClr val="D5E3EC"/>
                      </a:solidFill>
                      <a:prstDash val="solid"/>
                    </a:lnT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Optimization / selection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T w="5715">
                      <a:solidFill>
                        <a:srgbClr val="D5E3EC"/>
                      </a:solidFill>
                      <a:prstDash val="solid"/>
                    </a:lnT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EDF5F9"/>
                    </a:solidFill>
                  </a:tcPr>
                </a:tc>
              </a:tr>
              <a:tr h="654844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Training</a:t>
                      </a:r>
                    </a:p>
                  </a:txBody>
                  <a:tcPr marL="133350" marR="114300" marT="114300" marB="114300">
                    <a:lnL w="5715">
                      <a:solidFill>
                        <a:srgbClr val="D5E3EC"/>
                      </a:solidFill>
                      <a:prstDash val="solid"/>
                    </a:lnL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2,096,259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36,404 hourly windows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4844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Validation</a:t>
                      </a:r>
                    </a:p>
                  </a:txBody>
                  <a:tcPr marL="133350" marR="114300" marT="114300" marB="114300">
                    <a:lnL w="5715">
                      <a:solidFill>
                        <a:srgbClr val="D5E3EC"/>
                      </a:solidFill>
                      <a:prstDash val="solid"/>
                    </a:lnL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463,842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30,877 checkpoints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4844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Reserved test</a:t>
                      </a:r>
                    </a:p>
                  </a:txBody>
                  <a:tcPr marL="133350" marR="114300" marT="114300" marB="114300">
                    <a:lnL w="5715">
                      <a:solidFill>
                        <a:srgbClr val="D5E3EC"/>
                      </a:solidFill>
                      <a:prstDash val="solid"/>
                    </a:lnL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463,058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Every eligible minute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0498C2-7FB3-4D16-A944-FE2DA7334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4400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37B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37B9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37B9A"/>
                </a:solidFill>
                <a:latin typeface="Arial"/>
                <a:ea typeface="Arial"/>
                <a:cs typeface="Arial"/>
              </a:rPr>
              <a:t>30 contiguous operating readings from one scenario and source day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AF058F-FFE4-4A94-9F88-93375D774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63B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63B4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63B4E"/>
                </a:solidFill>
                <a:latin typeface="Arial"/>
                <a:ea typeface="Arial"/>
                <a:cs typeface="Arial"/>
              </a:rPr>
              <a:t>Training-only medians and scaling. Five-minute causal fill.</a:t>
            </a:r>
          </a:p>
          <a:p xmlns:a="http://schemas.openxmlformats.org/drawingml/2006/main">
            <a:pPr>
              <a:defRPr sz="1950" b="0">
                <a:solidFill>
                  <a:srgbClr val="263B4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63B4E"/>
                </a:solidFill>
                <a:latin typeface="Arial"/>
                <a:ea typeface="Arial"/>
                <a:cs typeface="Arial"/>
              </a:rPr>
              <a:t>Labels, filenames and calendar identity never enter the LSTM.</a:t>
            </a:r>
          </a:p>
        </p:txBody>
      </p:sp>
    </p:spTree>
    <p:extLst>
      <p:ext uri="{BB962C8B-B14F-4D97-AF65-F5344CB8AC3E}">
        <p14:creationId xmlns:p14="http://schemas.microsoft.com/office/powerpoint/2010/main" val="18522431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7AEA91-D601-447E-A5F7-844C91E50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35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355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3550"/>
                </a:solidFill>
                <a:latin typeface="Arial"/>
                <a:ea typeface="Arial"/>
                <a:cs typeface="Arial"/>
              </a:rPr>
              <a:t>LSTM and validation refinement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26B940-3BDF-451F-85B4-66B38D990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7385"/>
                </a:solidFill>
                <a:latin typeface="Arial"/>
                <a:ea typeface="Arial"/>
                <a:cs typeface="Arial"/>
              </a:rPr>
              <a:t>Cooling equipment sensor fault detection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4A2F39-D663-4A11-B9FE-6852F3717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7385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C126AE-C98E-463E-A93D-17DAC31BCBD8}"/>
              </a:ext>
            </a:extLst>
          </p:cNvPr>
          <p:cNvGraphicFramePr/>
          <p:nvPr/>
        </p:nvGraphicFramePr>
        <p:xfrm>
          <a:off xmlns:a="http://schemas.openxmlformats.org/drawingml/2006/main" x="609600" y="1695450"/>
          <a:ext xmlns:a="http://schemas.openxmlformats.org/drawingml/2006/main" cx="10972800" cy="3209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24250"/>
                <a:gridCol w="7448550"/>
              </a:tblGrid>
              <a:tr h="534988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Component</a:t>
                      </a:r>
                    </a:p>
                  </a:txBody>
                  <a:tcPr marL="133350" marR="114300" marT="114300" marB="114300">
                    <a:lnL w="5715">
                      <a:solidFill>
                        <a:srgbClr val="D5E3EC"/>
                      </a:solidFill>
                      <a:prstDash val="solid"/>
                    </a:lnL>
                    <a:lnR w="5715">
                      <a:solidFill>
                        <a:srgbClr val="D5E3EC"/>
                      </a:solidFill>
                      <a:prstDash val="solid"/>
                    </a:lnR>
                    <a:lnT w="5715">
                      <a:solidFill>
                        <a:srgbClr val="D5E3EC"/>
                      </a:solidFill>
                      <a:prstDash val="solid"/>
                    </a:lnT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Configuration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T w="5715">
                      <a:solidFill>
                        <a:srgbClr val="D5E3EC"/>
                      </a:solidFill>
                      <a:prstDash val="solid"/>
                    </a:lnT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EDF5F9"/>
                    </a:solidFill>
                  </a:tcPr>
                </a:tc>
              </a:tr>
              <a:tr h="53498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Sequence encoder</a:t>
                      </a:r>
                    </a:p>
                  </a:txBody>
                  <a:tcPr marL="133350" marR="114300" marT="114300" marB="114300">
                    <a:lnL w="5715">
                      <a:solidFill>
                        <a:srgbClr val="D5E3EC"/>
                      </a:solidFill>
                      <a:prstDash val="solid"/>
                    </a:lnL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32-unit LSTM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498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Classification head</a:t>
                      </a:r>
                    </a:p>
                  </a:txBody>
                  <a:tcPr marL="133350" marR="114300" marT="114300" marB="114300">
                    <a:lnL w="5715">
                      <a:solidFill>
                        <a:srgbClr val="D5E3EC"/>
                      </a:solidFill>
                      <a:prstDash val="solid"/>
                    </a:lnL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16-unit ReLU, dropout 0.2, five logits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498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Training</a:t>
                      </a:r>
                    </a:p>
                  </a:txBody>
                  <a:tcPr marL="133350" marR="114300" marT="114300" marB="114300">
                    <a:lnL w="5715">
                      <a:solidFill>
                        <a:srgbClr val="D5E3EC"/>
                      </a:solidFill>
                      <a:prstDash val="solid"/>
                    </a:lnL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Weighted cross entropy and Adam 0.001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498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Saved primary checkpoint</a:t>
                      </a:r>
                    </a:p>
                  </a:txBody>
                  <a:tcPr marL="133350" marR="114300" marT="114300" marB="114300">
                    <a:lnL w="5715">
                      <a:solidFill>
                        <a:srgbClr val="D5E3EC"/>
                      </a:solidFill>
                      <a:prstDash val="solid"/>
                    </a:lnL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Epoch 42 of 50 epochs run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498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Trainable parameters</a:t>
                      </a:r>
                    </a:p>
                  </a:txBody>
                  <a:tcPr marL="133350" marR="114300" marT="114300" marB="114300">
                    <a:lnL w="5715">
                      <a:solidFill>
                        <a:srgbClr val="D5E3EC"/>
                      </a:solidFill>
                      <a:prstDash val="solid"/>
                    </a:lnL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8,293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EDE74C-7869-4F6D-BECF-789F1917D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37B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37B9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37B9A"/>
                </a:solidFill>
                <a:latin typeface="Arial"/>
                <a:ea typeface="Arial"/>
                <a:cs typeface="Arial"/>
              </a:rPr>
              <a:t>Seed 42 stays fixed. Validation selects the model and thresholds.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4DEA92-0847-47FD-A248-89FDF4B24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C7385"/>
                </a:solidFill>
                <a:latin typeface="Arial"/>
                <a:ea typeface="Arial"/>
                <a:cs typeface="Arial"/>
              </a:rPr>
              <a:t>Version 2 raises the epoch budget and gives healthy operation more loss weight</a:t>
            </a:r>
          </a:p>
        </p:txBody>
      </p:sp>
    </p:spTree>
    <p:extLst>
      <p:ext uri="{BB962C8B-B14F-4D97-AF65-F5344CB8AC3E}">
        <p14:creationId xmlns:p14="http://schemas.microsoft.com/office/powerpoint/2010/main" val="4128890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68D75F-34F5-4123-8904-FFCD11096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35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355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3550"/>
                </a:solidFill>
                <a:latin typeface="Arial"/>
                <a:ea typeface="Arial"/>
                <a:cs typeface="Arial"/>
              </a:rPr>
              <a:t>Training-only selection of five inputs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661664-EF18-472D-8C93-8C2356237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7385"/>
                </a:solidFill>
                <a:latin typeface="Arial"/>
                <a:ea typeface="Arial"/>
                <a:cs typeface="Arial"/>
              </a:rPr>
              <a:t>Cooling equipment sensor fault detection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30837D-94D8-4FBC-8195-651578294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7385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3DA8FD-07F1-4239-B7D8-D6B48831132E}"/>
              </a:ext>
            </a:extLst>
          </p:cNvPr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33432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467600"/>
                <a:gridCol w="3505200"/>
              </a:tblGrid>
              <a:tr h="557213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Selected input</a:t>
                      </a:r>
                    </a:p>
                  </a:txBody>
                  <a:tcPr marL="133350" marR="114300" marT="114300" marB="114300">
                    <a:lnL w="5715">
                      <a:solidFill>
                        <a:srgbClr val="D5E3EC"/>
                      </a:solidFill>
                      <a:prstDash val="solid"/>
                    </a:lnL>
                    <a:lnR w="5715">
                      <a:solidFill>
                        <a:srgbClr val="D5E3EC"/>
                      </a:solidFill>
                      <a:prstDash val="solid"/>
                    </a:lnR>
                    <a:lnT w="5715">
                      <a:solidFill>
                        <a:srgbClr val="D5E3EC"/>
                      </a:solidFill>
                      <a:prstDash val="solid"/>
                    </a:lnT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Recorded type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T w="5715">
                      <a:solidFill>
                        <a:srgbClr val="D5E3EC"/>
                      </a:solidFill>
                      <a:prstDash val="solid"/>
                    </a:lnT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EDF5F9"/>
                    </a:solidFill>
                  </a:tcPr>
                </a:tc>
              </a:tr>
              <a:tr h="557213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Hot supply fan speed</a:t>
                      </a:r>
                    </a:p>
                  </a:txBody>
                  <a:tcPr marL="133350" marR="114300" marT="114300" marB="114300">
                    <a:lnL w="5715">
                      <a:solidFill>
                        <a:srgbClr val="D5E3EC"/>
                      </a:solidFill>
                      <a:prstDash val="solid"/>
                    </a:lnL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Measurement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7213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Hot supply fan power</a:t>
                      </a:r>
                    </a:p>
                  </a:txBody>
                  <a:tcPr marL="133350" marR="114300" marT="114300" marB="114300">
                    <a:lnL w="5715">
                      <a:solidFill>
                        <a:srgbClr val="D5E3EC"/>
                      </a:solidFill>
                      <a:prstDash val="solid"/>
                    </a:lnL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Measurement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7213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Cold supply fan speed</a:t>
                      </a:r>
                    </a:p>
                  </a:txBody>
                  <a:tcPr marL="133350" marR="114300" marT="114300" marB="114300">
                    <a:lnL w="5715">
                      <a:solidFill>
                        <a:srgbClr val="D5E3EC"/>
                      </a:solidFill>
                      <a:prstDash val="solid"/>
                    </a:lnL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Measurement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7213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Cooling-coil valve command</a:t>
                      </a:r>
                    </a:p>
                  </a:txBody>
                  <a:tcPr marL="133350" marR="114300" marT="114300" marB="114300">
                    <a:lnL w="5715">
                      <a:solidFill>
                        <a:srgbClr val="D5E3EC"/>
                      </a:solidFill>
                      <a:prstDash val="solid"/>
                    </a:lnL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Control command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7213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Cold supply fan power</a:t>
                      </a:r>
                    </a:p>
                  </a:txBody>
                  <a:tcPr marL="133350" marR="114300" marT="114300" marB="114300">
                    <a:lnL w="5715">
                      <a:solidFill>
                        <a:srgbClr val="D5E3EC"/>
                      </a:solidFill>
                      <a:prstDash val="solid"/>
                    </a:lnL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Measurement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AFF18A-410A-4088-A659-DE57C00AD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37B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37B9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37B9A"/>
                </a:solidFill>
                <a:latin typeface="Arial"/>
                <a:ea typeface="Arial"/>
                <a:cs typeface="Arial"/>
              </a:rPr>
              <a:t>Four measurements and one command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A3DC76-366F-418A-AD7F-3449029AF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C7385"/>
                </a:solidFill>
                <a:latin typeface="Arial"/>
                <a:ea typeface="Arial"/>
                <a:cs typeface="Arial"/>
              </a:rPr>
              <a:t>Five raw inputs reduce model size but can remove evidence needed for diagnosis</a:t>
            </a:r>
          </a:p>
        </p:txBody>
      </p:sp>
    </p:spTree>
    <p:extLst>
      <p:ext uri="{BB962C8B-B14F-4D97-AF65-F5344CB8AC3E}">
        <p14:creationId xmlns:p14="http://schemas.microsoft.com/office/powerpoint/2010/main" val="5082830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CEC455-5B1E-4A36-956F-693CCE011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35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355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3550"/>
                </a:solidFill>
                <a:latin typeface="Arial"/>
                <a:ea typeface="Arial"/>
                <a:cs typeface="Arial"/>
              </a:rPr>
              <a:t>Reserved test performance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5024D5-8626-4DB1-A5EF-53F152E91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7385"/>
                </a:solidFill>
                <a:latin typeface="Arial"/>
                <a:ea typeface="Arial"/>
                <a:cs typeface="Arial"/>
              </a:rPr>
              <a:t>Cooling equipment sensor fault detection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ABE9B2-1651-41EA-84F3-3A569070C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7385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822913-943C-4A9F-A077-8CDB9F275475}"/>
              </a:ext>
            </a:extLst>
          </p:cNvPr>
          <p:cNvGraphicFramePr/>
          <p:nvPr/>
        </p:nvGraphicFramePr>
        <p:xfrm>
          <a:off xmlns:a="http://schemas.openxmlformats.org/drawingml/2006/main" x="609600" y="1685925"/>
          <a:ext xmlns:a="http://schemas.openxmlformats.org/drawingml/2006/main" cx="10972800" cy="3390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286625"/>
                <a:gridCol w="3686175"/>
              </a:tblGrid>
              <a:tr h="5651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Metric</a:t>
                      </a:r>
                    </a:p>
                  </a:txBody>
                  <a:tcPr marL="133350" marR="114300" marT="114300" marB="114300">
                    <a:lnL w="5715">
                      <a:solidFill>
                        <a:srgbClr val="D5E3EC"/>
                      </a:solidFill>
                      <a:prstDash val="solid"/>
                    </a:lnL>
                    <a:lnR w="5715">
                      <a:solidFill>
                        <a:srgbClr val="D5E3EC"/>
                      </a:solidFill>
                      <a:prstDash val="solid"/>
                    </a:lnR>
                    <a:lnT w="5715">
                      <a:solidFill>
                        <a:srgbClr val="D5E3EC"/>
                      </a:solidFill>
                      <a:prstDash val="solid"/>
                    </a:lnT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Primary model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T w="5715">
                      <a:solidFill>
                        <a:srgbClr val="D5E3EC"/>
                      </a:solidFill>
                      <a:prstDash val="solid"/>
                    </a:lnT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EDF5F9"/>
                    </a:solidFill>
                  </a:tcPr>
                </a:tc>
              </a:tr>
              <a:tr h="56515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Five-class accuracy</a:t>
                      </a:r>
                    </a:p>
                  </a:txBody>
                  <a:tcPr marL="133350" marR="114300" marT="114300" marB="114300">
                    <a:lnL w="5715">
                      <a:solidFill>
                        <a:srgbClr val="D5E3EC"/>
                      </a:solidFill>
                      <a:prstDash val="solid"/>
                    </a:lnL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92.87%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515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Macro F1</a:t>
                      </a:r>
                    </a:p>
                  </a:txBody>
                  <a:tcPr marL="133350" marR="114300" marT="114300" marB="114300">
                    <a:lnL w="5715">
                      <a:solidFill>
                        <a:srgbClr val="D5E3EC"/>
                      </a:solidFill>
                      <a:prstDash val="solid"/>
                    </a:lnL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89.36%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515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Balanced accuracy</a:t>
                      </a:r>
                    </a:p>
                  </a:txBody>
                  <a:tcPr marL="133350" marR="114300" marT="114300" marB="114300">
                    <a:lnL w="5715">
                      <a:solidFill>
                        <a:srgbClr val="D5E3EC"/>
                      </a:solidFill>
                      <a:prstDash val="solid"/>
                    </a:lnL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93.60%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515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Any-fault detection recall</a:t>
                      </a:r>
                    </a:p>
                  </a:txBody>
                  <a:tcPr marL="133350" marR="114300" marT="114300" marB="114300">
                    <a:lnL w="5715">
                      <a:solidFill>
                        <a:srgbClr val="D5E3EC"/>
                      </a:solidFill>
                      <a:prstDash val="solid"/>
                    </a:lnL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93.05%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515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Healthy false-positive rate</a:t>
                      </a:r>
                    </a:p>
                  </a:txBody>
                  <a:tcPr marL="133350" marR="114300" marT="114300" marB="114300">
                    <a:lnL w="5715">
                      <a:solidFill>
                        <a:srgbClr val="D5E3EC"/>
                      </a:solidFill>
                      <a:prstDash val="solid"/>
                    </a:lnL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2.10%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F578B8-8088-4A9B-9F89-8C83C2A63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B44A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B44A3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B44A3E"/>
                </a:solidFill>
                <a:latin typeface="Arial"/>
                <a:ea typeface="Arial"/>
                <a:cs typeface="Arial"/>
              </a:rPr>
              <a:t>The 2.10% healthy false-positive rate exceeds the 1% goal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FA9B23-9D09-46E8-B6CC-2DCA469F6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C7385"/>
                </a:solidFill>
                <a:latin typeface="Arial"/>
                <a:ea typeface="Arial"/>
                <a:cs typeface="Arial"/>
              </a:rPr>
              <a:t>463,058 scored test minutes from reserved calendar weeks</a:t>
            </a:r>
          </a:p>
        </p:txBody>
      </p:sp>
    </p:spTree>
    <p:extLst>
      <p:ext uri="{BB962C8B-B14F-4D97-AF65-F5344CB8AC3E}">
        <p14:creationId xmlns:p14="http://schemas.microsoft.com/office/powerpoint/2010/main" val="11219052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C1355F-43A4-4CE0-BD84-E30102075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35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355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3550"/>
                </a:solidFill>
                <a:latin typeface="Arial"/>
                <a:ea typeface="Arial"/>
                <a:cs typeface="Arial"/>
              </a:rPr>
              <a:t>Correct sensor identification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863B26-A888-45BC-9879-7FE48C41E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7385"/>
                </a:solidFill>
                <a:latin typeface="Arial"/>
                <a:ea typeface="Arial"/>
                <a:cs typeface="Arial"/>
              </a:rPr>
              <a:t>Cooling equipment sensor fault detection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A404F7-7C67-4347-8A0D-1EF39E8C4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7385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CDB6A4A4-B0AA-43AA-8CEC-58DD80873FCC}"/>
              </a:ext>
            </a:extLst>
          </p:cNvPr>
          <p:cNvGraphicFramePr/>
          <p:nvPr/>
        </p:nvGraphicFramePr>
        <p:xfrm>
          <a:off xmlns:a="http://schemas.openxmlformats.org/drawingml/2006/main" x="666750" y="1657350"/>
          <a:ext xmlns:a="http://schemas.openxmlformats.org/drawingml/2006/main" cx="10610850" cy="3695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5dee0c8d6144754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D6981D-3E95-426C-B4BA-9DBB2912B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37B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37B9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37B9A"/>
                </a:solidFill>
                <a:latin typeface="Arial"/>
                <a:ea typeface="Arial"/>
                <a:cs typeface="Arial"/>
              </a:rPr>
              <a:t>Sensor recall ranges from 87.52% to 95.88%</a:t>
            </a:r>
          </a:p>
        </p:txBody>
      </p:sp>
    </p:spTree>
    <p:extLst>
      <p:ext uri="{BB962C8B-B14F-4D97-AF65-F5344CB8AC3E}">
        <p14:creationId xmlns:p14="http://schemas.microsoft.com/office/powerpoint/2010/main" val="514538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A37FFB-E4EC-4237-9427-D7D64D6BB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35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355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3550"/>
                </a:solidFill>
                <a:latin typeface="Arial"/>
                <a:ea typeface="Arial"/>
                <a:cs typeface="Arial"/>
              </a:rPr>
              <a:t>Five-class confusion counts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A0C2CD-37F7-49C3-88D1-503998523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7385"/>
                </a:solidFill>
                <a:latin typeface="Arial"/>
                <a:ea typeface="Arial"/>
                <a:cs typeface="Arial"/>
              </a:rPr>
              <a:t>Cooling equipment sensor fault detection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C2D06E-63DE-4F6B-BD54-8D6B8BF0F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7385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7FDF29-232A-4062-9C08-BE7795FAF70A}"/>
              </a:ext>
            </a:extLst>
          </p:cNvPr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3371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1524000"/>
                <a:gridCol w="1619250"/>
                <a:gridCol w="1619250"/>
                <a:gridCol w="1724025"/>
                <a:gridCol w="1724025"/>
              </a:tblGrid>
              <a:tr h="5619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Source / predicted</a:t>
                      </a:r>
                    </a:p>
                  </a:txBody>
                  <a:tcPr marL="133350" marR="114300" marT="114300" marB="114300">
                    <a:lnL w="5715">
                      <a:solidFill>
                        <a:srgbClr val="D5E3EC"/>
                      </a:solidFill>
                      <a:prstDash val="solid"/>
                    </a:lnL>
                    <a:lnR w="5715">
                      <a:solidFill>
                        <a:srgbClr val="D5E3EC"/>
                      </a:solidFill>
                      <a:prstDash val="solid"/>
                    </a:lnR>
                    <a:lnT w="5715">
                      <a:solidFill>
                        <a:srgbClr val="D5E3EC"/>
                      </a:solidFill>
                      <a:prstDash val="solid"/>
                    </a:lnT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Healthy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T w="5715">
                      <a:solidFill>
                        <a:srgbClr val="D5E3EC"/>
                      </a:solidFill>
                      <a:prstDash val="solid"/>
                    </a:lnT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Cold temp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T w="5715">
                      <a:solidFill>
                        <a:srgbClr val="D5E3EC"/>
                      </a:solidFill>
                      <a:prstDash val="solid"/>
                    </a:lnT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Hot temp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T w="5715">
                      <a:solidFill>
                        <a:srgbClr val="D5E3EC"/>
                      </a:solidFill>
                      <a:prstDash val="solid"/>
                    </a:lnT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Cold pressure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T w="5715">
                      <a:solidFill>
                        <a:srgbClr val="D5E3EC"/>
                      </a:solidFill>
                      <a:prstDash val="solid"/>
                    </a:lnT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Hot pressure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T w="5715">
                      <a:solidFill>
                        <a:srgbClr val="D5E3EC"/>
                      </a:solidFill>
                      <a:prstDash val="solid"/>
                    </a:lnT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EDF5F9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Healthy</a:t>
                      </a:r>
                    </a:p>
                  </a:txBody>
                  <a:tcPr marL="133350" marR="114300" marT="114300" marB="114300">
                    <a:lnL w="5715">
                      <a:solidFill>
                        <a:srgbClr val="D5E3EC"/>
                      </a:solidFill>
                      <a:prstDash val="solid"/>
                    </a:lnL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27,060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490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76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Cold temp</a:t>
                      </a:r>
                    </a:p>
                  </a:txBody>
                  <a:tcPr marL="133350" marR="114300" marT="114300" marB="114300">
                    <a:lnL w="5715">
                      <a:solidFill>
                        <a:srgbClr val="D5E3EC"/>
                      </a:solidFill>
                      <a:prstDash val="solid"/>
                    </a:lnL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8,821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94,434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284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53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146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Hot temp</a:t>
                      </a:r>
                    </a:p>
                  </a:txBody>
                  <a:tcPr marL="133350" marR="114300" marT="114300" marB="114300">
                    <a:lnL w="5715">
                      <a:solidFill>
                        <a:srgbClr val="D5E3EC"/>
                      </a:solidFill>
                      <a:prstDash val="solid"/>
                    </a:lnL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13,184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320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96,764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188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104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Cold pressure</a:t>
                      </a:r>
                    </a:p>
                  </a:txBody>
                  <a:tcPr marL="133350" marR="114300" marT="114300" marB="114300">
                    <a:lnL w="5715">
                      <a:solidFill>
                        <a:srgbClr val="D5E3EC"/>
                      </a:solidFill>
                      <a:prstDash val="solid"/>
                    </a:lnL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4,412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78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105,780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268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Hot pressure</a:t>
                      </a:r>
                    </a:p>
                  </a:txBody>
                  <a:tcPr marL="133350" marR="114300" marT="114300" marB="114300">
                    <a:lnL w="5715">
                      <a:solidFill>
                        <a:srgbClr val="D5E3EC"/>
                      </a:solidFill>
                      <a:prstDash val="solid"/>
                    </a:lnL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3,834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142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56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525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106,003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32983E-0F4C-4163-A1DB-0EA48DBE7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00675"/>
            <a:ext cx="10972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B44A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B44A3E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B44A3E"/>
                </a:solidFill>
                <a:latin typeface="Arial"/>
                <a:ea typeface="Arial"/>
                <a:cs typeface="Arial"/>
              </a:rPr>
              <a:t>580 healthy false readings in 52 bursts across 40 active healthy days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9DD4FD-7593-4C5D-8AC4-251B537DB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C7385"/>
                </a:solidFill>
                <a:latin typeface="Arial"/>
                <a:ea typeface="Arial"/>
                <a:cs typeface="Arial"/>
              </a:rPr>
              <a:t>490 false readings identify the hot-deck temperature sensor</a:t>
            </a:r>
          </a:p>
        </p:txBody>
      </p:sp>
    </p:spTree>
    <p:extLst>
      <p:ext uri="{BB962C8B-B14F-4D97-AF65-F5344CB8AC3E}">
        <p14:creationId xmlns:p14="http://schemas.microsoft.com/office/powerpoint/2010/main" val="177467374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8EE27E-D66B-46A7-9873-52F20A9D0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35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355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3550"/>
                </a:solidFill>
                <a:latin typeface="Arial"/>
                <a:ea typeface="Arial"/>
                <a:cs typeface="Arial"/>
              </a:rPr>
              <a:t>Five inputs perform worse in this study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D1D06B-FF8B-4D2B-9B05-FEF53F544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7385"/>
                </a:solidFill>
                <a:latin typeface="Arial"/>
                <a:ea typeface="Arial"/>
                <a:cs typeface="Arial"/>
              </a:rPr>
              <a:t>Cooling equipment sensor fault detection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CC5AF1-1980-4C51-861F-C355746F3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7385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DE169E-AB24-4D21-A7AE-FD4E56B27657}"/>
              </a:ext>
            </a:extLst>
          </p:cNvPr>
          <p:cNvGraphicFramePr/>
          <p:nvPr/>
        </p:nvGraphicFramePr>
        <p:xfrm>
          <a:off xmlns:a="http://schemas.openxmlformats.org/drawingml/2006/main" x="609600" y="1733550"/>
          <a:ext xmlns:a="http://schemas.openxmlformats.org/drawingml/2006/main" cx="109728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1352550"/>
                <a:gridCol w="2095500"/>
                <a:gridCol w="2095500"/>
                <a:gridCol w="2286000"/>
              </a:tblGrid>
              <a:tr h="6096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Candidate</a:t>
                      </a:r>
                    </a:p>
                  </a:txBody>
                  <a:tcPr marL="133350" marR="114300" marT="114300" marB="114300">
                    <a:lnL w="5715">
                      <a:solidFill>
                        <a:srgbClr val="D5E3EC"/>
                      </a:solidFill>
                      <a:prstDash val="solid"/>
                    </a:lnL>
                    <a:lnR w="5715">
                      <a:solidFill>
                        <a:srgbClr val="D5E3EC"/>
                      </a:solidFill>
                      <a:prstDash val="solid"/>
                    </a:lnR>
                    <a:lnT w="5715">
                      <a:solidFill>
                        <a:srgbClr val="D5E3EC"/>
                      </a:solidFill>
                      <a:prstDash val="solid"/>
                    </a:lnT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Inputs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T w="5715">
                      <a:solidFill>
                        <a:srgbClr val="D5E3EC"/>
                      </a:solidFill>
                      <a:prstDash val="solid"/>
                    </a:lnT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Accuracy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T w="5715">
                      <a:solidFill>
                        <a:srgbClr val="D5E3EC"/>
                      </a:solidFill>
                      <a:prstDash val="solid"/>
                    </a:lnT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Macro F1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T w="5715">
                      <a:solidFill>
                        <a:srgbClr val="D5E3EC"/>
                      </a:solidFill>
                      <a:prstDash val="solid"/>
                    </a:lnT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ED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Healthy FPR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T w="5715">
                      <a:solidFill>
                        <a:srgbClr val="D5E3EC"/>
                      </a:solidFill>
                      <a:prstDash val="solid"/>
                    </a:lnT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EDF5F9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V1 full inputs</a:t>
                      </a:r>
                    </a:p>
                  </a:txBody>
                  <a:tcPr marL="133350" marR="114300" marT="114300" marB="114300">
                    <a:lnL w="5715">
                      <a:solidFill>
                        <a:srgbClr val="D5E3EC"/>
                      </a:solidFill>
                      <a:prstDash val="solid"/>
                    </a:lnL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26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77.84%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75.22%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2.25%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V1 five inputs</a:t>
                      </a:r>
                    </a:p>
                  </a:txBody>
                  <a:tcPr marL="133350" marR="114300" marT="114300" marB="114300">
                    <a:lnL w="5715">
                      <a:solidFill>
                        <a:srgbClr val="D5E3EC"/>
                      </a:solidFill>
                      <a:prstDash val="solid"/>
                    </a:lnL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63.22%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54.88%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32.69%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V2 full inputs</a:t>
                      </a:r>
                    </a:p>
                  </a:txBody>
                  <a:tcPr marL="133350" marR="114300" marT="114300" marB="114300">
                    <a:lnL w="5715">
                      <a:solidFill>
                        <a:srgbClr val="D5E3EC"/>
                      </a:solidFill>
                      <a:prstDash val="solid"/>
                    </a:lnL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26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92.87%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89.36%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2.10%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V2 five inputs</a:t>
                      </a:r>
                    </a:p>
                  </a:txBody>
                  <a:tcPr marL="133350" marR="114300" marT="114300" marB="114300">
                    <a:lnL w="5715">
                      <a:solidFill>
                        <a:srgbClr val="D5E3EC"/>
                      </a:solidFill>
                      <a:prstDash val="solid"/>
                    </a:lnL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64.27%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56.42%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B4E"/>
                          </a:solidFill>
                          <a:latin typeface="Arial"/>
                          <a:ea typeface="Arial"/>
                          <a:cs typeface="Arial"/>
                        </a:rPr>
                        <a:t>37.99%</a:t>
                      </a:r>
                    </a:p>
                  </a:txBody>
                  <a:tcPr marL="133350" marR="114300" marT="114300" marB="114300">
                    <a:lnR w="5715">
                      <a:solidFill>
                        <a:srgbClr val="D5E3EC"/>
                      </a:solidFill>
                      <a:prstDash val="solid"/>
                    </a:lnR>
                    <a:lnB w="5715">
                      <a:solidFill>
                        <a:srgbClr val="D5E3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384F00-1E14-4B50-9A3E-F7A1B9177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109728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37B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37B9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37B9A"/>
                </a:solidFill>
                <a:latin typeface="Arial"/>
                <a:ea typeface="Arial"/>
                <a:cs typeface="Arial"/>
              </a:rPr>
              <a:t>The 26-input model retains useful evidence across the four fault targets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00D405-F2C1-4258-9A76-8A87442F6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C7385"/>
                </a:solidFill>
                <a:latin typeface="Arial"/>
                <a:ea typeface="Arial"/>
                <a:cs typeface="Arial"/>
              </a:rPr>
              <a:t>The result does not rule out other five-feature or engineered-feature designs</a:t>
            </a:r>
          </a:p>
        </p:txBody>
      </p:sp>
    </p:spTree>
    <p:extLst>
      <p:ext uri="{BB962C8B-B14F-4D97-AF65-F5344CB8AC3E}">
        <p14:creationId xmlns:p14="http://schemas.microsoft.com/office/powerpoint/2010/main" val="7634966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2D2107-B079-48D8-845C-CB2F13864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35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355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3550"/>
                </a:solidFill>
                <a:latin typeface="Arial"/>
                <a:ea typeface="Arial"/>
                <a:cs typeface="Arial"/>
              </a:rPr>
              <a:t>False alarms and remaining limits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36A67E-E0E1-445E-BF5F-7C5179AAD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7385"/>
                </a:solidFill>
                <a:latin typeface="Arial"/>
                <a:ea typeface="Arial"/>
                <a:cs typeface="Arial"/>
              </a:rPr>
              <a:t>Cooling equipment sensor fault detection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CA3250-071B-450A-BBF5-9E12F013D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7385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8C0B9A-7D90-4A1F-9639-C54B26790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B44A3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B44A3E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B44A3E"/>
                </a:solidFill>
                <a:latin typeface="Arial"/>
                <a:ea typeface="Arial"/>
                <a:cs typeface="Arial"/>
              </a:rPr>
              <a:t>The false-alarm target remains unmet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77D0B5-5BA1-4F4B-8BC4-50E689122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66975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63B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63B4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63B4E"/>
                </a:solidFill>
                <a:latin typeface="Arial"/>
                <a:ea typeface="Arial"/>
                <a:cs typeface="Arial"/>
              </a:rPr>
              <a:t>Healthy FPR rises from 0.90% in validation to 2.10% on test.</a:t>
            </a:r>
          </a:p>
          <a:p xmlns:a="http://schemas.openxmlformats.org/drawingml/2006/main">
            <a:pPr>
              <a:defRPr sz="2250" b="0">
                <a:solidFill>
                  <a:srgbClr val="263B4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63B4E"/>
                </a:solidFill>
                <a:latin typeface="Arial"/>
                <a:ea typeface="Arial"/>
                <a:cs typeface="Arial"/>
              </a:rPr>
              <a:t>The frozen test result stays unchanged after inspection.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929BC6-EE19-4E67-B99B-E01A491CF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137B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137B9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37B9A"/>
                </a:solidFill>
                <a:latin typeface="Arial"/>
                <a:ea typeface="Arial"/>
                <a:cs typeface="Arial"/>
              </a:rPr>
              <a:t>One simulated unit and one bias at a time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286550-E484-4F00-BF4A-8F8136937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63B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63B4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B4E"/>
                </a:solidFill>
                <a:latin typeface="Arial"/>
                <a:ea typeface="Arial"/>
                <a:cs typeface="Arial"/>
              </a:rPr>
              <a:t>No field validation or simultaneous-fault claim.</a:t>
            </a:r>
          </a:p>
          <a:p xmlns:a="http://schemas.openxmlformats.org/drawingml/2006/main">
            <a:pPr>
              <a:defRPr sz="2100" b="0">
                <a:solidFill>
                  <a:srgbClr val="263B4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B4E"/>
                </a:solidFill>
                <a:latin typeface="Arial"/>
                <a:ea typeface="Arial"/>
                <a:cs typeface="Arial"/>
              </a:rPr>
              <a:t>Only one training seed in this extension.</a:t>
            </a:r>
          </a:p>
          <a:p xmlns:a="http://schemas.openxmlformats.org/drawingml/2006/main">
            <a:pPr>
              <a:defRPr sz="2100" b="0">
                <a:solidFill>
                  <a:srgbClr val="263B4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B4E"/>
                </a:solidFill>
                <a:latin typeface="Arial"/>
                <a:ea typeface="Arial"/>
                <a:cs typeface="Arial"/>
              </a:rPr>
              <a:t>More independent evaluation data is required.</a:t>
            </a:r>
          </a:p>
        </p:txBody>
      </p:sp>
    </p:spTree>
    <p:extLst>
      <p:ext uri="{BB962C8B-B14F-4D97-AF65-F5344CB8AC3E}">
        <p14:creationId xmlns:p14="http://schemas.microsoft.com/office/powerpoint/2010/main" val="6270895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BC2E43-DEF6-4B7D-8CBE-5E1EB6ACE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355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2355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3550"/>
                </a:solidFill>
                <a:latin typeface="Arial"/>
                <a:ea typeface="Arial"/>
                <a:cs typeface="Arial"/>
              </a:rPr>
              <a:t>Demonstration and project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39E9FF-000D-4544-A98A-41FC9AFAC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7385"/>
                </a:solidFill>
                <a:latin typeface="Arial"/>
                <a:ea typeface="Arial"/>
                <a:cs typeface="Arial"/>
              </a:rPr>
              <a:t>Cooling equipment sensor fault detection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5002CE-B6B0-4891-AAC2-224748E8F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7385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E15321-5906-453D-AE76-8E2D62E6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37B9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37B9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37B9A"/>
                </a:solidFill>
                <a:latin typeface="Arial"/>
                <a:ea typeface="Arial"/>
                <a:cs typeface="Arial"/>
              </a:rPr>
              <a:t>Start Dashboard.bat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63CC7E-6E69-4922-B58F-CC15FA64D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1097280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63B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63B4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63B4E"/>
                </a:solidFill>
                <a:latin typeface="Arial"/>
                <a:ea typeface="Arial"/>
                <a:cs typeface="Arial"/>
              </a:rPr>
              <a:t>Select healthy operation and one case for each faulty sensor.</a:t>
            </a:r>
          </a:p>
          <a:p xmlns:a="http://schemas.openxmlformats.org/drawingml/2006/main">
            <a:pPr>
              <a:defRPr sz="2250" b="0">
                <a:solidFill>
                  <a:srgbClr val="263B4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63B4E"/>
                </a:solidFill>
                <a:latin typeface="Arial"/>
                <a:ea typeface="Arial"/>
                <a:cs typeface="Arial"/>
              </a:rPr>
              <a:t>Replay the reserved day and inspect the sensor-specific output.</a:t>
            </a:r>
          </a:p>
          <a:p xmlns:a="http://schemas.openxmlformats.org/drawingml/2006/main">
            <a:pPr>
              <a:defRPr sz="2250" b="0">
                <a:solidFill>
                  <a:srgbClr val="263B4E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63B4E"/>
                </a:solidFill>
                <a:latin typeface="Arial"/>
                <a:ea typeface="Arial"/>
                <a:cs typeface="Arial"/>
              </a:rPr>
              <a:t>Upload the example thirty-reading CSV for fresh scoring.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B28C92-0FEF-42EB-ABB4-6AB54CF8A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109728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63B4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63B4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B4E"/>
                </a:solidFill>
                <a:latin typeface="Arial"/>
                <a:ea typeface="Arial"/>
                <a:cs typeface="Arial"/>
              </a:rPr>
              <a:t>Updated PBL report, editable slides and executed notebook</a:t>
            </a:r>
          </a:p>
          <a:p xmlns:a="http://schemas.openxmlformats.org/drawingml/2006/main">
            <a:pPr>
              <a:defRPr sz="2100" b="0">
                <a:solidFill>
                  <a:srgbClr val="263B4E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B4E"/>
                </a:solidFill>
                <a:latin typeface="Arial"/>
                <a:ea typeface="Arial"/>
                <a:cs typeface="Arial"/>
              </a:rPr>
              <a:t>Saved models, score arrays and 504 reproduced validation policies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23716C-0523-43C7-88C3-B553D81A5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C738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C7385"/>
                </a:solidFill>
                <a:latin typeface="Arial"/>
                <a:ea typeface="Arial"/>
                <a:cs typeface="Arial"/>
              </a:rPr>
              <a:t>The source archive downloads separately. The saved demonstration runs offline.</a:t>
            </a:r>
          </a:p>
        </p:txBody>
      </p:sp>
    </p:spTree>
    <p:extLst>
      <p:ext uri="{BB962C8B-B14F-4D97-AF65-F5344CB8AC3E}">
        <p14:creationId xmlns:p14="http://schemas.microsoft.com/office/powerpoint/2010/main" val="19955145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2026-10-16T09:07:57.8680000Z</dcterms:created>
  <dcterms:modified xsi:type="dcterms:W3CDTF">2026-10-16T09:07:57.8680000Z</dcterms:modified>
</coreProperties>
</file>