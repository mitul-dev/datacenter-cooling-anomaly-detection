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c10ca8c0a4e7d" /><Relationship Type="http://schemas.openxmlformats.org/officeDocument/2006/relationships/extended-properties" Target="/docProps/app.xml" Id="R34ebeb2ae7cf4d2d" /><Relationship Type="http://schemas.openxmlformats.org/officeDocument/2006/relationships/officeDocument" Target="/ppt/presentation.xml" Id="R1469fa24f9b64a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db6bcd94e14de0"/>
  </p:sldMasterIdLst>
  <p:notesMasterIdLst>
    <p:notesMasterId xmlns:r="http://schemas.openxmlformats.org/officeDocument/2006/relationships" r:id="R8b05539d42ad471c"/>
  </p:notesMasterIdLst>
  <p:sldIdLst>
    <p:sldId xmlns:r="http://schemas.openxmlformats.org/officeDocument/2006/relationships" id="256" r:id="Rea1faee025cb4929"/>
    <p:sldId xmlns:r="http://schemas.openxmlformats.org/officeDocument/2006/relationships" id="257" r:id="R064c4b459ad14f69"/>
    <p:sldId xmlns:r="http://schemas.openxmlformats.org/officeDocument/2006/relationships" id="258" r:id="Rcf37569aaa874278"/>
    <p:sldId xmlns:r="http://schemas.openxmlformats.org/officeDocument/2006/relationships" id="259" r:id="Rd6ee09b22e1f4089"/>
    <p:sldId xmlns:r="http://schemas.openxmlformats.org/officeDocument/2006/relationships" id="260" r:id="R3f9efa9bfaf54c6a"/>
    <p:sldId xmlns:r="http://schemas.openxmlformats.org/officeDocument/2006/relationships" id="261" r:id="Re345909c5e1a43fe"/>
    <p:sldId xmlns:r="http://schemas.openxmlformats.org/officeDocument/2006/relationships" id="262" r:id="R797c52614c4e468b"/>
    <p:sldId xmlns:r="http://schemas.openxmlformats.org/officeDocument/2006/relationships" id="263" r:id="Rcc1e6844fdf645ef"/>
    <p:sldId xmlns:r="http://schemas.openxmlformats.org/officeDocument/2006/relationships" id="264" r:id="R88b61f1858c84296"/>
    <p:sldId xmlns:r="http://schemas.openxmlformats.org/officeDocument/2006/relationships" id="265" r:id="R0612a279a5654100"/>
    <p:sldId xmlns:r="http://schemas.openxmlformats.org/officeDocument/2006/relationships" id="266" r:id="R00087ac7687741a5"/>
    <p:sldId xmlns:r="http://schemas.openxmlformats.org/officeDocument/2006/relationships" id="267" r:id="Re98b637a8c27484f"/>
    <p:sldId xmlns:r="http://schemas.openxmlformats.org/officeDocument/2006/relationships" id="268" r:id="R3aac03388b7242a7"/>
    <p:sldId xmlns:r="http://schemas.openxmlformats.org/officeDocument/2006/relationships" id="269" r:id="R676666107d9241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fd8038e6784214" /><Relationship Type="http://schemas.openxmlformats.org/officeDocument/2006/relationships/slideMaster" Target="/ppt/slideMasters/slideMaster1.xml" Id="R3adb6bcd94e14de0" /><Relationship Type="http://schemas.openxmlformats.org/officeDocument/2006/relationships/notesMaster" Target="/ppt/notesMasters/notesMaster1.xml" Id="R8b05539d42ad471c" /><Relationship Type="http://schemas.openxmlformats.org/officeDocument/2006/relationships/presProps" Target="/ppt/presProps.xml" Id="R4d3f1978ce534a23" /><Relationship Type="http://schemas.openxmlformats.org/officeDocument/2006/relationships/tableStyles" Target="/ppt/tableStyles.xml" Id="R324e0d1045024f2b" /><Relationship Type="http://schemas.openxmlformats.org/officeDocument/2006/relationships/slide" Target="/ppt/slides/slide1.xml" Id="Rea1faee025cb4929" /><Relationship Type="http://schemas.openxmlformats.org/officeDocument/2006/relationships/slide" Target="/ppt/slides/slide2.xml" Id="R064c4b459ad14f69" /><Relationship Type="http://schemas.openxmlformats.org/officeDocument/2006/relationships/slide" Target="/ppt/slides/slide3.xml" Id="Rcf37569aaa874278" /><Relationship Type="http://schemas.openxmlformats.org/officeDocument/2006/relationships/slide" Target="/ppt/slides/slide4.xml" Id="Rd6ee09b22e1f4089" /><Relationship Type="http://schemas.openxmlformats.org/officeDocument/2006/relationships/slide" Target="/ppt/slides/slide5.xml" Id="R3f9efa9bfaf54c6a" /><Relationship Type="http://schemas.openxmlformats.org/officeDocument/2006/relationships/slide" Target="/ppt/slides/slide6.xml" Id="Re345909c5e1a43fe" /><Relationship Type="http://schemas.openxmlformats.org/officeDocument/2006/relationships/slide" Target="/ppt/slides/slide7.xml" Id="R797c52614c4e468b" /><Relationship Type="http://schemas.openxmlformats.org/officeDocument/2006/relationships/slide" Target="/ppt/slides/slide8.xml" Id="Rcc1e6844fdf645ef" /><Relationship Type="http://schemas.openxmlformats.org/officeDocument/2006/relationships/slide" Target="/ppt/slides/slide9.xml" Id="R88b61f1858c84296" /><Relationship Type="http://schemas.openxmlformats.org/officeDocument/2006/relationships/slide" Target="/ppt/slides/slide10.xml" Id="R0612a279a5654100" /><Relationship Type="http://schemas.openxmlformats.org/officeDocument/2006/relationships/slide" Target="/ppt/slides/slide11.xml" Id="R00087ac7687741a5" /><Relationship Type="http://schemas.openxmlformats.org/officeDocument/2006/relationships/slide" Target="/ppt/slides/slide12.xml" Id="Re98b637a8c27484f" /><Relationship Type="http://schemas.openxmlformats.org/officeDocument/2006/relationships/slide" Target="/ppt/slides/slide13.xml" Id="R3aac03388b7242a7" /><Relationship Type="http://schemas.openxmlformats.org/officeDocument/2006/relationships/slide" Target="/ppt/slides/slide14.xml" Id="R676666107d92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6cec0566ed4b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899051423429d" /><Relationship Type="http://schemas.openxmlformats.org/officeDocument/2006/relationships/notesMaster" Target="/ppt/notesMasters/notesMaster1.xml" Id="Rfed19b26198e4e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bdb28ed01f4ff7" /><Relationship Type="http://schemas.openxmlformats.org/officeDocument/2006/relationships/notesMaster" Target="/ppt/notesMasters/notesMaster1.xml" Id="Rfd0df477efad43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f816d6102e4c13" /><Relationship Type="http://schemas.openxmlformats.org/officeDocument/2006/relationships/notesMaster" Target="/ppt/notesMasters/notesMaster1.xml" Id="R5ca6f5377e1347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892c425a9e4681" /><Relationship Type="http://schemas.openxmlformats.org/officeDocument/2006/relationships/notesMaster" Target="/ppt/notesMasters/notesMaster1.xml" Id="R2a0ef3ec5a3b4c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7df8974e564b4f" /><Relationship Type="http://schemas.openxmlformats.org/officeDocument/2006/relationships/notesMaster" Target="/ppt/notesMasters/notesMaster1.xml" Id="R76cf53dcd59b4e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fc1885ae844161" /><Relationship Type="http://schemas.openxmlformats.org/officeDocument/2006/relationships/notesMaster" Target="/ppt/notesMasters/notesMaster1.xml" Id="Rae4ab20138aa42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50b4f8742a4541" /><Relationship Type="http://schemas.openxmlformats.org/officeDocument/2006/relationships/notesMaster" Target="/ppt/notesMasters/notesMaster1.xml" Id="R26968fbb459447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a88706065e4561" /><Relationship Type="http://schemas.openxmlformats.org/officeDocument/2006/relationships/notesMaster" Target="/ppt/notesMasters/notesMaster1.xml" Id="R22f7081f682f4a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fa66a66b8c48d7" /><Relationship Type="http://schemas.openxmlformats.org/officeDocument/2006/relationships/notesMaster" Target="/ppt/notesMasters/notesMaster1.xml" Id="Rc89f4ba6b5a943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cec35e2a86429c" /><Relationship Type="http://schemas.openxmlformats.org/officeDocument/2006/relationships/notesMaster" Target="/ppt/notesMasters/notesMaster1.xml" Id="Re8bb115de6e74d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3ab4e6a43141ab" /><Relationship Type="http://schemas.openxmlformats.org/officeDocument/2006/relationships/notesMaster" Target="/ppt/notesMasters/notesMaster1.xml" Id="R7f64f593419845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dc26d3ba7d4264" /><Relationship Type="http://schemas.openxmlformats.org/officeDocument/2006/relationships/notesMaster" Target="/ppt/notesMasters/notesMaster1.xml" Id="Rca1896be0db34a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9b1c93705f4344" /><Relationship Type="http://schemas.openxmlformats.org/officeDocument/2006/relationships/notesMaster" Target="/ppt/notesMasters/notesMaster1.xml" Id="R2a7bc5af5a2649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c02826c25a4732" /><Relationship Type="http://schemas.openxmlformats.org/officeDocument/2006/relationships/notesMaster" Target="/ppt/notesMasters/notesMaster1.xml" Id="R8888f4c881c3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task: sensor-bias detection in one simulated AHU. Dataset https://data.openei.org/submissions/910. Student IDs: 2430010149, 2430010099, 2430010096. Do not describe this as validation of datacenter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https://data.openei.org/submissions/910; source_inventory.pdf pages 3-7, Figure 1-2 on page 4. Source image extracted unchanged. Input temperatures are Fahrenheit; imposed bias magnitudes are Celsius.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Supporting sources: results/task5_recovery_v1/REPORT.md; LABEL_AND_SENSOR_AUDIT.md; https://gitlab.com/ecs-lab/exadata/-/blob/main/parquet_dataset/node_aggregated_data/step2.py. Different datasets have different outcomes and prevalence; do not compare their accuracy as a matched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https://data.openei.org/submissions/910; results/hvac_v1/experiment_plan.json and *_cohort.csv. Metadata inspected before fitting. Source local timestamps have unspecified timezone.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inventory Table 1-1, page 6; src/dccad/hvac.py; preprocessing_audit.json. Damper command is a proxy, not measured mixing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src/dccad/supervised.py; scripts/train_hvac.py; experiment_plan.json. Positive weight is normal/fault training endpoint ratio, about 1/6; evaluation prevalence is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results/hvac_v1/validation_summary.json and validation_model_comparison.csv. AP differs from trapezoidal PR-AUC. The y axis is explicitly restricted to show small AP variation.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frozen_model.json and validation_policy_specs.json. Primary selected at validation only. Empirical zero FPR on 4,776 summer normal readings is not a deployment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test_summary.json; primary model lstm_seed_42 selected before final evaluation. 33,432 endpoints; fault prevalence 85.71%. All-fault baseline accuracy 85.71%, FPR 100%.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frozen test_metrics.json; evidence_summary.json. Denominators: FPR=69/(69+4707), FDR=69/(69+26324). Delay includes midnight-to-operation downtime; no early warning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test_model_comparison.csv. All seeds reported under their frozen validation-selected policies. Seed 42 remains the primary; do not cherry-pick seed 7 on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examples.json; lstm_seed_42/test_decisions.csv. Native chart uses sampled recorded logits every 20 scored readings for readability, not for metrics. Full output is retained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https://data.openei.org/submissions/910 and source_inventory.pdf, pages 3-7; experiment_plan.json; test_summary.json. No independence assumption across overlapping readings; no operational-prevalence or cross-equipment reliability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https://data.openei.org/submissions/910. DOI 10.25984/1824861. Authors’ inventory pp. 3-7. Saved score/inference verification: results/hvac_v1/verification.json. Dataset switch authorized by the user; M100 studies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3716b65834e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ea549fcc048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a5c7b753c4b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7b847b5264d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5d7fb3d2148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e60dbe1c143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77C4A7-68A9-40EF-A7F4-72540ECC7F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3963AA-BE15-455E-A0AD-A8663849C6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3DF71B-5C97-4593-A075-28C39E413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2B6B1B-C32C-4C8C-BE53-B533EC609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291594-9111-4227-8EE6-6FD01806A8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648DDD-78D0-4E55-B23B-24782C281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2BFB9E-81EB-4B9A-BC51-D614A9C69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D04A9A-2CEB-41B6-8D21-A683E24F64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543B62-F8E8-4AC7-87D0-E4D2641BF8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DC801B-B81C-4403-B0E9-91CF0000F8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5ac72f37bc45c8" /><Relationship Type="http://schemas.openxmlformats.org/officeDocument/2006/relationships/slideLayout" Target="/ppt/slideLayouts/slideLayout1.xml" Id="R61588b9db8394ff6" /><Relationship Type="http://schemas.openxmlformats.org/officeDocument/2006/relationships/slideLayout" Target="/ppt/slideLayouts/slideLayout2.xml" Id="R8a9f7eecaf994910" /><Relationship Type="http://schemas.openxmlformats.org/officeDocument/2006/relationships/slideLayout" Target="/ppt/slideLayouts/slideLayout3.xml" Id="Rbdba0d24126c4b13" /><Relationship Type="http://schemas.openxmlformats.org/officeDocument/2006/relationships/slideLayout" Target="/ppt/slideLayouts/slideLayout4.xml" Id="R83422cf31784464c" /><Relationship Type="http://schemas.openxmlformats.org/officeDocument/2006/relationships/slideLayout" Target="/ppt/slideLayouts/slideLayout5.xml" Id="R619b26faf5894b51" /><Relationship Type="http://schemas.openxmlformats.org/officeDocument/2006/relationships/slideLayout" Target="/ppt/slideLayouts/slideLayout6.xml" Id="Rd9023fb6a70544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88b9db8394ff6"/>
    <p:sldLayoutId xmlns:r="http://schemas.openxmlformats.org/officeDocument/2006/relationships" id="2147483650" r:id="R8a9f7eecaf994910"/>
    <p:sldLayoutId xmlns:r="http://schemas.openxmlformats.org/officeDocument/2006/relationships" id="2147483651" r:id="Rbdba0d24126c4b13"/>
    <p:sldLayoutId xmlns:r="http://schemas.openxmlformats.org/officeDocument/2006/relationships" id="2147483652" r:id="R83422cf31784464c"/>
    <p:sldLayoutId xmlns:r="http://schemas.openxmlformats.org/officeDocument/2006/relationships" id="2147483653" r:id="R619b26faf5894b51"/>
    <p:sldLayoutId xmlns:r="http://schemas.openxmlformats.org/officeDocument/2006/relationships" id="2147483654" r:id="Rd9023fb6a70544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32b5181a54777" /><Relationship Type="http://schemas.openxmlformats.org/officeDocument/2006/relationships/notesSlide" Target="/ppt/notesSlides/notesSlide1.xml" Id="R56eda8be1e804b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31322e9c24ae4" /><Relationship Type="http://schemas.openxmlformats.org/officeDocument/2006/relationships/image" Target="/ppt/media/image.png" Id="R3ef9c68eff484d80" /><Relationship Type="http://schemas.openxmlformats.org/officeDocument/2006/relationships/notesSlide" Target="/ppt/notesSlides/notesSlide2.xml" Id="R3f9d6074194b40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bc0e179d74c78" /><Relationship Type="http://schemas.openxmlformats.org/officeDocument/2006/relationships/notesSlide" Target="/ppt/notesSlides/notesSlide3.xml" Id="R3806805e59374d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43883178dc453d" /><Relationship Type="http://schemas.openxmlformats.org/officeDocument/2006/relationships/notesSlide" Target="/ppt/notesSlides/notesSlide4.xml" Id="Rbd813e17cd9c42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7a0467be744ea" /><Relationship Type="http://schemas.openxmlformats.org/officeDocument/2006/relationships/notesSlide" Target="/ppt/notesSlides/notesSlide5.xml" Id="R748ed929b73749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2d3025e444dfe" /><Relationship Type="http://schemas.openxmlformats.org/officeDocument/2006/relationships/notesSlide" Target="/ppt/notesSlides/notesSlide6.xml" Id="R7686ad03d89d41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ac3e34b0e465f" /><Relationship Type="http://schemas.openxmlformats.org/officeDocument/2006/relationships/chart" Target="/ppt/slides/charts/chart1.xml" Id="R94c2421840d24e4c" /><Relationship Type="http://schemas.openxmlformats.org/officeDocument/2006/relationships/notesSlide" Target="/ppt/notesSlides/notesSlide7.xml" Id="R73c279c7f68f45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f9f3a1a564e76" /><Relationship Type="http://schemas.openxmlformats.org/officeDocument/2006/relationships/notesSlide" Target="/ppt/notesSlides/notesSlide8.xml" Id="R154843ac6d6541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a320834bf404c" /><Relationship Type="http://schemas.openxmlformats.org/officeDocument/2006/relationships/chart" Target="/ppt/slides/charts/chart2.xml" Id="Rb391a57c1a5b41bf" /><Relationship Type="http://schemas.openxmlformats.org/officeDocument/2006/relationships/notesSlide" Target="/ppt/notesSlides/notesSlide9.xml" Id="Re1d0b9a19a244d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82a02196e4610" /><Relationship Type="http://schemas.openxmlformats.org/officeDocument/2006/relationships/notesSlide" Target="/ppt/notesSlides/notesSlide10.xml" Id="Reb74bf35be704a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4b0d50af34461" /><Relationship Type="http://schemas.openxmlformats.org/officeDocument/2006/relationships/notesSlide" Target="/ppt/notesSlides/notesSlide11.xml" Id="R3a5422eb39264e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e657e1c93a4466" /><Relationship Type="http://schemas.openxmlformats.org/officeDocument/2006/relationships/chart" Target="/ppt/slides/charts/chart3.xml" Id="Rd3a8c540adab4b3b" /><Relationship Type="http://schemas.openxmlformats.org/officeDocument/2006/relationships/notesSlide" Target="/ppt/notesSlides/notesSlide12.xml" Id="R885b7b213dc240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da3f5532a42e1" /><Relationship Type="http://schemas.openxmlformats.org/officeDocument/2006/relationships/notesSlide" Target="/ppt/notesSlides/notesSlide13.xml" Id="Rb9c06df6e2ae4b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503837a814011" /><Relationship Type="http://schemas.openxmlformats.org/officeDocument/2006/relationships/notesSlide" Target="/ppt/notesSlides/notesSlide14.xml" Id="R52e1978c1541402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Summer average precision by LSTM seed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Average precision</c:v>
          </c:tx>
          <c:spPr>
            <a:solidFill xmlns:a="http://schemas.openxmlformats.org/drawingml/2006/main">
              <a:srgbClr val="137B9A"/>
            </a:solidFill>
          </c:spPr>
          <c:invertIfNegative val="0"/>
          <c:cat>
            <c:strLit>
              <c:ptCount val="3"/>
              <c:pt idx="0">
                <c:v>Seed 7</c:v>
              </c:pt>
              <c:pt idx="1">
                <c:v>Seed 42</c:v>
              </c:pt>
              <c:pt idx="2">
                <c:v>Seed 123</c:v>
              </c:pt>
            </c:strLit>
          </c:cat>
          <c:val>
            <c:numLit>
              <c:formatCode>0.00</c:formatCode>
              <c:ptCount val="3"/>
              <c:pt idx="0">
                <c:v>0.9836418066819462</c:v>
              </c:pt>
              <c:pt idx="1">
                <c:v>0.9834065178918056</c:v>
              </c:pt>
              <c:pt idx="2">
                <c:v>0.978900285737506</c:v>
              </c:pt>
            </c:numLit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5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1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Primary LSTM at the frozen policy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Autumn test</c:v>
          </c:tx>
          <c:spPr>
            <a:solidFill xmlns:a="http://schemas.openxmlformats.org/drawingml/2006/main">
              <a:srgbClr val="137B9A"/>
            </a:solidFill>
          </c:spPr>
          <c:invertIfNegative val="0"/>
          <c:cat>
            <c:strLit>
              <c:ptCount val="4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FPR</c:v>
              </c:pt>
            </c:strLit>
          </c:cat>
          <c:val>
            <c:numLit>
              <c:formatCode>0%</c:formatCode>
              <c:ptCount val="4"/>
              <c:pt idx="0">
                <c:v>0.9281825795644891</c:v>
              </c:pt>
              <c:pt idx="1">
                <c:v>0.9973856704429205</c:v>
              </c:pt>
              <c:pt idx="2">
                <c:v>0.9186208821887214</c:v>
              </c:pt>
              <c:pt idx="3">
                <c:v>0.014447236180904523</c:v>
              </c:pt>
            </c:numLit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Frozen logit trace: 2017-11-06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LSTM logit</c:v>
          </c:tx>
          <c:spPr>
            <a:ln xmlns:a="http://schemas.openxmlformats.org/drawingml/2006/main" w="19050">
              <a:solidFill>
                <a:srgbClr val="137B9A"/>
              </a:solidFill>
            </a:ln>
          </c:spPr>
          <c:xVal>
            <c:numLit>
              <c:formatCode>General</c:formatCode>
              <c:ptCount val="41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  <c:pt idx="4">
                <c:v>80</c:v>
              </c:pt>
              <c:pt idx="5">
                <c:v>100</c:v>
              </c:pt>
              <c:pt idx="6">
                <c:v>120</c:v>
              </c:pt>
              <c:pt idx="7">
                <c:v>140</c:v>
              </c:pt>
              <c:pt idx="8">
                <c:v>160</c:v>
              </c:pt>
              <c:pt idx="9">
                <c:v>180</c:v>
              </c:pt>
              <c:pt idx="10">
                <c:v>200</c:v>
              </c:pt>
              <c:pt idx="11">
                <c:v>220</c:v>
              </c:pt>
              <c:pt idx="12">
                <c:v>240</c:v>
              </c:pt>
              <c:pt idx="13">
                <c:v>260</c:v>
              </c:pt>
              <c:pt idx="14">
                <c:v>280</c:v>
              </c:pt>
              <c:pt idx="15">
                <c:v>300</c:v>
              </c:pt>
              <c:pt idx="16">
                <c:v>320</c:v>
              </c:pt>
              <c:pt idx="17">
                <c:v>340</c:v>
              </c:pt>
              <c:pt idx="18">
                <c:v>360</c:v>
              </c:pt>
              <c:pt idx="19">
                <c:v>380</c:v>
              </c:pt>
              <c:pt idx="20">
                <c:v>400</c:v>
              </c:pt>
              <c:pt idx="21">
                <c:v>420</c:v>
              </c:pt>
              <c:pt idx="22">
                <c:v>440</c:v>
              </c:pt>
              <c:pt idx="23">
                <c:v>460</c:v>
              </c:pt>
              <c:pt idx="24">
                <c:v>480</c:v>
              </c:pt>
              <c:pt idx="25">
                <c:v>500</c:v>
              </c:pt>
              <c:pt idx="26">
                <c:v>520</c:v>
              </c:pt>
              <c:pt idx="27">
                <c:v>540</c:v>
              </c:pt>
              <c:pt idx="28">
                <c:v>560</c:v>
              </c:pt>
              <c:pt idx="29">
                <c:v>580</c:v>
              </c:pt>
              <c:pt idx="30">
                <c:v>600</c:v>
              </c:pt>
              <c:pt idx="31">
                <c:v>620</c:v>
              </c:pt>
              <c:pt idx="32">
                <c:v>640</c:v>
              </c:pt>
              <c:pt idx="33">
                <c:v>660</c:v>
              </c:pt>
              <c:pt idx="34">
                <c:v>680</c:v>
              </c:pt>
              <c:pt idx="35">
                <c:v>700</c:v>
              </c:pt>
              <c:pt idx="36">
                <c:v>720</c:v>
              </c:pt>
              <c:pt idx="37">
                <c:v>740</c:v>
              </c:pt>
              <c:pt idx="38">
                <c:v>760</c:v>
              </c:pt>
              <c:pt idx="39">
                <c:v>780</c:v>
              </c:pt>
              <c:pt idx="40">
                <c:v>800</c:v>
              </c:pt>
            </c:numLit>
          </c:xVal>
          <c:yVal>
            <c:numLit>
              <c:formatCode>General</c:formatCode>
              <c:ptCount val="41"/>
              <c:pt idx="0">
                <c:v>-2.1814639568328857</c:v>
              </c:pt>
              <c:pt idx="1">
                <c:v>-1.9191211462020876</c:v>
              </c:pt>
              <c:pt idx="2">
                <c:v>-2.4310195446014404</c:v>
              </c:pt>
              <c:pt idx="3">
                <c:v>-1.8645447492599487</c:v>
              </c:pt>
              <c:pt idx="4">
                <c:v>-1.253771185874939</c:v>
              </c:pt>
              <c:pt idx="5">
                <c:v>-0.5503500699996948</c:v>
              </c:pt>
              <c:pt idx="6">
                <c:v>-1.3951727151870728</c:v>
              </c:pt>
              <c:pt idx="7">
                <c:v>-2.0797927379608154</c:v>
              </c:pt>
              <c:pt idx="8">
                <c:v>-2.309199094772339</c:v>
              </c:pt>
              <c:pt idx="9">
                <c:v>-2.318159341812134</c:v>
              </c:pt>
              <c:pt idx="10">
                <c:v>-2.300632238388061</c:v>
              </c:pt>
              <c:pt idx="11">
                <c:v>-2.2971115112304688</c:v>
              </c:pt>
              <c:pt idx="12">
                <c:v>-2.305086851119995</c:v>
              </c:pt>
              <c:pt idx="13">
                <c:v>-2.425057411193848</c:v>
              </c:pt>
              <c:pt idx="14">
                <c:v>-2.513082265853882</c:v>
              </c:pt>
              <c:pt idx="15">
                <c:v>-2.568256139755249</c:v>
              </c:pt>
              <c:pt idx="16">
                <c:v>-1.846319317817688</c:v>
              </c:pt>
              <c:pt idx="17">
                <c:v>-0.95069682598114</c:v>
              </c:pt>
              <c:pt idx="18">
                <c:v>2.892467737197876</c:v>
              </c:pt>
              <c:pt idx="19">
                <c:v>10.14926052093506</c:v>
              </c:pt>
              <c:pt idx="20">
                <c:v>12.193586349487305</c:v>
              </c:pt>
              <c:pt idx="21">
                <c:v>12.239577293395996</c:v>
              </c:pt>
              <c:pt idx="22">
                <c:v>12.310860633850098</c:v>
              </c:pt>
              <c:pt idx="23">
                <c:v>12.536794662475586</c:v>
              </c:pt>
              <c:pt idx="24">
                <c:v>12.552739143371582</c:v>
              </c:pt>
              <c:pt idx="25">
                <c:v>12.555636405944824</c:v>
              </c:pt>
              <c:pt idx="26">
                <c:v>12.563368797302246</c:v>
              </c:pt>
              <c:pt idx="27">
                <c:v>12.557106971740724</c:v>
              </c:pt>
              <c:pt idx="28">
                <c:v>12.54040813446045</c:v>
              </c:pt>
              <c:pt idx="29">
                <c:v>12.52221393585205</c:v>
              </c:pt>
              <c:pt idx="30">
                <c:v>12.5051851272583</c:v>
              </c:pt>
              <c:pt idx="31">
                <c:v>12.48658561706543</c:v>
              </c:pt>
              <c:pt idx="32">
                <c:v>12.45236873626709</c:v>
              </c:pt>
              <c:pt idx="33">
                <c:v>12.05202865600586</c:v>
              </c:pt>
              <c:pt idx="34">
                <c:v>11.93334674835205</c:v>
              </c:pt>
              <c:pt idx="35">
                <c:v>11.900742530822754</c:v>
              </c:pt>
              <c:pt idx="36">
                <c:v>11.831869125366213</c:v>
              </c:pt>
              <c:pt idx="37">
                <c:v>11.785323143005373</c:v>
              </c:pt>
              <c:pt idx="38">
                <c:v>11.75417709350586</c:v>
              </c:pt>
              <c:pt idx="39">
                <c:v>11.739317893981934</c:v>
              </c:pt>
              <c:pt idx="40">
                <c:v>11.727775573730469</c:v>
              </c:pt>
            </c:numLit>
          </c:yVal>
        </c:ser>
        <c:ser>
          <c:idx val="1"/>
          <c:order val="1"/>
          <c:tx>
            <c:v>Frozen threshold</c:v>
          </c:tx>
          <c:spPr>
            <a:ln xmlns:a="http://schemas.openxmlformats.org/drawingml/2006/main" w="19050">
              <a:solidFill>
                <a:srgbClr val="B44A3E"/>
              </a:solidFill>
            </a:ln>
          </c:spPr>
          <c:xVal>
            <c:numLit>
              <c:formatCode>General</c:formatCode>
              <c:ptCount val="41"/>
              <c:pt idx="0">
                <c:v>0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  <c:pt idx="4">
                <c:v>80</c:v>
              </c:pt>
              <c:pt idx="5">
                <c:v>100</c:v>
              </c:pt>
              <c:pt idx="6">
                <c:v>120</c:v>
              </c:pt>
              <c:pt idx="7">
                <c:v>140</c:v>
              </c:pt>
              <c:pt idx="8">
                <c:v>160</c:v>
              </c:pt>
              <c:pt idx="9">
                <c:v>180</c:v>
              </c:pt>
              <c:pt idx="10">
                <c:v>200</c:v>
              </c:pt>
              <c:pt idx="11">
                <c:v>220</c:v>
              </c:pt>
              <c:pt idx="12">
                <c:v>240</c:v>
              </c:pt>
              <c:pt idx="13">
                <c:v>260</c:v>
              </c:pt>
              <c:pt idx="14">
                <c:v>280</c:v>
              </c:pt>
              <c:pt idx="15">
                <c:v>300</c:v>
              </c:pt>
              <c:pt idx="16">
                <c:v>320</c:v>
              </c:pt>
              <c:pt idx="17">
                <c:v>340</c:v>
              </c:pt>
              <c:pt idx="18">
                <c:v>360</c:v>
              </c:pt>
              <c:pt idx="19">
                <c:v>380</c:v>
              </c:pt>
              <c:pt idx="20">
                <c:v>400</c:v>
              </c:pt>
              <c:pt idx="21">
                <c:v>420</c:v>
              </c:pt>
              <c:pt idx="22">
                <c:v>440</c:v>
              </c:pt>
              <c:pt idx="23">
                <c:v>460</c:v>
              </c:pt>
              <c:pt idx="24">
                <c:v>480</c:v>
              </c:pt>
              <c:pt idx="25">
                <c:v>500</c:v>
              </c:pt>
              <c:pt idx="26">
                <c:v>520</c:v>
              </c:pt>
              <c:pt idx="27">
                <c:v>540</c:v>
              </c:pt>
              <c:pt idx="28">
                <c:v>560</c:v>
              </c:pt>
              <c:pt idx="29">
                <c:v>580</c:v>
              </c:pt>
              <c:pt idx="30">
                <c:v>600</c:v>
              </c:pt>
              <c:pt idx="31">
                <c:v>620</c:v>
              </c:pt>
              <c:pt idx="32">
                <c:v>640</c:v>
              </c:pt>
              <c:pt idx="33">
                <c:v>660</c:v>
              </c:pt>
              <c:pt idx="34">
                <c:v>680</c:v>
              </c:pt>
              <c:pt idx="35">
                <c:v>700</c:v>
              </c:pt>
              <c:pt idx="36">
                <c:v>720</c:v>
              </c:pt>
              <c:pt idx="37">
                <c:v>740</c:v>
              </c:pt>
              <c:pt idx="38">
                <c:v>760</c:v>
              </c:pt>
              <c:pt idx="39">
                <c:v>780</c:v>
              </c:pt>
              <c:pt idx="40">
                <c:v>800</c:v>
              </c:pt>
            </c:numLit>
          </c:xVal>
          <c:yVal>
            <c:numLit>
              <c:formatCode>General</c:formatCode>
              <c:ptCount val="41"/>
              <c:pt idx="0">
                <c:v>6.967112064361571</c:v>
              </c:pt>
              <c:pt idx="1">
                <c:v>6.967112064361571</c:v>
              </c:pt>
              <c:pt idx="2">
                <c:v>6.967112064361571</c:v>
              </c:pt>
              <c:pt idx="3">
                <c:v>6.967112064361571</c:v>
              </c:pt>
              <c:pt idx="4">
                <c:v>6.967112064361571</c:v>
              </c:pt>
              <c:pt idx="5">
                <c:v>6.967112064361571</c:v>
              </c:pt>
              <c:pt idx="6">
                <c:v>6.967112064361571</c:v>
              </c:pt>
              <c:pt idx="7">
                <c:v>6.967112064361571</c:v>
              </c:pt>
              <c:pt idx="8">
                <c:v>6.967112064361571</c:v>
              </c:pt>
              <c:pt idx="9">
                <c:v>6.967112064361571</c:v>
              </c:pt>
              <c:pt idx="10">
                <c:v>6.967112064361571</c:v>
              </c:pt>
              <c:pt idx="11">
                <c:v>6.967112064361571</c:v>
              </c:pt>
              <c:pt idx="12">
                <c:v>6.967112064361571</c:v>
              </c:pt>
              <c:pt idx="13">
                <c:v>6.967112064361571</c:v>
              </c:pt>
              <c:pt idx="14">
                <c:v>6.967112064361571</c:v>
              </c:pt>
              <c:pt idx="15">
                <c:v>6.967112064361571</c:v>
              </c:pt>
              <c:pt idx="16">
                <c:v>6.967112064361571</c:v>
              </c:pt>
              <c:pt idx="17">
                <c:v>6.967112064361571</c:v>
              </c:pt>
              <c:pt idx="18">
                <c:v>6.967112064361571</c:v>
              </c:pt>
              <c:pt idx="19">
                <c:v>6.967112064361571</c:v>
              </c:pt>
              <c:pt idx="20">
                <c:v>6.967112064361571</c:v>
              </c:pt>
              <c:pt idx="21">
                <c:v>6.967112064361571</c:v>
              </c:pt>
              <c:pt idx="22">
                <c:v>6.967112064361571</c:v>
              </c:pt>
              <c:pt idx="23">
                <c:v>6.967112064361571</c:v>
              </c:pt>
              <c:pt idx="24">
                <c:v>6.967112064361571</c:v>
              </c:pt>
              <c:pt idx="25">
                <c:v>6.967112064361571</c:v>
              </c:pt>
              <c:pt idx="26">
                <c:v>6.967112064361571</c:v>
              </c:pt>
              <c:pt idx="27">
                <c:v>6.967112064361571</c:v>
              </c:pt>
              <c:pt idx="28">
                <c:v>6.967112064361571</c:v>
              </c:pt>
              <c:pt idx="29">
                <c:v>6.967112064361571</c:v>
              </c:pt>
              <c:pt idx="30">
                <c:v>6.967112064361571</c:v>
              </c:pt>
              <c:pt idx="31">
                <c:v>6.967112064361571</c:v>
              </c:pt>
              <c:pt idx="32">
                <c:v>6.967112064361571</c:v>
              </c:pt>
              <c:pt idx="33">
                <c:v>6.967112064361571</c:v>
              </c:pt>
              <c:pt idx="34">
                <c:v>6.967112064361571</c:v>
              </c:pt>
              <c:pt idx="35">
                <c:v>6.967112064361571</c:v>
              </c:pt>
              <c:pt idx="36">
                <c:v>6.967112064361571</c:v>
              </c:pt>
              <c:pt idx="37">
                <c:v>6.967112064361571</c:v>
              </c:pt>
              <c:pt idx="38">
                <c:v>6.967112064361571</c:v>
              </c:pt>
              <c:pt idx="39">
                <c:v>6.967112064361571</c:v>
              </c:pt>
              <c:pt idx="40">
                <c:v>6.967112064361571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B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Uncalibrated logit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8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Minutes since first eligible score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BEA7E-90AD-4761-AE7E-18B941C3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108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Cooling Equipment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Sensor Fault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B14A5-96B2-46B6-945A-FBACEDB1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CB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BE7F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E7F1"/>
                </a:solidFill>
                <a:latin typeface="Arial"/>
                <a:ea typeface="Arial"/>
                <a:cs typeface="Arial"/>
              </a:rPr>
              <a:t>LSTM classification from 30-minute sensor histories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A1523-7F18-41BC-9C80-D42A0D99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Rishabh Srivastava  |  Mitul Seth  |  Madhav Mittal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 Learning Project - Section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F73F9-6AED-4C25-97D3-6529F31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BE7F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E7F1"/>
                </a:solidFill>
                <a:latin typeface="Arial"/>
                <a:ea typeface="Arial"/>
                <a:cs typeface="Arial"/>
              </a:rPr>
              <a:t>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1314671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EE1C7-E2FF-4BBF-B0B9-3BBDC5F1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Air-handling-unit sensor faults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3361C-9E32-4552-8085-BB20E3EB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0D662-1675-461E-9A9B-04816258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8AF76-8090-4798-A2F1-D2BBAAE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Author-defined outdoor-air sensor biases: ±1, ±2 and ±4 °C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BDFEA-A200-4D0A-B026-D4A47CB56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9c68eff484d80"/>
          <a:stretch xmlns:a="http://schemas.openxmlformats.org/drawingml/2006/main"/>
        </p:blipFill>
        <p:spPr>
          <a:xfrm xmlns:a="http://schemas.openxmlformats.org/drawingml/2006/main">
            <a:off x="2196167" y="2095500"/>
            <a:ext cx="7799666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3D3CE-501D-49C3-8257-A3C4B27F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One simulated AHU; current condition classification while occupied and running</a:t>
            </a:r>
          </a:p>
        </p:txBody>
      </p:sp>
    </p:spTree>
    <p:extLst>
      <p:ext uri="{BB962C8B-B14F-4D97-AF65-F5344CB8AC3E}">
        <p14:creationId xmlns:p14="http://schemas.microsoft.com/office/powerpoint/2010/main" val="972033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0505B-EC85-47EA-AB17-7A5D0E94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M100 source-label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74751-6BF0-4C04-BA44-EDC86907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CA1EC-C5CB-4D7D-925D-A4CC1326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E7530-FB77-4C34-9B60-68CCAECF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The published M100 preparation selects the batch-client scheduler-state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41D0C-AD35-4964-82CB-F5F86C67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Feature removal, supervised classifiers and richer physical inputs still missed the false-alarm targets.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9828A-06D2-4C8A-923D-FBB4138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The equipment benchmark uses documented sensor-fault scenarios. Its labels are retained from the authors; no temperature threshold creates a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BFBFB-BD7A-4380-84D9-ABC16E6E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The M100 negative study remains in the repository as supporting research.</a:t>
            </a:r>
          </a:p>
        </p:txBody>
      </p:sp>
    </p:spTree>
    <p:extLst>
      <p:ext uri="{BB962C8B-B14F-4D97-AF65-F5344CB8AC3E}">
        <p14:creationId xmlns:p14="http://schemas.microsoft.com/office/powerpoint/2010/main" val="889535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A6A0D-E76F-40B0-B785-574C7DF6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Whole-season separation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051F-EA10-40CB-AD4C-D818927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03D52-FE8C-404E-950D-0254FA20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473AE-66BA-4785-B0AB-F2D87AC48101}"/>
              </a:ext>
            </a:extLst>
          </p:cNvPr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2952750"/>
                <a:gridCol w="1600200"/>
                <a:gridCol w="1905000"/>
                <a:gridCol w="2305050"/>
              </a:tblGrid>
              <a:tr h="7524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Seasons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Raw days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Scored days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Endpoints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Winter + spring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91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61,187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Summer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33,432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Autumn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33,432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673FD-9FC3-4EFD-BD9C-7B94E71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Windows contain 30 consecutive occupied, fan-on minutes. They never cross a source day or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86794-B16A-4EB7-85A6-EE59EED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Scenario blocks and source days stay within one partition; no shuffled overlapping-window split</a:t>
            </a:r>
          </a:p>
        </p:txBody>
      </p:sp>
    </p:spTree>
    <p:extLst>
      <p:ext uri="{BB962C8B-B14F-4D97-AF65-F5344CB8AC3E}">
        <p14:creationId xmlns:p14="http://schemas.microsoft.com/office/powerpoint/2010/main" val="324314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941E5-5A0B-4F2F-B82C-E6FD2991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Sensor inputs and causal cleaning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91A77-6738-40D0-9A91-7C88711A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46D3D-1280-4E2E-A8C6-1207D736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2CCC6-38B2-43EF-8F51-0B3C458A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13 raw sensors and control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FB3E0-7720-4B57-81D2-3853A16D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Temperatures, fan/damper/valve commands and duct pressure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1943C-91AA-4639-8ADA-6E9B712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34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6 consistency differences + 13 missing indicators = 32 input 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1A454-76FE-4D20-BFF5-3C5E0F85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34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Five-minute forward fill; resets at days and gaps. Training-only medians and scaling preserve missing information. Negative outdoor temperatures remain valid.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6BA56-197C-4603-A536-2FD2A8C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Labels, dates, seasons, scenario IDs and imposed bias levels are excluded from model inputs</a:t>
            </a:r>
          </a:p>
        </p:txBody>
      </p:sp>
    </p:spTree>
    <p:extLst>
      <p:ext uri="{BB962C8B-B14F-4D97-AF65-F5344CB8AC3E}">
        <p14:creationId xmlns:p14="http://schemas.microsoft.com/office/powerpoint/2010/main" val="713248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CA659-C5B1-461A-B060-F0F2AA7C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LSTM architecture and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B8E5-547B-4A25-AFE6-205F23B1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7567F-6264-4131-81FB-A24326F5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06F49-5444-408F-B3D4-3724100BABA7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258175"/>
              </a:tblGrid>
              <a:tr h="57558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Fixed setting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History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30 minutes × 32 channels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Encoder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LSTM, hidden size 32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16 units, ReLU, dropout 0.2, one logit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Optimization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Adam 0.001; batch 512; gradient clip 1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Loss / stopping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Weighted BCE; max 30 epochs; AP patience 6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Replicates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Seeds 7, 42, 123; seed 42 declared primary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0A820-7A0D-461F-ACA4-117095A0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Tree baseline uses latest, mean, standard deviation and slope from the same input history</a:t>
            </a:r>
          </a:p>
        </p:txBody>
      </p:sp>
    </p:spTree>
    <p:extLst>
      <p:ext uri="{BB962C8B-B14F-4D97-AF65-F5344CB8AC3E}">
        <p14:creationId xmlns:p14="http://schemas.microsoft.com/office/powerpoint/2010/main" val="79862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F26ED-502F-450B-B98D-0F8B1D1B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Validation stability across training seeds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0F2A2-3F6E-4B33-A582-2B100533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CEA96-A463-424B-81C8-58B798E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E1A97FE-7470-4874-9D1B-6B3F372804EA}"/>
              </a:ext>
            </a:extLst>
          </p:cNvPr>
          <p:cNvGraphicFramePr/>
          <p:nvPr/>
        </p:nvGraphicFramePr>
        <p:xfrm>
          <a:off xmlns:a="http://schemas.openxmlformats.org/drawingml/2006/main" x="647700" y="1657350"/>
          <a:ext xmlns:a="http://schemas.openxmlformats.org/drawingml/2006/main" cx="10620375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c2421840d24e4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FFA95-7BB6-4291-B99F-F77739D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All three LSTM seeds pass the validation policy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32215-00AD-47F2-9C55-C6B61694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AP mean 0.9820; sample SD 0.0027. Seed 42 remains primary before the test season.</a:t>
            </a:r>
          </a:p>
        </p:txBody>
      </p:sp>
    </p:spTree>
    <p:extLst>
      <p:ext uri="{BB962C8B-B14F-4D97-AF65-F5344CB8AC3E}">
        <p14:creationId xmlns:p14="http://schemas.microsoft.com/office/powerpoint/2010/main" val="2047831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4C87A-480E-4D36-BF12-8D5C5E96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Frozen alarm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C789B-C2E5-4C71-A6E9-D77CC053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618DE-3DBF-45F6-8A44-D756BC2F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B7042-1E29-410A-B9E5-8797671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Two high scores in three consecutive scored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6ECA3-05A9-49E1-9DBB-BDE8B9B1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Logit threshold 6.967112; state resets at days and gaps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4CC9B-1BA3-4DF0-92CE-490C609F7D64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781550"/>
              </a:tblGrid>
              <a:tr h="5667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Primary validation measure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Precision / reading recall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100% / 48.66%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False-positive rate / false bursts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0% / 0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Observable fault days detected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36 / 36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19497-1AD8-41CA-9B23-0423721A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A single uploaded window gives one score and cannot establish persistent confirmation</a:t>
            </a:r>
          </a:p>
        </p:txBody>
      </p:sp>
    </p:spTree>
    <p:extLst>
      <p:ext uri="{BB962C8B-B14F-4D97-AF65-F5344CB8AC3E}">
        <p14:creationId xmlns:p14="http://schemas.microsoft.com/office/powerpoint/2010/main" val="547827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098B3-0F65-4E41-9D3D-14FB3064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Independent autumn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ECAA2-FF13-4256-BF1C-1F10A85A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EA1A7-68AD-417F-B74F-53752BB5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6EE1D02-0E93-40AE-9FE1-32572446BBCE}"/>
              </a:ext>
            </a:extLst>
          </p:cNvPr>
          <p:cNvGraphicFramePr/>
          <p:nvPr/>
        </p:nvGraphicFramePr>
        <p:xfrm>
          <a:off xmlns:a="http://schemas.openxmlformats.org/drawingml/2006/main" x="628650" y="1638300"/>
          <a:ext xmlns:a="http://schemas.openxmlformats.org/drawingml/2006/main" cx="10687050" cy="3552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91a57c1a5b41b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6BDAD-5730-4014-A74D-E14AA494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44A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4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44A3E"/>
                </a:solidFill>
                <a:latin typeface="Arial"/>
                <a:ea typeface="Arial"/>
                <a:cs typeface="Arial"/>
              </a:rPr>
              <a:t>FPR 1.44% exceeds the original 1% goal; the final policy stays unchanged</a:t>
            </a:r>
          </a:p>
        </p:txBody>
      </p:sp>
    </p:spTree>
    <p:extLst>
      <p:ext uri="{BB962C8B-B14F-4D97-AF65-F5344CB8AC3E}">
        <p14:creationId xmlns:p14="http://schemas.microsoft.com/office/powerpoint/2010/main" val="1909633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237B3-DC1B-4E7E-B209-221BCB6D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Confusion counts and fault-day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CC9E0-4942-452E-980A-C79CA756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D8BDA-C953-4B34-BC6F-49B8E80B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66B07-20A0-435D-A544-0A1B89454FAD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19800"/>
                <a:gridCol w="2476500"/>
                <a:gridCol w="2476500"/>
              </a:tblGrid>
              <a:tr h="8128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Author label / prediction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Fault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4,707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69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Fault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2,332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26,324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C736A-2E61-4F7B-A23A-68EF0A16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69 false readings form one burst; false discovery ratio is 0.26%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5DBE5-35E7-49A2-8D55-953788CE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35/36 observable fault days detected; 35/42 total fault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BF5F9-E03C-40B4-81E1-5538AC8A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Median delay: 392 min from midnight imposition, 2 min from the first eligible score</a:t>
            </a:r>
          </a:p>
        </p:txBody>
      </p:sp>
    </p:spTree>
    <p:extLst>
      <p:ext uri="{BB962C8B-B14F-4D97-AF65-F5344CB8AC3E}">
        <p14:creationId xmlns:p14="http://schemas.microsoft.com/office/powerpoint/2010/main" val="1203849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41BD-4D9E-4A86-AB4A-7E5B4C89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Deep learning and tree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8D3FD-80D9-4CE6-B88E-F948A5A1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9ECAF-F3C3-45BD-8C48-90526E22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58153-5A0E-4371-B533-2CC244D51645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133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2066925"/>
                <a:gridCol w="2066925"/>
                <a:gridCol w="2076450"/>
                <a:gridCol w="2076450"/>
              </a:tblGrid>
              <a:tr h="62674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FPR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LSTM 7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96.66%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99.73%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96.36%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1.55%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LSTM 42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92.82%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99.74%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91.86%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1.44%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LSTM 123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85.55%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99.71%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83.39%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1.47%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boosting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76.04%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100.00%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72.05%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0.00%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C8327-F051-498C-A479-E5F0080B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The LSTM gains reading sensitivity; the tree has zero test false positives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DF6FB-0308-4AC9-8A0B-DD59211F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Seed 42 was predeclared even though seed 7 has higher test accuracy</a:t>
            </a:r>
          </a:p>
        </p:txBody>
      </p:sp>
    </p:spTree>
    <p:extLst>
      <p:ext uri="{BB962C8B-B14F-4D97-AF65-F5344CB8AC3E}">
        <p14:creationId xmlns:p14="http://schemas.microsoft.com/office/powerpoint/2010/main" val="1763521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36C08-D3FC-4CFA-A8AD-0842E702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A detected sensor-fault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54BE7-0428-43FB-9B81-CB223971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602EE-1EA4-4425-A032-3B85BEAE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8AE842A-8AB8-4CA9-AA22-9582A8B61917}"/>
              </a:ext>
            </a:extLst>
          </p:cNvPr>
          <p:cNvGraphicFramePr/>
          <p:nvPr/>
        </p:nvGraphicFramePr>
        <p:xfrm>
          <a:off xmlns:a="http://schemas.openxmlformats.org/drawingml/2006/main" x="619125" y="1590675"/>
          <a:ext xmlns:a="http://schemas.openxmlformats.org/drawingml/2006/main" cx="10572750" cy="3724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a8c540adab4b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C5AC9-D372-456D-B762-3CB8441A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The report also retains the missed −1 °C day and the healthy false-alarm case</a:t>
            </a:r>
          </a:p>
        </p:txBody>
      </p:sp>
    </p:spTree>
    <p:extLst>
      <p:ext uri="{BB962C8B-B14F-4D97-AF65-F5344CB8AC3E}">
        <p14:creationId xmlns:p14="http://schemas.microsoft.com/office/powerpoint/2010/main" val="12090323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25215-53C0-4312-8A87-0BD687D3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Scope and remaining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DB107-83A7-4079-8F06-DECC95E2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6142B-27E0-4698-BE9B-23BF7B7F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5F294-06FE-420B-B6B5-B5C92277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One simulated AHU and one sensor-fault family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319B0-FB0A-4052-9F96-8EBC3D4F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728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Fault prevalence is experimental; healthy validation/test each cover one scenario week. Adjacent readings and days are correlated.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B137A-64EB-4B16-A149-4AC7461A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The 1.44% test FPR misses the 1% goal. No test-based threshold tuning repairs that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95470-CD2F-4697-944A-0D716714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Future evidence needs separate physical units, additional fault families and new evaluation periods.</a:t>
            </a:r>
          </a:p>
        </p:txBody>
      </p:sp>
    </p:spTree>
    <p:extLst>
      <p:ext uri="{BB962C8B-B14F-4D97-AF65-F5344CB8AC3E}">
        <p14:creationId xmlns:p14="http://schemas.microsoft.com/office/powerpoint/2010/main" val="5736893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1C50B-6940-4D5B-A89D-CBC6CB75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Demonstration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7D373-8EA7-4362-97C5-B2FE0E8B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sensor-fault detection | Simulation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9BEFB-013D-49AA-9026-99BE295F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C1AAA-6DC1-4515-B538-D047F4E1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Run Start Dashboard.bat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0CAE7-C3DF-4E04-BD99-C0B27BC4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Replay healthy and faulted autumn days; upload a 30-minute sensor CSV; inspect the frozen model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55B4E-829E-418E-BFB7-37D4E16D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Repository evidence includes native source labels, split manifests, model/preprocessing, training histories, saved decisions and failure examples.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A8121-D767-4B1B-A307-3DE13598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Source: LBNL AFDD evaluation collection</a:t>
            </a:r>
          </a:p>
          <a:p xmlns:a="http://schemas.openxmlformats.org/drawingml/2006/main">
            <a:pPr>
              <a:defRPr sz="187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DOI 10.25984/1824861  |  data.openei.org/submissions/910</a:t>
            </a:r>
          </a:p>
        </p:txBody>
      </p:sp>
    </p:spTree>
    <p:extLst>
      <p:ext uri="{BB962C8B-B14F-4D97-AF65-F5344CB8AC3E}">
        <p14:creationId xmlns:p14="http://schemas.microsoft.com/office/powerpoint/2010/main" val="1904700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2026-10-14T16:48:50.6120000Z</dcterms:created>
  <dcterms:modified xsi:type="dcterms:W3CDTF">2026-10-14T16:48:50.6130000Z</dcterms:modified>
</coreProperties>
</file>